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364A"/>
        </a:solidFill>
        <a:effectLst/>
      </p:bgPr>
    </p:bg>
    <p:spTree>
      <p:nvGrpSpPr>
        <p:cNvPr id="1" name=""/>
        <p:cNvGrpSpPr/>
        <p:nvPr/>
      </p:nvGrpSpPr>
      <p:grpSpPr/>
      <p:sp>
        <p:nvSpPr>
          <p:cNvPr id="2" name="Oval 1"/>
          <p:cNvSpPr/>
          <p:nvPr/>
        </p:nvSpPr>
        <p:spPr>
          <a:xfrm>
            <a:off x="8595360" y="45720"/>
            <a:ext cx="3200400" cy="3200400"/>
          </a:xfrm>
          <a:prstGeom prst="ellipse">
            <a:avLst/>
          </a:prstGeom>
          <a:solidFill>
            <a:srgbClr val="1D5064"/>
          </a:solidFill>
          <a:ln>
            <a:solidFill>
              <a:srgbClr val="1D50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326880" y="3886200"/>
            <a:ext cx="2697480" cy="2697480"/>
          </a:xfrm>
          <a:prstGeom prst="ellipse">
            <a:avLst/>
          </a:prstGeom>
          <a:solidFill>
            <a:srgbClr val="1B465B"/>
          </a:solidFill>
          <a:ln>
            <a:solidFill>
              <a:srgbClr val="1B46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13232"/>
            <a:ext cx="4114800" cy="201168"/>
          </a:xfrm>
          <a:prstGeom prst="rect">
            <a:avLst/>
          </a:prstGeom>
          <a:noFill/>
        </p:spPr>
        <p:txBody>
          <a:bodyPr wrap="square" lIns="18288" rIns="18288" tIns="18288" bIns="18288" anchor="t">
            <a:spAutoFit/>
          </a:bodyPr>
          <a:lstStyle/>
          <a:p>
            <a:pPr algn="l">
              <a:spcAft>
                <a:spcPts val="0"/>
              </a:spcAft>
            </a:pPr>
            <a:r>
              <a:rPr sz="900" b="1" i="0">
                <a:solidFill>
                  <a:srgbClr val="8AD7CC"/>
                </a:solidFill>
                <a:latin typeface="Aptos"/>
              </a:rPr>
              <a:t>CLIENT PRESENTATION  •  UI PLAN</a:t>
            </a:r>
          </a:p>
        </p:txBody>
      </p:sp>
      <p:sp>
        <p:nvSpPr>
          <p:cNvPr id="5" name="TextBox 4"/>
          <p:cNvSpPr txBox="1"/>
          <p:nvPr/>
        </p:nvSpPr>
        <p:spPr>
          <a:xfrm>
            <a:off x="731520" y="1298448"/>
            <a:ext cx="6858000" cy="1234440"/>
          </a:xfrm>
          <a:prstGeom prst="rect">
            <a:avLst/>
          </a:prstGeom>
          <a:noFill/>
        </p:spPr>
        <p:txBody>
          <a:bodyPr wrap="square" lIns="18288" rIns="18288" tIns="18288" bIns="18288" anchor="t">
            <a:spAutoFit/>
          </a:bodyPr>
          <a:lstStyle/>
          <a:p>
            <a:pPr algn="l">
              <a:spcAft>
                <a:spcPts val="0"/>
              </a:spcAft>
            </a:pPr>
            <a:r>
              <a:rPr sz="3400" b="1" i="0">
                <a:solidFill>
                  <a:srgbClr val="FFFFFF"/>
                </a:solidFill>
                <a:latin typeface="Aptos"/>
              </a:rPr>
              <a:t>Healthcare, made
simple to navigate.</a:t>
            </a:r>
          </a:p>
        </p:txBody>
      </p:sp>
      <p:sp>
        <p:nvSpPr>
          <p:cNvPr id="6" name="TextBox 5"/>
          <p:cNvSpPr txBox="1"/>
          <p:nvPr/>
        </p:nvSpPr>
        <p:spPr>
          <a:xfrm>
            <a:off x="758952" y="2788920"/>
            <a:ext cx="5669280" cy="685800"/>
          </a:xfrm>
          <a:prstGeom prst="rect">
            <a:avLst/>
          </a:prstGeom>
          <a:noFill/>
        </p:spPr>
        <p:txBody>
          <a:bodyPr wrap="square" lIns="18288" rIns="18288" tIns="18288" bIns="18288" anchor="t">
            <a:spAutoFit/>
          </a:bodyPr>
          <a:lstStyle/>
          <a:p>
            <a:pPr algn="l">
              <a:spcAft>
                <a:spcPts val="0"/>
              </a:spcAft>
            </a:pPr>
            <a:r>
              <a:rPr sz="1600" b="0" i="0">
                <a:solidFill>
                  <a:srgbClr val="D8E8EF"/>
                </a:solidFill>
                <a:latin typeface="Aptos"/>
              </a:rPr>
              <a:t>Doctor Appointment Booking Platform
Experience plan • Patient, doctor &amp; public journeys</a:t>
            </a:r>
          </a:p>
        </p:txBody>
      </p:sp>
      <p:sp>
        <p:nvSpPr>
          <p:cNvPr id="7" name="Rounded Rectangle 6"/>
          <p:cNvSpPr/>
          <p:nvPr/>
        </p:nvSpPr>
        <p:spPr>
          <a:xfrm>
            <a:off x="749808" y="4114800"/>
            <a:ext cx="5440680" cy="914400"/>
          </a:xfrm>
          <a:prstGeom prst="roundRect">
            <a:avLst>
              <a:gd name="adj" fmla="val 8000"/>
            </a:avLst>
          </a:prstGeom>
          <a:solidFill>
            <a:srgbClr val="20495B"/>
          </a:solidFill>
          <a:ln>
            <a:solidFill>
              <a:srgbClr val="204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4325112"/>
            <a:ext cx="4937760" cy="411480"/>
          </a:xfrm>
          <a:prstGeom prst="rect">
            <a:avLst/>
          </a:prstGeom>
          <a:noFill/>
        </p:spPr>
        <p:txBody>
          <a:bodyPr wrap="square" lIns="18288" rIns="18288" tIns="18288" bIns="18288" anchor="t">
            <a:spAutoFit/>
          </a:bodyPr>
          <a:lstStyle/>
          <a:p>
            <a:pPr algn="l">
              <a:spcAft>
                <a:spcPts val="0"/>
              </a:spcAft>
            </a:pPr>
            <a:r>
              <a:rPr sz="1400" b="1" i="0">
                <a:solidFill>
                  <a:srgbClr val="FFFFFF"/>
                </a:solidFill>
                <a:latin typeface="Aptos"/>
              </a:rPr>
              <a:t>A proposed UI walkthrough from discovery to care</a:t>
            </a:r>
          </a:p>
        </p:txBody>
      </p:sp>
      <p:sp>
        <p:nvSpPr>
          <p:cNvPr id="9" name="TextBox 8"/>
          <p:cNvSpPr txBox="1"/>
          <p:nvPr/>
        </p:nvSpPr>
        <p:spPr>
          <a:xfrm>
            <a:off x="758952" y="6080760"/>
            <a:ext cx="5486400" cy="274320"/>
          </a:xfrm>
          <a:prstGeom prst="rect">
            <a:avLst/>
          </a:prstGeom>
          <a:noFill/>
        </p:spPr>
        <p:txBody>
          <a:bodyPr wrap="square" lIns="18288" rIns="18288" tIns="18288" bIns="18288" anchor="t">
            <a:spAutoFit/>
          </a:bodyPr>
          <a:lstStyle/>
          <a:p>
            <a:pPr algn="l">
              <a:spcAft>
                <a:spcPts val="0"/>
              </a:spcAft>
            </a:pPr>
            <a:r>
              <a:rPr sz="1000" b="0" i="0">
                <a:solidFill>
                  <a:srgbClr val="B9CFD9"/>
                </a:solidFill>
                <a:latin typeface="Aptos"/>
              </a:rPr>
              <a:t>Prepared from the current project prototype • For client review</a:t>
            </a:r>
          </a:p>
        </p:txBody>
      </p:sp>
      <p:sp>
        <p:nvSpPr>
          <p:cNvPr id="10" name="Rounded Rectangle 9"/>
          <p:cNvSpPr/>
          <p:nvPr/>
        </p:nvSpPr>
        <p:spPr>
          <a:xfrm>
            <a:off x="7635240" y="1078992"/>
            <a:ext cx="3429000" cy="4315968"/>
          </a:xfrm>
          <a:prstGeom prst="roundRect">
            <a:avLst>
              <a:gd name="adj" fmla="val 8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909560" y="1389888"/>
            <a:ext cx="2880360" cy="411480"/>
          </a:xfrm>
          <a:prstGeom prst="roundRect">
            <a:avLst>
              <a:gd name="adj" fmla="val 8000"/>
            </a:avLst>
          </a:prstGeom>
          <a:solidFill>
            <a:srgbClr val="EEF5F9"/>
          </a:solidFill>
          <a:ln>
            <a:solidFill>
              <a:srgbClr val="EE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65008" y="1499616"/>
            <a:ext cx="146304" cy="146304"/>
          </a:xfrm>
          <a:prstGeom prst="ellipse">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02752" y="1463040"/>
            <a:ext cx="2057400" cy="164592"/>
          </a:xfrm>
          <a:prstGeom prst="rect">
            <a:avLst/>
          </a:prstGeom>
          <a:noFill/>
        </p:spPr>
        <p:txBody>
          <a:bodyPr wrap="square" lIns="18288" rIns="18288" tIns="18288" bIns="18288" anchor="t">
            <a:spAutoFit/>
          </a:bodyPr>
          <a:lstStyle/>
          <a:p>
            <a:pPr algn="l">
              <a:spcAft>
                <a:spcPts val="0"/>
              </a:spcAft>
            </a:pPr>
            <a:r>
              <a:rPr sz="800" b="1" i="0">
                <a:solidFill>
                  <a:srgbClr val="15364A"/>
                </a:solidFill>
                <a:latin typeface="Aptos"/>
              </a:rPr>
              <a:t>HEALTHCARE CONNECT</a:t>
            </a:r>
          </a:p>
        </p:txBody>
      </p:sp>
      <p:sp>
        <p:nvSpPr>
          <p:cNvPr id="14" name="TextBox 13"/>
          <p:cNvSpPr txBox="1"/>
          <p:nvPr/>
        </p:nvSpPr>
        <p:spPr>
          <a:xfrm>
            <a:off x="7936992" y="2066543"/>
            <a:ext cx="2606040" cy="658368"/>
          </a:xfrm>
          <a:prstGeom prst="rect">
            <a:avLst/>
          </a:prstGeom>
          <a:noFill/>
        </p:spPr>
        <p:txBody>
          <a:bodyPr wrap="square" lIns="18288" rIns="18288" tIns="18288" bIns="18288" anchor="t">
            <a:spAutoFit/>
          </a:bodyPr>
          <a:lstStyle/>
          <a:p>
            <a:pPr algn="l">
              <a:spcAft>
                <a:spcPts val="0"/>
              </a:spcAft>
            </a:pPr>
            <a:r>
              <a:rPr sz="1800" b="1" i="0">
                <a:solidFill>
                  <a:srgbClr val="15364A"/>
                </a:solidFill>
                <a:latin typeface="Aptos"/>
              </a:rPr>
              <a:t>Find the right care,
close to home.</a:t>
            </a:r>
          </a:p>
        </p:txBody>
      </p:sp>
      <p:sp>
        <p:nvSpPr>
          <p:cNvPr id="15" name="Rounded Rectangle 14"/>
          <p:cNvSpPr/>
          <p:nvPr/>
        </p:nvSpPr>
        <p:spPr>
          <a:xfrm>
            <a:off x="7936992" y="2953512"/>
            <a:ext cx="2761488" cy="521207"/>
          </a:xfrm>
          <a:prstGeom prst="roundRect">
            <a:avLst>
              <a:gd name="adj" fmla="val 8000"/>
            </a:avLst>
          </a:prstGeom>
          <a:solidFill>
            <a:srgbClr val="E6F1FC"/>
          </a:solidFill>
          <a:ln>
            <a:solidFill>
              <a:srgbClr val="E6F1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9872" y="3108960"/>
            <a:ext cx="2377440" cy="155448"/>
          </a:xfrm>
          <a:prstGeom prst="rect">
            <a:avLst/>
          </a:prstGeom>
          <a:noFill/>
        </p:spPr>
        <p:txBody>
          <a:bodyPr wrap="square" lIns="18288" rIns="18288" tIns="18288" bIns="18288" anchor="t">
            <a:spAutoFit/>
          </a:bodyPr>
          <a:lstStyle/>
          <a:p>
            <a:pPr algn="l">
              <a:spcAft>
                <a:spcPts val="0"/>
              </a:spcAft>
            </a:pPr>
            <a:r>
              <a:rPr sz="900" b="0" i="0">
                <a:solidFill>
                  <a:srgbClr val="607889"/>
                </a:solidFill>
                <a:latin typeface="Aptos"/>
              </a:rPr>
              <a:t>Doctor, specialty or location</a:t>
            </a:r>
          </a:p>
        </p:txBody>
      </p:sp>
      <p:sp>
        <p:nvSpPr>
          <p:cNvPr id="17" name="Rounded Rectangle 16"/>
          <p:cNvSpPr/>
          <p:nvPr/>
        </p:nvSpPr>
        <p:spPr>
          <a:xfrm>
            <a:off x="7936992" y="3703320"/>
            <a:ext cx="2761488" cy="987552"/>
          </a:xfrm>
          <a:prstGeom prst="roundRect">
            <a:avLst>
              <a:gd name="adj" fmla="val 8000"/>
            </a:avLst>
          </a:prstGeom>
          <a:solidFill>
            <a:srgbClr val="F7FAFC"/>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19872" y="3904487"/>
            <a:ext cx="438912" cy="438912"/>
          </a:xfrm>
          <a:prstGeom prst="ellipse">
            <a:avLst/>
          </a:prstGeom>
          <a:solidFill>
            <a:srgbClr val="DDF3EE"/>
          </a:solidFill>
          <a:ln>
            <a:solidFill>
              <a:srgbClr val="DDF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0" y="3840480"/>
            <a:ext cx="1783080" cy="228600"/>
          </a:xfrm>
          <a:prstGeom prst="rect">
            <a:avLst/>
          </a:prstGeom>
          <a:noFill/>
        </p:spPr>
        <p:txBody>
          <a:bodyPr wrap="square" lIns="18288" rIns="18288" tIns="18288" bIns="18288" anchor="t">
            <a:spAutoFit/>
          </a:bodyPr>
          <a:lstStyle/>
          <a:p>
            <a:pPr algn="l">
              <a:spcAft>
                <a:spcPts val="0"/>
              </a:spcAft>
            </a:pPr>
            <a:r>
              <a:rPr sz="1100" b="1" i="0">
                <a:solidFill>
                  <a:srgbClr val="15364A"/>
                </a:solidFill>
                <a:latin typeface="Aptos"/>
              </a:rPr>
              <a:t>Dr. Priya Sharma</a:t>
            </a:r>
          </a:p>
        </p:txBody>
      </p:sp>
      <p:sp>
        <p:nvSpPr>
          <p:cNvPr id="20" name="TextBox 19"/>
          <p:cNvSpPr txBox="1"/>
          <p:nvPr/>
        </p:nvSpPr>
        <p:spPr>
          <a:xfrm>
            <a:off x="8686800" y="4151376"/>
            <a:ext cx="1783080" cy="384048"/>
          </a:xfrm>
          <a:prstGeom prst="rect">
            <a:avLst/>
          </a:prstGeom>
          <a:noFill/>
        </p:spPr>
        <p:txBody>
          <a:bodyPr wrap="square" lIns="18288" rIns="18288" tIns="18288" bIns="18288" anchor="t">
            <a:spAutoFit/>
          </a:bodyPr>
          <a:lstStyle/>
          <a:p>
            <a:pPr algn="l">
              <a:spcAft>
                <a:spcPts val="0"/>
              </a:spcAft>
            </a:pPr>
            <a:r>
              <a:rPr sz="900" b="0" i="0">
                <a:solidFill>
                  <a:srgbClr val="607889"/>
                </a:solidFill>
                <a:latin typeface="Aptos"/>
              </a:rPr>
              <a:t>Cardiologist  •  4.9 ★
Appointments available</a:t>
            </a:r>
          </a:p>
        </p:txBody>
      </p:sp>
      <p:sp>
        <p:nvSpPr>
          <p:cNvPr id="21" name="Rounded Rectangle 20"/>
          <p:cNvSpPr/>
          <p:nvPr/>
        </p:nvSpPr>
        <p:spPr>
          <a:xfrm>
            <a:off x="7936992" y="4901184"/>
            <a:ext cx="2761488" cy="274320"/>
          </a:xfrm>
          <a:prstGeom prst="roundRect">
            <a:avLst>
              <a:gd name="adj" fmla="val 8000"/>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60" y="4946904"/>
            <a:ext cx="2359152" cy="146304"/>
          </a:xfrm>
          <a:prstGeom prst="rect">
            <a:avLst/>
          </a:prstGeom>
          <a:noFill/>
        </p:spPr>
        <p:txBody>
          <a:bodyPr wrap="square" lIns="18288" rIns="18288" tIns="18288" bIns="18288" anchor="t">
            <a:spAutoFit/>
          </a:bodyPr>
          <a:lstStyle/>
          <a:p>
            <a:pPr algn="ctr">
              <a:spcAft>
                <a:spcPts val="0"/>
              </a:spcAft>
            </a:pPr>
            <a:r>
              <a:rPr sz="800" b="1" i="0">
                <a:solidFill>
                  <a:srgbClr val="FFFFFF"/>
                </a:solidFill>
                <a:latin typeface="Aptos"/>
              </a:rPr>
              <a:t>EXPLORE CARE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594360" y="384048"/>
            <a:ext cx="4114800" cy="201168"/>
          </a:xfrm>
          <a:prstGeom prst="rect">
            <a:avLst/>
          </a:prstGeom>
          <a:noFill/>
        </p:spPr>
        <p:txBody>
          <a:bodyPr wrap="square" lIns="18288" rIns="18288" tIns="18288" bIns="18288" anchor="t">
            <a:spAutoFit/>
          </a:bodyPr>
          <a:lstStyle/>
          <a:p>
            <a:pPr algn="l">
              <a:spcAft>
                <a:spcPts val="0"/>
              </a:spcAft>
            </a:pPr>
            <a:r>
              <a:rPr sz="900" b="1" i="0">
                <a:solidFill>
                  <a:srgbClr val="26A99A"/>
                </a:solidFill>
                <a:latin typeface="Aptos"/>
              </a:rPr>
              <a:t>01 / THE OPPORTUNITY</a:t>
            </a:r>
          </a:p>
        </p:txBody>
      </p:sp>
      <p:sp>
        <p:nvSpPr>
          <p:cNvPr id="3" name="TextBox 2"/>
          <p:cNvSpPr txBox="1"/>
          <p:nvPr/>
        </p:nvSpPr>
        <p:spPr>
          <a:xfrm>
            <a:off x="594360" y="658368"/>
            <a:ext cx="10972800" cy="475488"/>
          </a:xfrm>
          <a:prstGeom prst="rect">
            <a:avLst/>
          </a:prstGeom>
          <a:noFill/>
        </p:spPr>
        <p:txBody>
          <a:bodyPr wrap="square" lIns="18288" rIns="18288" tIns="18288" bIns="18288" anchor="t">
            <a:spAutoFit/>
          </a:bodyPr>
          <a:lstStyle/>
          <a:p>
            <a:pPr algn="l">
              <a:spcAft>
                <a:spcPts val="0"/>
              </a:spcAft>
            </a:pPr>
            <a:r>
              <a:rPr sz="2700" b="1" i="0">
                <a:solidFill>
                  <a:srgbClr val="15364A"/>
                </a:solidFill>
                <a:latin typeface="Aptos"/>
              </a:rPr>
              <a:t>One connected experience for finding and booking care</a:t>
            </a:r>
          </a:p>
        </p:txBody>
      </p:sp>
      <p:sp>
        <p:nvSpPr>
          <p:cNvPr id="4" name="TextBox 3"/>
          <p:cNvSpPr txBox="1"/>
          <p:nvPr/>
        </p:nvSpPr>
        <p:spPr>
          <a:xfrm>
            <a:off x="612648" y="1207008"/>
            <a:ext cx="10789920" cy="365760"/>
          </a:xfrm>
          <a:prstGeom prst="rect">
            <a:avLst/>
          </a:prstGeom>
          <a:noFill/>
        </p:spPr>
        <p:txBody>
          <a:bodyPr wrap="square" lIns="18288" rIns="18288" tIns="18288" bIns="18288" anchor="t">
            <a:spAutoFit/>
          </a:bodyPr>
          <a:lstStyle/>
          <a:p>
            <a:pPr algn="l">
              <a:spcAft>
                <a:spcPts val="0"/>
              </a:spcAft>
            </a:pPr>
            <a:r>
              <a:rPr sz="1250" b="0" i="0">
                <a:solidFill>
                  <a:srgbClr val="607889"/>
                </a:solidFill>
                <a:latin typeface="Aptos"/>
              </a:rPr>
              <a:t>The UI plan turns the current React prototype into a clear, role-aware patient and doctor experience.</a:t>
            </a:r>
          </a:p>
        </p:txBody>
      </p:sp>
      <p:sp>
        <p:nvSpPr>
          <p:cNvPr id="5" name="Rounded Rectangle 4"/>
          <p:cNvSpPr/>
          <p:nvPr/>
        </p:nvSpPr>
        <p:spPr>
          <a:xfrm>
            <a:off x="640080" y="1828800"/>
            <a:ext cx="3520440" cy="219456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828800"/>
            <a:ext cx="64008" cy="2194560"/>
          </a:xfrm>
          <a:prstGeom prst="rect">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984248"/>
            <a:ext cx="3136392" cy="292608"/>
          </a:xfrm>
          <a:prstGeom prst="rect">
            <a:avLst/>
          </a:prstGeom>
          <a:noFill/>
        </p:spPr>
        <p:txBody>
          <a:bodyPr wrap="square" lIns="18288" rIns="18288" tIns="18288" bIns="18288" anchor="t">
            <a:spAutoFit/>
          </a:bodyPr>
          <a:lstStyle/>
          <a:p>
            <a:pPr algn="l">
              <a:spcAft>
                <a:spcPts val="0"/>
              </a:spcAft>
            </a:pPr>
            <a:r>
              <a:rPr sz="1500" b="1" i="0">
                <a:solidFill>
                  <a:srgbClr val="15364A"/>
                </a:solidFill>
                <a:latin typeface="Aptos"/>
              </a:rPr>
              <a:t>For patients</a:t>
            </a:r>
          </a:p>
        </p:txBody>
      </p:sp>
      <p:sp>
        <p:nvSpPr>
          <p:cNvPr id="8" name="TextBox 7"/>
          <p:cNvSpPr txBox="1"/>
          <p:nvPr/>
        </p:nvSpPr>
        <p:spPr>
          <a:xfrm>
            <a:off x="841247" y="2359152"/>
            <a:ext cx="3136392" cy="1536192"/>
          </a:xfrm>
          <a:prstGeom prst="rect">
            <a:avLst/>
          </a:prstGeom>
          <a:noFill/>
        </p:spPr>
        <p:txBody>
          <a:bodyPr wrap="square" lIns="18288" rIns="18288" tIns="18288" bIns="18288" anchor="t">
            <a:spAutoFit/>
          </a:bodyPr>
          <a:lstStyle/>
          <a:p>
            <a:pPr algn="l">
              <a:spcAft>
                <a:spcPts val="0"/>
              </a:spcAft>
            </a:pPr>
            <a:r>
              <a:rPr sz="1150" b="0" i="0">
                <a:solidFill>
                  <a:srgbClr val="607889"/>
                </a:solidFill>
                <a:latin typeface="Aptos"/>
              </a:rPr>
              <a:t>Discover doctors, compare profiles, choose Phone / Clinic / Home Visit, pay and track appointments.</a:t>
            </a:r>
          </a:p>
        </p:txBody>
      </p:sp>
      <p:sp>
        <p:nvSpPr>
          <p:cNvPr id="9" name="Rounded Rectangle 8"/>
          <p:cNvSpPr/>
          <p:nvPr/>
        </p:nvSpPr>
        <p:spPr>
          <a:xfrm>
            <a:off x="4343400" y="1828800"/>
            <a:ext cx="3520440" cy="219456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828800"/>
            <a:ext cx="64008" cy="2194560"/>
          </a:xfrm>
          <a:prstGeom prst="rect">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1984248"/>
            <a:ext cx="3136392" cy="292608"/>
          </a:xfrm>
          <a:prstGeom prst="rect">
            <a:avLst/>
          </a:prstGeom>
          <a:noFill/>
        </p:spPr>
        <p:txBody>
          <a:bodyPr wrap="square" lIns="18288" rIns="18288" tIns="18288" bIns="18288" anchor="t">
            <a:spAutoFit/>
          </a:bodyPr>
          <a:lstStyle/>
          <a:p>
            <a:pPr algn="l">
              <a:spcAft>
                <a:spcPts val="0"/>
              </a:spcAft>
            </a:pPr>
            <a:r>
              <a:rPr sz="1500" b="1" i="0">
                <a:solidFill>
                  <a:srgbClr val="15364A"/>
                </a:solidFill>
                <a:latin typeface="Aptos"/>
              </a:rPr>
              <a:t>For doctors</a:t>
            </a:r>
          </a:p>
        </p:txBody>
      </p:sp>
      <p:sp>
        <p:nvSpPr>
          <p:cNvPr id="12" name="TextBox 11"/>
          <p:cNvSpPr txBox="1"/>
          <p:nvPr/>
        </p:nvSpPr>
        <p:spPr>
          <a:xfrm>
            <a:off x="4544568" y="2359152"/>
            <a:ext cx="3136392" cy="1536192"/>
          </a:xfrm>
          <a:prstGeom prst="rect">
            <a:avLst/>
          </a:prstGeom>
          <a:noFill/>
        </p:spPr>
        <p:txBody>
          <a:bodyPr wrap="square" lIns="18288" rIns="18288" tIns="18288" bIns="18288" anchor="t">
            <a:spAutoFit/>
          </a:bodyPr>
          <a:lstStyle/>
          <a:p>
            <a:pPr algn="l">
              <a:spcAft>
                <a:spcPts val="0"/>
              </a:spcAft>
            </a:pPr>
            <a:r>
              <a:rPr sz="1150" b="0" i="0">
                <a:solidFill>
                  <a:srgbClr val="607889"/>
                </a:solidFill>
                <a:latin typeface="Aptos"/>
              </a:rPr>
              <a:t>Create a professional profile, submit registration details, follow verification and manage practice availability.</a:t>
            </a:r>
          </a:p>
        </p:txBody>
      </p:sp>
      <p:sp>
        <p:nvSpPr>
          <p:cNvPr id="13" name="Rounded Rectangle 12"/>
          <p:cNvSpPr/>
          <p:nvPr/>
        </p:nvSpPr>
        <p:spPr>
          <a:xfrm>
            <a:off x="8046720" y="1828800"/>
            <a:ext cx="3520440" cy="219456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828800"/>
            <a:ext cx="64008" cy="2194560"/>
          </a:xfrm>
          <a:prstGeom prst="rect">
            <a:avLst/>
          </a:prstGeom>
          <a:solidFill>
            <a:srgbClr val="E6A94E"/>
          </a:solidFill>
          <a:ln>
            <a:solidFill>
              <a:srgbClr val="E6A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7888" y="1984248"/>
            <a:ext cx="3136392" cy="292608"/>
          </a:xfrm>
          <a:prstGeom prst="rect">
            <a:avLst/>
          </a:prstGeom>
          <a:noFill/>
        </p:spPr>
        <p:txBody>
          <a:bodyPr wrap="square" lIns="18288" rIns="18288" tIns="18288" bIns="18288" anchor="t">
            <a:spAutoFit/>
          </a:bodyPr>
          <a:lstStyle/>
          <a:p>
            <a:pPr algn="l">
              <a:spcAft>
                <a:spcPts val="0"/>
              </a:spcAft>
            </a:pPr>
            <a:r>
              <a:rPr sz="1500" b="1" i="0">
                <a:solidFill>
                  <a:srgbClr val="15364A"/>
                </a:solidFill>
                <a:latin typeface="Aptos"/>
              </a:rPr>
              <a:t>For public visitors</a:t>
            </a:r>
          </a:p>
        </p:txBody>
      </p:sp>
      <p:sp>
        <p:nvSpPr>
          <p:cNvPr id="16" name="TextBox 15"/>
          <p:cNvSpPr txBox="1"/>
          <p:nvPr/>
        </p:nvSpPr>
        <p:spPr>
          <a:xfrm>
            <a:off x="8247888" y="2359152"/>
            <a:ext cx="3136392" cy="1536192"/>
          </a:xfrm>
          <a:prstGeom prst="rect">
            <a:avLst/>
          </a:prstGeom>
          <a:noFill/>
        </p:spPr>
        <p:txBody>
          <a:bodyPr wrap="square" lIns="18288" rIns="18288" tIns="18288" bIns="18288" anchor="t">
            <a:spAutoFit/>
          </a:bodyPr>
          <a:lstStyle/>
          <a:p>
            <a:pPr algn="l">
              <a:spcAft>
                <a:spcPts val="0"/>
              </a:spcAft>
            </a:pPr>
            <a:r>
              <a:rPr sz="1150" b="0" i="0">
                <a:solidFill>
                  <a:srgbClr val="607889"/>
                </a:solidFill>
                <a:latin typeface="Aptos"/>
              </a:rPr>
              <a:t>Understand the service, browse doctors and policies, then choose whether to create an account.</a:t>
            </a:r>
          </a:p>
        </p:txBody>
      </p:sp>
      <p:sp>
        <p:nvSpPr>
          <p:cNvPr id="17" name="Rounded Rectangle 16"/>
          <p:cNvSpPr/>
          <p:nvPr/>
        </p:nvSpPr>
        <p:spPr>
          <a:xfrm>
            <a:off x="640080" y="4343400"/>
            <a:ext cx="10927080" cy="1325880"/>
          </a:xfrm>
          <a:prstGeom prst="roundRect">
            <a:avLst>
              <a:gd name="adj" fmla="val 8000"/>
            </a:avLst>
          </a:prstGeom>
          <a:solidFill>
            <a:srgbClr val="FFF7E9"/>
          </a:solidFill>
          <a:ln>
            <a:solidFill>
              <a:srgbClr val="F0DD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553712"/>
            <a:ext cx="4114800" cy="201168"/>
          </a:xfrm>
          <a:prstGeom prst="rect">
            <a:avLst/>
          </a:prstGeom>
          <a:noFill/>
        </p:spPr>
        <p:txBody>
          <a:bodyPr wrap="square" lIns="18288" rIns="18288" tIns="18288" bIns="18288" anchor="t">
            <a:spAutoFit/>
          </a:bodyPr>
          <a:lstStyle/>
          <a:p>
            <a:pPr algn="l">
              <a:spcAft>
                <a:spcPts val="0"/>
              </a:spcAft>
            </a:pPr>
            <a:r>
              <a:rPr sz="900" b="1" i="0">
                <a:solidFill>
                  <a:srgbClr val="B77A20"/>
                </a:solidFill>
                <a:latin typeface="Aptos"/>
              </a:rPr>
              <a:t>SOURCE NOTE / APPROVAL DEPENDENCY</a:t>
            </a:r>
          </a:p>
        </p:txBody>
      </p:sp>
      <p:sp>
        <p:nvSpPr>
          <p:cNvPr id="19" name="TextBox 18"/>
          <p:cNvSpPr txBox="1"/>
          <p:nvPr/>
        </p:nvSpPr>
        <p:spPr>
          <a:xfrm>
            <a:off x="868680" y="4864608"/>
            <a:ext cx="10332720" cy="576072"/>
          </a:xfrm>
          <a:prstGeom prst="rect">
            <a:avLst/>
          </a:prstGeom>
          <a:noFill/>
        </p:spPr>
        <p:txBody>
          <a:bodyPr wrap="square" lIns="18288" rIns="18288" tIns="18288" bIns="18288" anchor="t">
            <a:spAutoFit/>
          </a:bodyPr>
          <a:lstStyle/>
          <a:p>
            <a:pPr algn="l">
              <a:spcAft>
                <a:spcPts val="0"/>
              </a:spcAft>
            </a:pPr>
            <a:r>
              <a:rPr sz="1150" b="0" i="0">
                <a:solidFill>
                  <a:srgbClr val="203B4B"/>
                </a:solidFill>
                <a:latin typeface="Aptos"/>
              </a:rPr>
              <a:t>The requested proposal PDF and 20-screen reference image were not available. This working plan is mapped from the existing project only; reconcile proposal scope, screen inventory and visual direction against those client sources before sign-off.</a:t>
            </a:r>
          </a:p>
        </p:txBody>
      </p:sp>
      <p:cxnSp>
        <p:nvCxnSpPr>
          <p:cNvPr id="20" name="Connector 19"/>
          <p:cNvCxnSpPr/>
          <p:nvPr/>
        </p:nvCxnSpPr>
        <p:spPr>
          <a:xfrm>
            <a:off x="502920" y="6510528"/>
            <a:ext cx="11183112" cy="0"/>
          </a:xfrm>
          <a:prstGeom prst="line">
            <a:avLst/>
          </a:prstGeom>
          <a:ln w="8890">
            <a:solidFill>
              <a:srgbClr val="DCE7ED"/>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8640" y="6574536"/>
            <a:ext cx="6858000" cy="164592"/>
          </a:xfrm>
          <a:prstGeom prst="rect">
            <a:avLst/>
          </a:prstGeom>
          <a:noFill/>
        </p:spPr>
        <p:txBody>
          <a:bodyPr wrap="square" lIns="18288" rIns="18288" tIns="18288" bIns="18288" anchor="t">
            <a:spAutoFit/>
          </a:bodyPr>
          <a:lstStyle/>
          <a:p>
            <a:pPr algn="l">
              <a:spcAft>
                <a:spcPts val="0"/>
              </a:spcAft>
            </a:pPr>
            <a:r>
              <a:rPr sz="800" b="1" i="0">
                <a:solidFill>
                  <a:srgbClr val="607889"/>
                </a:solidFill>
                <a:latin typeface="Aptos"/>
              </a:rPr>
              <a:t>HEALTHCARE CONNECT  /  UI PLAN  •  WORKING DRAFT</a:t>
            </a:r>
          </a:p>
        </p:txBody>
      </p:sp>
      <p:sp>
        <p:nvSpPr>
          <p:cNvPr id="22" name="TextBox 21"/>
          <p:cNvSpPr txBox="1"/>
          <p:nvPr/>
        </p:nvSpPr>
        <p:spPr>
          <a:xfrm>
            <a:off x="10972800" y="6565392"/>
            <a:ext cx="594360" cy="182880"/>
          </a:xfrm>
          <a:prstGeom prst="rect">
            <a:avLst/>
          </a:prstGeom>
          <a:noFill/>
        </p:spPr>
        <p:txBody>
          <a:bodyPr wrap="square" lIns="18288" rIns="18288" tIns="18288" bIns="18288" anchor="t">
            <a:spAutoFit/>
          </a:bodyPr>
          <a:lstStyle/>
          <a:p>
            <a:pPr algn="r">
              <a:spcAft>
                <a:spcPts val="0"/>
              </a:spcAft>
            </a:pPr>
            <a:r>
              <a:rPr sz="900" b="1" i="0">
                <a:solidFill>
                  <a:srgbClr val="607889"/>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594360" y="384048"/>
            <a:ext cx="4114800" cy="201168"/>
          </a:xfrm>
          <a:prstGeom prst="rect">
            <a:avLst/>
          </a:prstGeom>
          <a:noFill/>
        </p:spPr>
        <p:txBody>
          <a:bodyPr wrap="square" lIns="18288" rIns="18288" tIns="18288" bIns="18288" anchor="t">
            <a:spAutoFit/>
          </a:bodyPr>
          <a:lstStyle/>
          <a:p>
            <a:pPr algn="l">
              <a:spcAft>
                <a:spcPts val="0"/>
              </a:spcAft>
            </a:pPr>
            <a:r>
              <a:rPr sz="900" b="1" i="0">
                <a:solidFill>
                  <a:srgbClr val="26A99A"/>
                </a:solidFill>
                <a:latin typeface="Aptos"/>
              </a:rPr>
              <a:t>02 / WHO USES IT</a:t>
            </a:r>
          </a:p>
        </p:txBody>
      </p:sp>
      <p:sp>
        <p:nvSpPr>
          <p:cNvPr id="3" name="TextBox 2"/>
          <p:cNvSpPr txBox="1"/>
          <p:nvPr/>
        </p:nvSpPr>
        <p:spPr>
          <a:xfrm>
            <a:off x="594360" y="658368"/>
            <a:ext cx="10972800" cy="475488"/>
          </a:xfrm>
          <a:prstGeom prst="rect">
            <a:avLst/>
          </a:prstGeom>
          <a:noFill/>
        </p:spPr>
        <p:txBody>
          <a:bodyPr wrap="square" lIns="18288" rIns="18288" tIns="18288" bIns="18288" anchor="t">
            <a:spAutoFit/>
          </a:bodyPr>
          <a:lstStyle/>
          <a:p>
            <a:pPr algn="l">
              <a:spcAft>
                <a:spcPts val="0"/>
              </a:spcAft>
            </a:pPr>
            <a:r>
              <a:rPr sz="2700" b="1" i="0">
                <a:solidFill>
                  <a:srgbClr val="15364A"/>
                </a:solidFill>
                <a:latin typeface="Aptos"/>
              </a:rPr>
              <a:t>Three audiences, one consistent care journey</a:t>
            </a:r>
          </a:p>
        </p:txBody>
      </p:sp>
      <p:sp>
        <p:nvSpPr>
          <p:cNvPr id="4" name="TextBox 3"/>
          <p:cNvSpPr txBox="1"/>
          <p:nvPr/>
        </p:nvSpPr>
        <p:spPr>
          <a:xfrm>
            <a:off x="612648" y="1207008"/>
            <a:ext cx="10789920" cy="365760"/>
          </a:xfrm>
          <a:prstGeom prst="rect">
            <a:avLst/>
          </a:prstGeom>
          <a:noFill/>
        </p:spPr>
        <p:txBody>
          <a:bodyPr wrap="square" lIns="18288" rIns="18288" tIns="18288" bIns="18288" anchor="t">
            <a:spAutoFit/>
          </a:bodyPr>
          <a:lstStyle/>
          <a:p>
            <a:pPr algn="l">
              <a:spcAft>
                <a:spcPts val="0"/>
              </a:spcAft>
            </a:pPr>
            <a:r>
              <a:rPr sz="1250" b="0" i="0">
                <a:solidFill>
                  <a:srgbClr val="607889"/>
                </a:solidFill>
                <a:latin typeface="Aptos"/>
              </a:rPr>
              <a:t>Role-specific navigation keeps the right actions visible while public information remains easy to reach.</a:t>
            </a:r>
          </a:p>
        </p:txBody>
      </p:sp>
      <p:sp>
        <p:nvSpPr>
          <p:cNvPr id="5" name="Rounded Rectangle 4"/>
          <p:cNvSpPr/>
          <p:nvPr/>
        </p:nvSpPr>
        <p:spPr>
          <a:xfrm>
            <a:off x="658368" y="1828800"/>
            <a:ext cx="3502152" cy="3493008"/>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828800"/>
            <a:ext cx="64008" cy="3493008"/>
          </a:xfrm>
          <a:prstGeom prst="rect">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1984248"/>
            <a:ext cx="3118104" cy="292608"/>
          </a:xfrm>
          <a:prstGeom prst="rect">
            <a:avLst/>
          </a:prstGeom>
          <a:noFill/>
        </p:spPr>
        <p:txBody>
          <a:bodyPr wrap="square" lIns="18288" rIns="18288" tIns="18288" bIns="18288" anchor="t">
            <a:spAutoFit/>
          </a:bodyPr>
          <a:lstStyle/>
          <a:p>
            <a:pPr algn="l">
              <a:spcAft>
                <a:spcPts val="0"/>
              </a:spcAft>
            </a:pPr>
            <a:r>
              <a:rPr sz="1700" b="1" i="0">
                <a:solidFill>
                  <a:srgbClr val="15364A"/>
                </a:solidFill>
                <a:latin typeface="Aptos"/>
              </a:rPr>
              <a:t>Patient</a:t>
            </a:r>
          </a:p>
        </p:txBody>
      </p:sp>
      <p:sp>
        <p:nvSpPr>
          <p:cNvPr id="8" name="TextBox 7"/>
          <p:cNvSpPr txBox="1"/>
          <p:nvPr/>
        </p:nvSpPr>
        <p:spPr>
          <a:xfrm>
            <a:off x="859536" y="2359152"/>
            <a:ext cx="3118104" cy="2834639"/>
          </a:xfrm>
          <a:prstGeom prst="rect">
            <a:avLst/>
          </a:prstGeom>
          <a:noFill/>
        </p:spPr>
        <p:txBody>
          <a:bodyPr wrap="square" lIns="18288" rIns="18288" tIns="18288" bIns="18288" anchor="t">
            <a:spAutoFit/>
          </a:bodyPr>
          <a:lstStyle/>
          <a:p>
            <a:pPr algn="l">
              <a:spcAft>
                <a:spcPts val="0"/>
              </a:spcAft>
            </a:pPr>
            <a:r>
              <a:rPr sz="1200" b="0" i="0">
                <a:solidFill>
                  <a:srgbClr val="607889"/>
                </a:solidFill>
                <a:latin typeface="Aptos"/>
              </a:rPr>
              <a:t>Primary goal
Book appropriate care with confidence.
Key areas
Doctor discovery • booking • payment • appointments
Access
Patient account for booking and appointment history.</a:t>
            </a:r>
          </a:p>
        </p:txBody>
      </p:sp>
      <p:sp>
        <p:nvSpPr>
          <p:cNvPr id="9" name="Rounded Rectangle 8"/>
          <p:cNvSpPr/>
          <p:nvPr/>
        </p:nvSpPr>
        <p:spPr>
          <a:xfrm>
            <a:off x="4343400" y="1828800"/>
            <a:ext cx="3502152" cy="3493008"/>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828800"/>
            <a:ext cx="64008" cy="3493008"/>
          </a:xfrm>
          <a:prstGeom prst="rect">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1984248"/>
            <a:ext cx="3118104" cy="292608"/>
          </a:xfrm>
          <a:prstGeom prst="rect">
            <a:avLst/>
          </a:prstGeom>
          <a:noFill/>
        </p:spPr>
        <p:txBody>
          <a:bodyPr wrap="square" lIns="18288" rIns="18288" tIns="18288" bIns="18288" anchor="t">
            <a:spAutoFit/>
          </a:bodyPr>
          <a:lstStyle/>
          <a:p>
            <a:pPr algn="l">
              <a:spcAft>
                <a:spcPts val="0"/>
              </a:spcAft>
            </a:pPr>
            <a:r>
              <a:rPr sz="1700" b="1" i="0">
                <a:solidFill>
                  <a:srgbClr val="15364A"/>
                </a:solidFill>
                <a:latin typeface="Aptos"/>
              </a:rPr>
              <a:t>Doctor</a:t>
            </a:r>
          </a:p>
        </p:txBody>
      </p:sp>
      <p:sp>
        <p:nvSpPr>
          <p:cNvPr id="12" name="TextBox 11"/>
          <p:cNvSpPr txBox="1"/>
          <p:nvPr/>
        </p:nvSpPr>
        <p:spPr>
          <a:xfrm>
            <a:off x="4544568" y="2359152"/>
            <a:ext cx="3118104" cy="2834639"/>
          </a:xfrm>
          <a:prstGeom prst="rect">
            <a:avLst/>
          </a:prstGeom>
          <a:noFill/>
        </p:spPr>
        <p:txBody>
          <a:bodyPr wrap="square" lIns="18288" rIns="18288" tIns="18288" bIns="18288" anchor="t">
            <a:spAutoFit/>
          </a:bodyPr>
          <a:lstStyle/>
          <a:p>
            <a:pPr algn="l">
              <a:spcAft>
                <a:spcPts val="0"/>
              </a:spcAft>
            </a:pPr>
            <a:r>
              <a:rPr sz="1200" b="0" i="0">
                <a:solidFill>
                  <a:srgbClr val="607889"/>
                </a:solidFill>
                <a:latin typeface="Aptos"/>
              </a:rPr>
              <a:t>Primary goal
Join the network and manage a practice profile.
Key areas
Onboarding • verification • dashboard • availability • profile
Access
Doctor account and protected doctor workspace.</a:t>
            </a:r>
          </a:p>
        </p:txBody>
      </p:sp>
      <p:sp>
        <p:nvSpPr>
          <p:cNvPr id="13" name="Rounded Rectangle 12"/>
          <p:cNvSpPr/>
          <p:nvPr/>
        </p:nvSpPr>
        <p:spPr>
          <a:xfrm>
            <a:off x="8028431" y="1828800"/>
            <a:ext cx="3502152" cy="3493008"/>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28431" y="1828800"/>
            <a:ext cx="64008" cy="3493008"/>
          </a:xfrm>
          <a:prstGeom prst="rect">
            <a:avLst/>
          </a:prstGeom>
          <a:solidFill>
            <a:srgbClr val="E6A94E"/>
          </a:solidFill>
          <a:ln>
            <a:solidFill>
              <a:srgbClr val="E6A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984248"/>
            <a:ext cx="3118104" cy="292608"/>
          </a:xfrm>
          <a:prstGeom prst="rect">
            <a:avLst/>
          </a:prstGeom>
          <a:noFill/>
        </p:spPr>
        <p:txBody>
          <a:bodyPr wrap="square" lIns="18288" rIns="18288" tIns="18288" bIns="18288" anchor="t">
            <a:spAutoFit/>
          </a:bodyPr>
          <a:lstStyle/>
          <a:p>
            <a:pPr algn="l">
              <a:spcAft>
                <a:spcPts val="0"/>
              </a:spcAft>
            </a:pPr>
            <a:r>
              <a:rPr sz="1700" b="1" i="0">
                <a:solidFill>
                  <a:srgbClr val="15364A"/>
                </a:solidFill>
                <a:latin typeface="Aptos"/>
              </a:rPr>
              <a:t>Public user</a:t>
            </a:r>
          </a:p>
        </p:txBody>
      </p:sp>
      <p:sp>
        <p:nvSpPr>
          <p:cNvPr id="16" name="TextBox 15"/>
          <p:cNvSpPr txBox="1"/>
          <p:nvPr/>
        </p:nvSpPr>
        <p:spPr>
          <a:xfrm>
            <a:off x="8229600" y="2359152"/>
            <a:ext cx="3118104" cy="2834639"/>
          </a:xfrm>
          <a:prstGeom prst="rect">
            <a:avLst/>
          </a:prstGeom>
          <a:noFill/>
        </p:spPr>
        <p:txBody>
          <a:bodyPr wrap="square" lIns="18288" rIns="18288" tIns="18288" bIns="18288" anchor="t">
            <a:spAutoFit/>
          </a:bodyPr>
          <a:lstStyle/>
          <a:p>
            <a:pPr algn="l">
              <a:spcAft>
                <a:spcPts val="0"/>
              </a:spcAft>
            </a:pPr>
            <a:r>
              <a:rPr sz="1200" b="0" i="0">
                <a:solidFill>
                  <a:srgbClr val="607889"/>
                </a:solidFill>
                <a:latin typeface="Aptos"/>
              </a:rPr>
              <a:t>Primary goal
Explore the service before committing.
Key areas
Home • search • doctor profiles • about • policies
Access
No account required for public information and discovery.</a:t>
            </a:r>
          </a:p>
        </p:txBody>
      </p:sp>
      <p:sp>
        <p:nvSpPr>
          <p:cNvPr id="17" name="TextBox 16"/>
          <p:cNvSpPr txBox="1"/>
          <p:nvPr/>
        </p:nvSpPr>
        <p:spPr>
          <a:xfrm>
            <a:off x="731520" y="5650992"/>
            <a:ext cx="10789920" cy="320040"/>
          </a:xfrm>
          <a:prstGeom prst="rect">
            <a:avLst/>
          </a:prstGeom>
          <a:noFill/>
        </p:spPr>
        <p:txBody>
          <a:bodyPr wrap="square" lIns="18288" rIns="18288" tIns="18288" bIns="18288" anchor="t">
            <a:spAutoFit/>
          </a:bodyPr>
          <a:lstStyle/>
          <a:p>
            <a:pPr algn="l">
              <a:spcAft>
                <a:spcPts val="0"/>
              </a:spcAft>
            </a:pPr>
            <a:r>
              <a:rPr sz="1150" b="0" i="0">
                <a:solidFill>
                  <a:srgbClr val="607889"/>
                </a:solidFill>
                <a:latin typeface="Aptos"/>
              </a:rPr>
              <a:t>Access rule: a signed-in user is directed to the relevant patient or doctor experience; protected areas prompt sign-in.</a:t>
            </a:r>
          </a:p>
        </p:txBody>
      </p:sp>
      <p:cxnSp>
        <p:nvCxnSpPr>
          <p:cNvPr id="18" name="Connector 17"/>
          <p:cNvCxnSpPr/>
          <p:nvPr/>
        </p:nvCxnSpPr>
        <p:spPr>
          <a:xfrm>
            <a:off x="502920" y="6510528"/>
            <a:ext cx="11183112" cy="0"/>
          </a:xfrm>
          <a:prstGeom prst="line">
            <a:avLst/>
          </a:prstGeom>
          <a:ln w="8890">
            <a:solidFill>
              <a:srgbClr val="DCE7ED"/>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6574536"/>
            <a:ext cx="6858000" cy="164592"/>
          </a:xfrm>
          <a:prstGeom prst="rect">
            <a:avLst/>
          </a:prstGeom>
          <a:noFill/>
        </p:spPr>
        <p:txBody>
          <a:bodyPr wrap="square" lIns="18288" rIns="18288" tIns="18288" bIns="18288" anchor="t">
            <a:spAutoFit/>
          </a:bodyPr>
          <a:lstStyle/>
          <a:p>
            <a:pPr algn="l">
              <a:spcAft>
                <a:spcPts val="0"/>
              </a:spcAft>
            </a:pPr>
            <a:r>
              <a:rPr sz="800" b="1" i="0">
                <a:solidFill>
                  <a:srgbClr val="607889"/>
                </a:solidFill>
                <a:latin typeface="Aptos"/>
              </a:rPr>
              <a:t>HEALTHCARE CONNECT  /  UI PLAN  •  WORKING DRAFT</a:t>
            </a:r>
          </a:p>
        </p:txBody>
      </p:sp>
      <p:sp>
        <p:nvSpPr>
          <p:cNvPr id="20" name="TextBox 19"/>
          <p:cNvSpPr txBox="1"/>
          <p:nvPr/>
        </p:nvSpPr>
        <p:spPr>
          <a:xfrm>
            <a:off x="10972800" y="6565392"/>
            <a:ext cx="594360" cy="182880"/>
          </a:xfrm>
          <a:prstGeom prst="rect">
            <a:avLst/>
          </a:prstGeom>
          <a:noFill/>
        </p:spPr>
        <p:txBody>
          <a:bodyPr wrap="square" lIns="18288" rIns="18288" tIns="18288" bIns="18288" anchor="t">
            <a:spAutoFit/>
          </a:bodyPr>
          <a:lstStyle/>
          <a:p>
            <a:pPr algn="r">
              <a:spcAft>
                <a:spcPts val="0"/>
              </a:spcAft>
            </a:pPr>
            <a:r>
              <a:rPr sz="900" b="1" i="0">
                <a:solidFill>
                  <a:srgbClr val="607889"/>
                </a:solidFill>
                <a:latin typeface="Apto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594360" y="384048"/>
            <a:ext cx="4114800" cy="201168"/>
          </a:xfrm>
          <a:prstGeom prst="rect">
            <a:avLst/>
          </a:prstGeom>
          <a:noFill/>
        </p:spPr>
        <p:txBody>
          <a:bodyPr wrap="square" lIns="18288" rIns="18288" tIns="18288" bIns="18288" anchor="t">
            <a:spAutoFit/>
          </a:bodyPr>
          <a:lstStyle/>
          <a:p>
            <a:pPr algn="l">
              <a:spcAft>
                <a:spcPts val="0"/>
              </a:spcAft>
            </a:pPr>
            <a:r>
              <a:rPr sz="900" b="1" i="0">
                <a:solidFill>
                  <a:srgbClr val="26A99A"/>
                </a:solidFill>
                <a:latin typeface="Aptos"/>
              </a:rPr>
              <a:t>03 / PATIENT EXPERIENCE</a:t>
            </a:r>
          </a:p>
        </p:txBody>
      </p:sp>
      <p:sp>
        <p:nvSpPr>
          <p:cNvPr id="3" name="TextBox 2"/>
          <p:cNvSpPr txBox="1"/>
          <p:nvPr/>
        </p:nvSpPr>
        <p:spPr>
          <a:xfrm>
            <a:off x="594360" y="658368"/>
            <a:ext cx="10972800" cy="475488"/>
          </a:xfrm>
          <a:prstGeom prst="rect">
            <a:avLst/>
          </a:prstGeom>
          <a:noFill/>
        </p:spPr>
        <p:txBody>
          <a:bodyPr wrap="square" lIns="18288" rIns="18288" tIns="18288" bIns="18288" anchor="t">
            <a:spAutoFit/>
          </a:bodyPr>
          <a:lstStyle/>
          <a:p>
            <a:pPr algn="l">
              <a:spcAft>
                <a:spcPts val="0"/>
              </a:spcAft>
            </a:pPr>
            <a:r>
              <a:rPr sz="2700" b="1" i="0">
                <a:solidFill>
                  <a:srgbClr val="15364A"/>
                </a:solidFill>
                <a:latin typeface="Aptos"/>
              </a:rPr>
              <a:t>Patient journey: from need to follow-up</a:t>
            </a:r>
          </a:p>
        </p:txBody>
      </p:sp>
      <p:sp>
        <p:nvSpPr>
          <p:cNvPr id="4" name="TextBox 3"/>
          <p:cNvSpPr txBox="1"/>
          <p:nvPr/>
        </p:nvSpPr>
        <p:spPr>
          <a:xfrm>
            <a:off x="612648" y="1207008"/>
            <a:ext cx="10789920" cy="365760"/>
          </a:xfrm>
          <a:prstGeom prst="rect">
            <a:avLst/>
          </a:prstGeom>
          <a:noFill/>
        </p:spPr>
        <p:txBody>
          <a:bodyPr wrap="square" lIns="18288" rIns="18288" tIns="18288" bIns="18288" anchor="t">
            <a:spAutoFit/>
          </a:bodyPr>
          <a:lstStyle/>
          <a:p>
            <a:pPr algn="l">
              <a:spcAft>
                <a:spcPts val="0"/>
              </a:spcAft>
            </a:pPr>
            <a:r>
              <a:rPr sz="1250" b="0" i="0">
                <a:solidFill>
                  <a:srgbClr val="607889"/>
                </a:solidFill>
                <a:latin typeface="Aptos"/>
              </a:rPr>
              <a:t>The patient can start as a public visitor; sign-in is required when moving into protected booking actions.</a:t>
            </a:r>
          </a:p>
        </p:txBody>
      </p:sp>
      <p:sp>
        <p:nvSpPr>
          <p:cNvPr id="5" name="Rounded Rectangle 4"/>
          <p:cNvSpPr/>
          <p:nvPr/>
        </p:nvSpPr>
        <p:spPr>
          <a:xfrm>
            <a:off x="731520" y="2057400"/>
            <a:ext cx="1914753" cy="105156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203704"/>
            <a:ext cx="274320" cy="274320"/>
          </a:xfrm>
          <a:prstGeom prst="ellipse">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12848"/>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1</a:t>
            </a:r>
          </a:p>
        </p:txBody>
      </p:sp>
      <p:sp>
        <p:nvSpPr>
          <p:cNvPr id="8" name="TextBox 7"/>
          <p:cNvSpPr txBox="1"/>
          <p:nvPr/>
        </p:nvSpPr>
        <p:spPr>
          <a:xfrm>
            <a:off x="1216152" y="2203704"/>
            <a:ext cx="1320393" cy="365760"/>
          </a:xfrm>
          <a:prstGeom prst="rect">
            <a:avLst/>
          </a:prstGeom>
          <a:noFill/>
        </p:spPr>
        <p:txBody>
          <a:bodyPr wrap="square" lIns="18288" rIns="18288" tIns="18288" bIns="18288" anchor="t">
            <a:spAutoFit/>
          </a:bodyPr>
          <a:lstStyle/>
          <a:p>
            <a:pPr algn="l">
              <a:spcAft>
                <a:spcPts val="0"/>
              </a:spcAft>
            </a:pPr>
            <a:r>
              <a:rPr sz="1200" b="1" i="0">
                <a:solidFill>
                  <a:srgbClr val="15364A"/>
                </a:solidFill>
                <a:latin typeface="Aptos"/>
              </a:rPr>
              <a:t>Discover</a:t>
            </a:r>
          </a:p>
        </p:txBody>
      </p:sp>
      <p:sp>
        <p:nvSpPr>
          <p:cNvPr id="9" name="TextBox 8"/>
          <p:cNvSpPr txBox="1"/>
          <p:nvPr/>
        </p:nvSpPr>
        <p:spPr>
          <a:xfrm>
            <a:off x="896112" y="2633472"/>
            <a:ext cx="1594713"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Search by doctor,
specialty or area</a:t>
            </a:r>
          </a:p>
        </p:txBody>
      </p:sp>
      <p:cxnSp>
        <p:nvCxnSpPr>
          <p:cNvPr id="10" name="Connector 9"/>
          <p:cNvCxnSpPr/>
          <p:nvPr/>
        </p:nvCxnSpPr>
        <p:spPr>
          <a:xfrm>
            <a:off x="2682849" y="2583180"/>
            <a:ext cx="219456" cy="0"/>
          </a:xfrm>
          <a:prstGeom prst="line">
            <a:avLst/>
          </a:prstGeom>
          <a:ln w="17780">
            <a:solidFill>
              <a:srgbClr val="26A99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810865" y="2455164"/>
            <a:ext cx="182880" cy="256032"/>
          </a:xfrm>
          <a:prstGeom prst="rect">
            <a:avLst/>
          </a:prstGeom>
          <a:noFill/>
        </p:spPr>
        <p:txBody>
          <a:bodyPr wrap="square" lIns="18288" rIns="18288" tIns="18288" bIns="18288" anchor="t">
            <a:spAutoFit/>
          </a:bodyPr>
          <a:lstStyle/>
          <a:p>
            <a:pPr algn="ctr">
              <a:spcAft>
                <a:spcPts val="0"/>
              </a:spcAft>
            </a:pPr>
            <a:r>
              <a:rPr sz="1600" b="1" i="0">
                <a:solidFill>
                  <a:srgbClr val="26A99A"/>
                </a:solidFill>
                <a:latin typeface="Aptos"/>
              </a:rPr>
              <a:t>›</a:t>
            </a:r>
          </a:p>
        </p:txBody>
      </p:sp>
      <p:sp>
        <p:nvSpPr>
          <p:cNvPr id="12" name="Rounded Rectangle 11"/>
          <p:cNvSpPr/>
          <p:nvPr/>
        </p:nvSpPr>
        <p:spPr>
          <a:xfrm>
            <a:off x="2938881" y="2057400"/>
            <a:ext cx="1914753" cy="105156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76041" y="2203704"/>
            <a:ext cx="274320" cy="274320"/>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76041" y="2212848"/>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2</a:t>
            </a:r>
          </a:p>
        </p:txBody>
      </p:sp>
      <p:sp>
        <p:nvSpPr>
          <p:cNvPr id="15" name="TextBox 14"/>
          <p:cNvSpPr txBox="1"/>
          <p:nvPr/>
        </p:nvSpPr>
        <p:spPr>
          <a:xfrm>
            <a:off x="3423513" y="2203704"/>
            <a:ext cx="1320393" cy="365760"/>
          </a:xfrm>
          <a:prstGeom prst="rect">
            <a:avLst/>
          </a:prstGeom>
          <a:noFill/>
        </p:spPr>
        <p:txBody>
          <a:bodyPr wrap="square" lIns="18288" rIns="18288" tIns="18288" bIns="18288" anchor="t">
            <a:spAutoFit/>
          </a:bodyPr>
          <a:lstStyle/>
          <a:p>
            <a:pPr algn="l">
              <a:spcAft>
                <a:spcPts val="0"/>
              </a:spcAft>
            </a:pPr>
            <a:r>
              <a:rPr sz="1200" b="1" i="0">
                <a:solidFill>
                  <a:srgbClr val="15364A"/>
                </a:solidFill>
                <a:latin typeface="Aptos"/>
              </a:rPr>
              <a:t>Compare</a:t>
            </a:r>
          </a:p>
        </p:txBody>
      </p:sp>
      <p:sp>
        <p:nvSpPr>
          <p:cNvPr id="16" name="TextBox 15"/>
          <p:cNvSpPr txBox="1"/>
          <p:nvPr/>
        </p:nvSpPr>
        <p:spPr>
          <a:xfrm>
            <a:off x="3103473" y="2633472"/>
            <a:ext cx="1594713"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Review experience,
fees and availability</a:t>
            </a:r>
          </a:p>
        </p:txBody>
      </p:sp>
      <p:cxnSp>
        <p:nvCxnSpPr>
          <p:cNvPr id="17" name="Connector 16"/>
          <p:cNvCxnSpPr/>
          <p:nvPr/>
        </p:nvCxnSpPr>
        <p:spPr>
          <a:xfrm>
            <a:off x="4890211" y="2583180"/>
            <a:ext cx="219456" cy="0"/>
          </a:xfrm>
          <a:prstGeom prst="line">
            <a:avLst/>
          </a:prstGeom>
          <a:ln w="17780">
            <a:solidFill>
              <a:srgbClr val="26A99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18227" y="2455164"/>
            <a:ext cx="182880" cy="256032"/>
          </a:xfrm>
          <a:prstGeom prst="rect">
            <a:avLst/>
          </a:prstGeom>
          <a:noFill/>
        </p:spPr>
        <p:txBody>
          <a:bodyPr wrap="square" lIns="18288" rIns="18288" tIns="18288" bIns="18288" anchor="t">
            <a:spAutoFit/>
          </a:bodyPr>
          <a:lstStyle/>
          <a:p>
            <a:pPr algn="ctr">
              <a:spcAft>
                <a:spcPts val="0"/>
              </a:spcAft>
            </a:pPr>
            <a:r>
              <a:rPr sz="1600" b="1" i="0">
                <a:solidFill>
                  <a:srgbClr val="26A99A"/>
                </a:solidFill>
                <a:latin typeface="Aptos"/>
              </a:rPr>
              <a:t>›</a:t>
            </a:r>
          </a:p>
        </p:txBody>
      </p:sp>
      <p:sp>
        <p:nvSpPr>
          <p:cNvPr id="19" name="Rounded Rectangle 18"/>
          <p:cNvSpPr/>
          <p:nvPr/>
        </p:nvSpPr>
        <p:spPr>
          <a:xfrm>
            <a:off x="5146243" y="2057400"/>
            <a:ext cx="1914753" cy="105156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283403" y="2203704"/>
            <a:ext cx="274320" cy="274320"/>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83403" y="2212848"/>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3</a:t>
            </a:r>
          </a:p>
        </p:txBody>
      </p:sp>
      <p:sp>
        <p:nvSpPr>
          <p:cNvPr id="22" name="TextBox 21"/>
          <p:cNvSpPr txBox="1"/>
          <p:nvPr/>
        </p:nvSpPr>
        <p:spPr>
          <a:xfrm>
            <a:off x="5630875" y="2203704"/>
            <a:ext cx="1320393" cy="365760"/>
          </a:xfrm>
          <a:prstGeom prst="rect">
            <a:avLst/>
          </a:prstGeom>
          <a:noFill/>
        </p:spPr>
        <p:txBody>
          <a:bodyPr wrap="square" lIns="18288" rIns="18288" tIns="18288" bIns="18288" anchor="t">
            <a:spAutoFit/>
          </a:bodyPr>
          <a:lstStyle/>
          <a:p>
            <a:pPr algn="l">
              <a:spcAft>
                <a:spcPts val="0"/>
              </a:spcAft>
            </a:pPr>
            <a:r>
              <a:rPr sz="1200" b="1" i="0">
                <a:solidFill>
                  <a:srgbClr val="15364A"/>
                </a:solidFill>
                <a:latin typeface="Aptos"/>
              </a:rPr>
              <a:t>Choose care</a:t>
            </a:r>
          </a:p>
        </p:txBody>
      </p:sp>
      <p:sp>
        <p:nvSpPr>
          <p:cNvPr id="23" name="TextBox 22"/>
          <p:cNvSpPr txBox="1"/>
          <p:nvPr/>
        </p:nvSpPr>
        <p:spPr>
          <a:xfrm>
            <a:off x="5310835" y="2633472"/>
            <a:ext cx="1594713"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Select service, slot
and patient details</a:t>
            </a:r>
          </a:p>
        </p:txBody>
      </p:sp>
      <p:cxnSp>
        <p:nvCxnSpPr>
          <p:cNvPr id="24" name="Connector 23"/>
          <p:cNvCxnSpPr/>
          <p:nvPr/>
        </p:nvCxnSpPr>
        <p:spPr>
          <a:xfrm>
            <a:off x="7097572" y="2583180"/>
            <a:ext cx="219456" cy="0"/>
          </a:xfrm>
          <a:prstGeom prst="line">
            <a:avLst/>
          </a:prstGeom>
          <a:ln w="17780">
            <a:solidFill>
              <a:srgbClr val="26A99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225588" y="2455164"/>
            <a:ext cx="182880" cy="256032"/>
          </a:xfrm>
          <a:prstGeom prst="rect">
            <a:avLst/>
          </a:prstGeom>
          <a:noFill/>
        </p:spPr>
        <p:txBody>
          <a:bodyPr wrap="square" lIns="18288" rIns="18288" tIns="18288" bIns="18288" anchor="t">
            <a:spAutoFit/>
          </a:bodyPr>
          <a:lstStyle/>
          <a:p>
            <a:pPr algn="ctr">
              <a:spcAft>
                <a:spcPts val="0"/>
              </a:spcAft>
            </a:pPr>
            <a:r>
              <a:rPr sz="1600" b="1" i="0">
                <a:solidFill>
                  <a:srgbClr val="26A99A"/>
                </a:solidFill>
                <a:latin typeface="Aptos"/>
              </a:rPr>
              <a:t>›</a:t>
            </a:r>
          </a:p>
        </p:txBody>
      </p:sp>
      <p:sp>
        <p:nvSpPr>
          <p:cNvPr id="26" name="Rounded Rectangle 25"/>
          <p:cNvSpPr/>
          <p:nvPr/>
        </p:nvSpPr>
        <p:spPr>
          <a:xfrm>
            <a:off x="7353604" y="2057400"/>
            <a:ext cx="1914753" cy="105156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490764" y="2203704"/>
            <a:ext cx="274320" cy="274320"/>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0764" y="2212848"/>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4</a:t>
            </a:r>
          </a:p>
        </p:txBody>
      </p:sp>
      <p:sp>
        <p:nvSpPr>
          <p:cNvPr id="29" name="TextBox 28"/>
          <p:cNvSpPr txBox="1"/>
          <p:nvPr/>
        </p:nvSpPr>
        <p:spPr>
          <a:xfrm>
            <a:off x="7838236" y="2203704"/>
            <a:ext cx="1320393" cy="365760"/>
          </a:xfrm>
          <a:prstGeom prst="rect">
            <a:avLst/>
          </a:prstGeom>
          <a:noFill/>
        </p:spPr>
        <p:txBody>
          <a:bodyPr wrap="square" lIns="18288" rIns="18288" tIns="18288" bIns="18288" anchor="t">
            <a:spAutoFit/>
          </a:bodyPr>
          <a:lstStyle/>
          <a:p>
            <a:pPr algn="l">
              <a:spcAft>
                <a:spcPts val="0"/>
              </a:spcAft>
            </a:pPr>
            <a:r>
              <a:rPr sz="1200" b="1" i="0">
                <a:solidFill>
                  <a:srgbClr val="15364A"/>
                </a:solidFill>
                <a:latin typeface="Aptos"/>
              </a:rPr>
              <a:t>Pay securely</a:t>
            </a:r>
          </a:p>
        </p:txBody>
      </p:sp>
      <p:sp>
        <p:nvSpPr>
          <p:cNvPr id="30" name="TextBox 29"/>
          <p:cNvSpPr txBox="1"/>
          <p:nvPr/>
        </p:nvSpPr>
        <p:spPr>
          <a:xfrm>
            <a:off x="7518196" y="2633472"/>
            <a:ext cx="1594713"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Razorpay hand-off;
result returns to app</a:t>
            </a:r>
          </a:p>
        </p:txBody>
      </p:sp>
      <p:cxnSp>
        <p:nvCxnSpPr>
          <p:cNvPr id="31" name="Connector 30"/>
          <p:cNvCxnSpPr/>
          <p:nvPr/>
        </p:nvCxnSpPr>
        <p:spPr>
          <a:xfrm>
            <a:off x="9304934" y="2583180"/>
            <a:ext cx="219456" cy="0"/>
          </a:xfrm>
          <a:prstGeom prst="line">
            <a:avLst/>
          </a:prstGeom>
          <a:ln w="17780">
            <a:solidFill>
              <a:srgbClr val="26A99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432950" y="2455164"/>
            <a:ext cx="182880" cy="256032"/>
          </a:xfrm>
          <a:prstGeom prst="rect">
            <a:avLst/>
          </a:prstGeom>
          <a:noFill/>
        </p:spPr>
        <p:txBody>
          <a:bodyPr wrap="square" lIns="18288" rIns="18288" tIns="18288" bIns="18288" anchor="t">
            <a:spAutoFit/>
          </a:bodyPr>
          <a:lstStyle/>
          <a:p>
            <a:pPr algn="ctr">
              <a:spcAft>
                <a:spcPts val="0"/>
              </a:spcAft>
            </a:pPr>
            <a:r>
              <a:rPr sz="1600" b="1" i="0">
                <a:solidFill>
                  <a:srgbClr val="26A99A"/>
                </a:solidFill>
                <a:latin typeface="Aptos"/>
              </a:rPr>
              <a:t>›</a:t>
            </a:r>
          </a:p>
        </p:txBody>
      </p:sp>
      <p:sp>
        <p:nvSpPr>
          <p:cNvPr id="33" name="Rounded Rectangle 32"/>
          <p:cNvSpPr/>
          <p:nvPr/>
        </p:nvSpPr>
        <p:spPr>
          <a:xfrm>
            <a:off x="9560966" y="2057400"/>
            <a:ext cx="1914753" cy="105156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698126" y="2203704"/>
            <a:ext cx="274320" cy="274320"/>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98126" y="2212848"/>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5</a:t>
            </a:r>
          </a:p>
        </p:txBody>
      </p:sp>
      <p:sp>
        <p:nvSpPr>
          <p:cNvPr id="36" name="TextBox 35"/>
          <p:cNvSpPr txBox="1"/>
          <p:nvPr/>
        </p:nvSpPr>
        <p:spPr>
          <a:xfrm>
            <a:off x="10045598" y="2203704"/>
            <a:ext cx="1320393" cy="365760"/>
          </a:xfrm>
          <a:prstGeom prst="rect">
            <a:avLst/>
          </a:prstGeom>
          <a:noFill/>
        </p:spPr>
        <p:txBody>
          <a:bodyPr wrap="square" lIns="18288" rIns="18288" tIns="18288" bIns="18288" anchor="t">
            <a:spAutoFit/>
          </a:bodyPr>
          <a:lstStyle/>
          <a:p>
            <a:pPr algn="l">
              <a:spcAft>
                <a:spcPts val="0"/>
              </a:spcAft>
            </a:pPr>
            <a:r>
              <a:rPr sz="1200" b="1" i="0">
                <a:solidFill>
                  <a:srgbClr val="15364A"/>
                </a:solidFill>
                <a:latin typeface="Aptos"/>
              </a:rPr>
              <a:t>Stay informed</a:t>
            </a:r>
          </a:p>
        </p:txBody>
      </p:sp>
      <p:sp>
        <p:nvSpPr>
          <p:cNvPr id="37" name="TextBox 36"/>
          <p:cNvSpPr txBox="1"/>
          <p:nvPr/>
        </p:nvSpPr>
        <p:spPr>
          <a:xfrm>
            <a:off x="9725558" y="2633472"/>
            <a:ext cx="1594713"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See confirmation
and appointment list</a:t>
            </a:r>
          </a:p>
        </p:txBody>
      </p:sp>
      <p:sp>
        <p:nvSpPr>
          <p:cNvPr id="38" name="Rounded Rectangle 37"/>
          <p:cNvSpPr/>
          <p:nvPr/>
        </p:nvSpPr>
        <p:spPr>
          <a:xfrm>
            <a:off x="713232" y="3794760"/>
            <a:ext cx="5257800" cy="160020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13232" y="3794760"/>
            <a:ext cx="64008" cy="1600200"/>
          </a:xfrm>
          <a:prstGeom prst="rect">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950208"/>
            <a:ext cx="4873752" cy="292608"/>
          </a:xfrm>
          <a:prstGeom prst="rect">
            <a:avLst/>
          </a:prstGeom>
          <a:noFill/>
        </p:spPr>
        <p:txBody>
          <a:bodyPr wrap="square" lIns="18288" rIns="18288" tIns="18288" bIns="18288" anchor="t">
            <a:spAutoFit/>
          </a:bodyPr>
          <a:lstStyle/>
          <a:p>
            <a:pPr algn="l">
              <a:spcAft>
                <a:spcPts val="0"/>
              </a:spcAft>
            </a:pPr>
            <a:r>
              <a:rPr sz="1400" b="1" i="0">
                <a:solidFill>
                  <a:srgbClr val="15364A"/>
                </a:solidFill>
                <a:latin typeface="Aptos"/>
              </a:rPr>
              <a:t>Patient use cases</a:t>
            </a:r>
          </a:p>
        </p:txBody>
      </p:sp>
      <p:sp>
        <p:nvSpPr>
          <p:cNvPr id="41" name="TextBox 40"/>
          <p:cNvSpPr txBox="1"/>
          <p:nvPr/>
        </p:nvSpPr>
        <p:spPr>
          <a:xfrm>
            <a:off x="914400" y="4325112"/>
            <a:ext cx="4873752" cy="941832"/>
          </a:xfrm>
          <a:prstGeom prst="rect">
            <a:avLst/>
          </a:prstGeom>
          <a:noFill/>
        </p:spPr>
        <p:txBody>
          <a:bodyPr wrap="square" lIns="18288" rIns="18288" tIns="18288" bIns="18288" anchor="t">
            <a:spAutoFit/>
          </a:bodyPr>
          <a:lstStyle/>
          <a:p>
            <a:pPr algn="l">
              <a:spcAft>
                <a:spcPts val="0"/>
              </a:spcAft>
            </a:pPr>
            <a:r>
              <a:rPr sz="1100" b="0" i="0">
                <a:solidFill>
                  <a:srgbClr val="607889"/>
                </a:solidFill>
                <a:latin typeface="Aptos"/>
              </a:rPr>
              <a:t>Find/filter a doctor • view qualifications and services • book for self or another patient • add an optional note • pay • revisit upcoming or past appointments.</a:t>
            </a:r>
          </a:p>
        </p:txBody>
      </p:sp>
      <p:sp>
        <p:nvSpPr>
          <p:cNvPr id="42" name="Rounded Rectangle 41"/>
          <p:cNvSpPr/>
          <p:nvPr/>
        </p:nvSpPr>
        <p:spPr>
          <a:xfrm>
            <a:off x="6199632" y="3794760"/>
            <a:ext cx="5257800" cy="160020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99632" y="3794760"/>
            <a:ext cx="64008" cy="1600200"/>
          </a:xfrm>
          <a:prstGeom prst="rect">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0" y="3950208"/>
            <a:ext cx="4873752" cy="292608"/>
          </a:xfrm>
          <a:prstGeom prst="rect">
            <a:avLst/>
          </a:prstGeom>
          <a:noFill/>
        </p:spPr>
        <p:txBody>
          <a:bodyPr wrap="square" lIns="18288" rIns="18288" tIns="18288" bIns="18288" anchor="t">
            <a:spAutoFit/>
          </a:bodyPr>
          <a:lstStyle/>
          <a:p>
            <a:pPr algn="l">
              <a:spcAft>
                <a:spcPts val="0"/>
              </a:spcAft>
            </a:pPr>
            <a:r>
              <a:rPr sz="1400" b="1" i="0">
                <a:solidFill>
                  <a:srgbClr val="15364A"/>
                </a:solidFill>
                <a:latin typeface="Aptos"/>
              </a:rPr>
              <a:t>Journey guardrails</a:t>
            </a:r>
          </a:p>
        </p:txBody>
      </p:sp>
      <p:sp>
        <p:nvSpPr>
          <p:cNvPr id="45" name="TextBox 44"/>
          <p:cNvSpPr txBox="1"/>
          <p:nvPr/>
        </p:nvSpPr>
        <p:spPr>
          <a:xfrm>
            <a:off x="6400800" y="4325112"/>
            <a:ext cx="4873752" cy="941832"/>
          </a:xfrm>
          <a:prstGeom prst="rect">
            <a:avLst/>
          </a:prstGeom>
          <a:noFill/>
        </p:spPr>
        <p:txBody>
          <a:bodyPr wrap="square" lIns="18288" rIns="18288" tIns="18288" bIns="18288" anchor="t">
            <a:spAutoFit/>
          </a:bodyPr>
          <a:lstStyle/>
          <a:p>
            <a:pPr algn="l">
              <a:spcAft>
                <a:spcPts val="0"/>
              </a:spcAft>
            </a:pPr>
            <a:r>
              <a:rPr sz="1100" b="0" i="0">
                <a:solidFill>
                  <a:srgbClr val="607889"/>
                </a:solidFill>
                <a:latin typeface="Aptos"/>
              </a:rPr>
              <a:t>Keep price and visit type visible • preserve booking progress • validate required details inline • provide recovery for no results, unavailable slots or failed payment.</a:t>
            </a:r>
          </a:p>
        </p:txBody>
      </p:sp>
      <p:cxnSp>
        <p:nvCxnSpPr>
          <p:cNvPr id="46" name="Connector 45"/>
          <p:cNvCxnSpPr/>
          <p:nvPr/>
        </p:nvCxnSpPr>
        <p:spPr>
          <a:xfrm>
            <a:off x="502920" y="6510528"/>
            <a:ext cx="11183112" cy="0"/>
          </a:xfrm>
          <a:prstGeom prst="line">
            <a:avLst/>
          </a:prstGeom>
          <a:ln w="8890">
            <a:solidFill>
              <a:srgbClr val="DCE7ED"/>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48640" y="6574536"/>
            <a:ext cx="6858000" cy="164592"/>
          </a:xfrm>
          <a:prstGeom prst="rect">
            <a:avLst/>
          </a:prstGeom>
          <a:noFill/>
        </p:spPr>
        <p:txBody>
          <a:bodyPr wrap="square" lIns="18288" rIns="18288" tIns="18288" bIns="18288" anchor="t">
            <a:spAutoFit/>
          </a:bodyPr>
          <a:lstStyle/>
          <a:p>
            <a:pPr algn="l">
              <a:spcAft>
                <a:spcPts val="0"/>
              </a:spcAft>
            </a:pPr>
            <a:r>
              <a:rPr sz="800" b="1" i="0">
                <a:solidFill>
                  <a:srgbClr val="607889"/>
                </a:solidFill>
                <a:latin typeface="Aptos"/>
              </a:rPr>
              <a:t>HEALTHCARE CONNECT  /  UI PLAN  •  WORKING DRAFT</a:t>
            </a:r>
          </a:p>
        </p:txBody>
      </p:sp>
      <p:sp>
        <p:nvSpPr>
          <p:cNvPr id="48" name="TextBox 47"/>
          <p:cNvSpPr txBox="1"/>
          <p:nvPr/>
        </p:nvSpPr>
        <p:spPr>
          <a:xfrm>
            <a:off x="10972800" y="6565392"/>
            <a:ext cx="594360" cy="182880"/>
          </a:xfrm>
          <a:prstGeom prst="rect">
            <a:avLst/>
          </a:prstGeom>
          <a:noFill/>
        </p:spPr>
        <p:txBody>
          <a:bodyPr wrap="square" lIns="18288" rIns="18288" tIns="18288" bIns="18288" anchor="t">
            <a:spAutoFit/>
          </a:bodyPr>
          <a:lstStyle/>
          <a:p>
            <a:pPr algn="r">
              <a:spcAft>
                <a:spcPts val="0"/>
              </a:spcAft>
            </a:pPr>
            <a:r>
              <a:rPr sz="900" b="1" i="0">
                <a:solidFill>
                  <a:srgbClr val="607889"/>
                </a:solidFill>
                <a:latin typeface="Apto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594360" y="384048"/>
            <a:ext cx="4114800" cy="201168"/>
          </a:xfrm>
          <a:prstGeom prst="rect">
            <a:avLst/>
          </a:prstGeom>
          <a:noFill/>
        </p:spPr>
        <p:txBody>
          <a:bodyPr wrap="square" lIns="18288" rIns="18288" tIns="18288" bIns="18288" anchor="t">
            <a:spAutoFit/>
          </a:bodyPr>
          <a:lstStyle/>
          <a:p>
            <a:pPr algn="l">
              <a:spcAft>
                <a:spcPts val="0"/>
              </a:spcAft>
            </a:pPr>
            <a:r>
              <a:rPr sz="900" b="1" i="0">
                <a:solidFill>
                  <a:srgbClr val="26A99A"/>
                </a:solidFill>
                <a:latin typeface="Aptos"/>
              </a:rPr>
              <a:t>04 / DOCTOR EXPERIENCE</a:t>
            </a:r>
          </a:p>
        </p:txBody>
      </p:sp>
      <p:sp>
        <p:nvSpPr>
          <p:cNvPr id="3" name="TextBox 2"/>
          <p:cNvSpPr txBox="1"/>
          <p:nvPr/>
        </p:nvSpPr>
        <p:spPr>
          <a:xfrm>
            <a:off x="594360" y="658368"/>
            <a:ext cx="10972800" cy="475488"/>
          </a:xfrm>
          <a:prstGeom prst="rect">
            <a:avLst/>
          </a:prstGeom>
          <a:noFill/>
        </p:spPr>
        <p:txBody>
          <a:bodyPr wrap="square" lIns="18288" rIns="18288" tIns="18288" bIns="18288" anchor="t">
            <a:spAutoFit/>
          </a:bodyPr>
          <a:lstStyle/>
          <a:p>
            <a:pPr algn="l">
              <a:spcAft>
                <a:spcPts val="0"/>
              </a:spcAft>
            </a:pPr>
            <a:r>
              <a:rPr sz="2700" b="1" i="0">
                <a:solidFill>
                  <a:srgbClr val="15364A"/>
                </a:solidFill>
                <a:latin typeface="Aptos"/>
              </a:rPr>
              <a:t>Doctor journey: onboarding to an active practice</a:t>
            </a:r>
          </a:p>
        </p:txBody>
      </p:sp>
      <p:sp>
        <p:nvSpPr>
          <p:cNvPr id="4" name="TextBox 3"/>
          <p:cNvSpPr txBox="1"/>
          <p:nvPr/>
        </p:nvSpPr>
        <p:spPr>
          <a:xfrm>
            <a:off x="612648" y="1207008"/>
            <a:ext cx="10789920" cy="365760"/>
          </a:xfrm>
          <a:prstGeom prst="rect">
            <a:avLst/>
          </a:prstGeom>
          <a:noFill/>
        </p:spPr>
        <p:txBody>
          <a:bodyPr wrap="square" lIns="18288" rIns="18288" tIns="18288" bIns="18288" anchor="t">
            <a:spAutoFit/>
          </a:bodyPr>
          <a:lstStyle/>
          <a:p>
            <a:pPr algn="l">
              <a:spcAft>
                <a:spcPts val="0"/>
              </a:spcAft>
            </a:pPr>
            <a:r>
              <a:rPr sz="1250" b="0" i="0">
                <a:solidFill>
                  <a:srgbClr val="607889"/>
                </a:solidFill>
                <a:latin typeface="Aptos"/>
              </a:rPr>
              <a:t>Doctor onboarding remains a multi-step flow, with status and next actions made clear at each stage.</a:t>
            </a:r>
          </a:p>
        </p:txBody>
      </p:sp>
      <p:sp>
        <p:nvSpPr>
          <p:cNvPr id="5" name="Rounded Rectangle 4"/>
          <p:cNvSpPr/>
          <p:nvPr/>
        </p:nvSpPr>
        <p:spPr>
          <a:xfrm>
            <a:off x="731520" y="2057400"/>
            <a:ext cx="1914753" cy="1078992"/>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203704"/>
            <a:ext cx="274320" cy="274320"/>
          </a:xfrm>
          <a:prstGeom prst="ellipse">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12848"/>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1</a:t>
            </a:r>
          </a:p>
        </p:txBody>
      </p:sp>
      <p:sp>
        <p:nvSpPr>
          <p:cNvPr id="8" name="TextBox 7"/>
          <p:cNvSpPr txBox="1"/>
          <p:nvPr/>
        </p:nvSpPr>
        <p:spPr>
          <a:xfrm>
            <a:off x="1216152" y="2203704"/>
            <a:ext cx="1320393" cy="365760"/>
          </a:xfrm>
          <a:prstGeom prst="rect">
            <a:avLst/>
          </a:prstGeom>
          <a:noFill/>
        </p:spPr>
        <p:txBody>
          <a:bodyPr wrap="square" lIns="18288" rIns="18288" tIns="18288" bIns="18288" anchor="t">
            <a:spAutoFit/>
          </a:bodyPr>
          <a:lstStyle/>
          <a:p>
            <a:pPr algn="l">
              <a:spcAft>
                <a:spcPts val="0"/>
              </a:spcAft>
            </a:pPr>
            <a:r>
              <a:rPr sz="1200" b="1" i="0">
                <a:solidFill>
                  <a:srgbClr val="15364A"/>
                </a:solidFill>
                <a:latin typeface="Aptos"/>
              </a:rPr>
              <a:t>Create account</a:t>
            </a:r>
          </a:p>
        </p:txBody>
      </p:sp>
      <p:sp>
        <p:nvSpPr>
          <p:cNvPr id="9" name="TextBox 8"/>
          <p:cNvSpPr txBox="1"/>
          <p:nvPr/>
        </p:nvSpPr>
        <p:spPr>
          <a:xfrm>
            <a:off x="896112" y="2633472"/>
            <a:ext cx="1594713"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Choose Doctor role;
verify contact</a:t>
            </a:r>
          </a:p>
        </p:txBody>
      </p:sp>
      <p:cxnSp>
        <p:nvCxnSpPr>
          <p:cNvPr id="10" name="Connector 9"/>
          <p:cNvCxnSpPr/>
          <p:nvPr/>
        </p:nvCxnSpPr>
        <p:spPr>
          <a:xfrm>
            <a:off x="2682849" y="2596896"/>
            <a:ext cx="219456" cy="0"/>
          </a:xfrm>
          <a:prstGeom prst="line">
            <a:avLst/>
          </a:prstGeom>
          <a:ln w="17780">
            <a:solidFill>
              <a:srgbClr val="26A99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810865" y="2468879"/>
            <a:ext cx="182880" cy="256032"/>
          </a:xfrm>
          <a:prstGeom prst="rect">
            <a:avLst/>
          </a:prstGeom>
          <a:noFill/>
        </p:spPr>
        <p:txBody>
          <a:bodyPr wrap="square" lIns="18288" rIns="18288" tIns="18288" bIns="18288" anchor="t">
            <a:spAutoFit/>
          </a:bodyPr>
          <a:lstStyle/>
          <a:p>
            <a:pPr algn="ctr">
              <a:spcAft>
                <a:spcPts val="0"/>
              </a:spcAft>
            </a:pPr>
            <a:r>
              <a:rPr sz="1600" b="1" i="0">
                <a:solidFill>
                  <a:srgbClr val="26A99A"/>
                </a:solidFill>
                <a:latin typeface="Aptos"/>
              </a:rPr>
              <a:t>›</a:t>
            </a:r>
          </a:p>
        </p:txBody>
      </p:sp>
      <p:sp>
        <p:nvSpPr>
          <p:cNvPr id="12" name="Rounded Rectangle 11"/>
          <p:cNvSpPr/>
          <p:nvPr/>
        </p:nvSpPr>
        <p:spPr>
          <a:xfrm>
            <a:off x="2938881" y="2057400"/>
            <a:ext cx="1914753" cy="1078992"/>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76041" y="2203704"/>
            <a:ext cx="274320" cy="274320"/>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76041" y="2212848"/>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2</a:t>
            </a:r>
          </a:p>
        </p:txBody>
      </p:sp>
      <p:sp>
        <p:nvSpPr>
          <p:cNvPr id="15" name="TextBox 14"/>
          <p:cNvSpPr txBox="1"/>
          <p:nvPr/>
        </p:nvSpPr>
        <p:spPr>
          <a:xfrm>
            <a:off x="3423513" y="2203704"/>
            <a:ext cx="1320393" cy="365760"/>
          </a:xfrm>
          <a:prstGeom prst="rect">
            <a:avLst/>
          </a:prstGeom>
          <a:noFill/>
        </p:spPr>
        <p:txBody>
          <a:bodyPr wrap="square" lIns="18288" rIns="18288" tIns="18288" bIns="18288" anchor="t">
            <a:spAutoFit/>
          </a:bodyPr>
          <a:lstStyle/>
          <a:p>
            <a:pPr algn="l">
              <a:spcAft>
                <a:spcPts val="0"/>
              </a:spcAft>
            </a:pPr>
            <a:r>
              <a:rPr sz="1200" b="1" i="0">
                <a:solidFill>
                  <a:srgbClr val="15364A"/>
                </a:solidFill>
                <a:latin typeface="Aptos"/>
              </a:rPr>
              <a:t>Build profile</a:t>
            </a:r>
          </a:p>
        </p:txBody>
      </p:sp>
      <p:sp>
        <p:nvSpPr>
          <p:cNvPr id="16" name="TextBox 15"/>
          <p:cNvSpPr txBox="1"/>
          <p:nvPr/>
        </p:nvSpPr>
        <p:spPr>
          <a:xfrm>
            <a:off x="3103473" y="2633472"/>
            <a:ext cx="1594713"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Personal + clinical
details in steps</a:t>
            </a:r>
          </a:p>
        </p:txBody>
      </p:sp>
      <p:cxnSp>
        <p:nvCxnSpPr>
          <p:cNvPr id="17" name="Connector 16"/>
          <p:cNvCxnSpPr/>
          <p:nvPr/>
        </p:nvCxnSpPr>
        <p:spPr>
          <a:xfrm>
            <a:off x="4890211" y="2596896"/>
            <a:ext cx="219456" cy="0"/>
          </a:xfrm>
          <a:prstGeom prst="line">
            <a:avLst/>
          </a:prstGeom>
          <a:ln w="17780">
            <a:solidFill>
              <a:srgbClr val="26A99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18227" y="2468879"/>
            <a:ext cx="182880" cy="256032"/>
          </a:xfrm>
          <a:prstGeom prst="rect">
            <a:avLst/>
          </a:prstGeom>
          <a:noFill/>
        </p:spPr>
        <p:txBody>
          <a:bodyPr wrap="square" lIns="18288" rIns="18288" tIns="18288" bIns="18288" anchor="t">
            <a:spAutoFit/>
          </a:bodyPr>
          <a:lstStyle/>
          <a:p>
            <a:pPr algn="ctr">
              <a:spcAft>
                <a:spcPts val="0"/>
              </a:spcAft>
            </a:pPr>
            <a:r>
              <a:rPr sz="1600" b="1" i="0">
                <a:solidFill>
                  <a:srgbClr val="26A99A"/>
                </a:solidFill>
                <a:latin typeface="Aptos"/>
              </a:rPr>
              <a:t>›</a:t>
            </a:r>
          </a:p>
        </p:txBody>
      </p:sp>
      <p:sp>
        <p:nvSpPr>
          <p:cNvPr id="19" name="Rounded Rectangle 18"/>
          <p:cNvSpPr/>
          <p:nvPr/>
        </p:nvSpPr>
        <p:spPr>
          <a:xfrm>
            <a:off x="5146243" y="2057400"/>
            <a:ext cx="1914753" cy="1078992"/>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283403" y="2203704"/>
            <a:ext cx="274320" cy="274320"/>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83403" y="2212848"/>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3</a:t>
            </a:r>
          </a:p>
        </p:txBody>
      </p:sp>
      <p:sp>
        <p:nvSpPr>
          <p:cNvPr id="22" name="TextBox 21"/>
          <p:cNvSpPr txBox="1"/>
          <p:nvPr/>
        </p:nvSpPr>
        <p:spPr>
          <a:xfrm>
            <a:off x="5630875" y="2203704"/>
            <a:ext cx="1320393" cy="365760"/>
          </a:xfrm>
          <a:prstGeom prst="rect">
            <a:avLst/>
          </a:prstGeom>
          <a:noFill/>
        </p:spPr>
        <p:txBody>
          <a:bodyPr wrap="square" lIns="18288" rIns="18288" tIns="18288" bIns="18288" anchor="t">
            <a:spAutoFit/>
          </a:bodyPr>
          <a:lstStyle/>
          <a:p>
            <a:pPr algn="l">
              <a:spcAft>
                <a:spcPts val="0"/>
              </a:spcAft>
            </a:pPr>
            <a:r>
              <a:rPr sz="1200" b="1" i="0">
                <a:solidFill>
                  <a:srgbClr val="15364A"/>
                </a:solidFill>
                <a:latin typeface="Aptos"/>
              </a:rPr>
              <a:t>Verify identity</a:t>
            </a:r>
          </a:p>
        </p:txBody>
      </p:sp>
      <p:sp>
        <p:nvSpPr>
          <p:cNvPr id="23" name="TextBox 22"/>
          <p:cNvSpPr txBox="1"/>
          <p:nvPr/>
        </p:nvSpPr>
        <p:spPr>
          <a:xfrm>
            <a:off x="5310835" y="2633472"/>
            <a:ext cx="1594713"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Registration info
and documents</a:t>
            </a:r>
          </a:p>
        </p:txBody>
      </p:sp>
      <p:cxnSp>
        <p:nvCxnSpPr>
          <p:cNvPr id="24" name="Connector 23"/>
          <p:cNvCxnSpPr/>
          <p:nvPr/>
        </p:nvCxnSpPr>
        <p:spPr>
          <a:xfrm>
            <a:off x="7097572" y="2596896"/>
            <a:ext cx="219456" cy="0"/>
          </a:xfrm>
          <a:prstGeom prst="line">
            <a:avLst/>
          </a:prstGeom>
          <a:ln w="17780">
            <a:solidFill>
              <a:srgbClr val="26A99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225588" y="2468879"/>
            <a:ext cx="182880" cy="256032"/>
          </a:xfrm>
          <a:prstGeom prst="rect">
            <a:avLst/>
          </a:prstGeom>
          <a:noFill/>
        </p:spPr>
        <p:txBody>
          <a:bodyPr wrap="square" lIns="18288" rIns="18288" tIns="18288" bIns="18288" anchor="t">
            <a:spAutoFit/>
          </a:bodyPr>
          <a:lstStyle/>
          <a:p>
            <a:pPr algn="ctr">
              <a:spcAft>
                <a:spcPts val="0"/>
              </a:spcAft>
            </a:pPr>
            <a:r>
              <a:rPr sz="1600" b="1" i="0">
                <a:solidFill>
                  <a:srgbClr val="26A99A"/>
                </a:solidFill>
                <a:latin typeface="Aptos"/>
              </a:rPr>
              <a:t>›</a:t>
            </a:r>
          </a:p>
        </p:txBody>
      </p:sp>
      <p:sp>
        <p:nvSpPr>
          <p:cNvPr id="26" name="Rounded Rectangle 25"/>
          <p:cNvSpPr/>
          <p:nvPr/>
        </p:nvSpPr>
        <p:spPr>
          <a:xfrm>
            <a:off x="7353604" y="2057400"/>
            <a:ext cx="1914753" cy="1078992"/>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490764" y="2203704"/>
            <a:ext cx="274320" cy="274320"/>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0764" y="2212848"/>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4</a:t>
            </a:r>
          </a:p>
        </p:txBody>
      </p:sp>
      <p:sp>
        <p:nvSpPr>
          <p:cNvPr id="29" name="TextBox 28"/>
          <p:cNvSpPr txBox="1"/>
          <p:nvPr/>
        </p:nvSpPr>
        <p:spPr>
          <a:xfrm>
            <a:off x="7838236" y="2203704"/>
            <a:ext cx="1320393" cy="365760"/>
          </a:xfrm>
          <a:prstGeom prst="rect">
            <a:avLst/>
          </a:prstGeom>
          <a:noFill/>
        </p:spPr>
        <p:txBody>
          <a:bodyPr wrap="square" lIns="18288" rIns="18288" tIns="18288" bIns="18288" anchor="t">
            <a:spAutoFit/>
          </a:bodyPr>
          <a:lstStyle/>
          <a:p>
            <a:pPr algn="l">
              <a:spcAft>
                <a:spcPts val="0"/>
              </a:spcAft>
            </a:pPr>
            <a:r>
              <a:rPr sz="1200" b="1" i="0">
                <a:solidFill>
                  <a:srgbClr val="15364A"/>
                </a:solidFill>
                <a:latin typeface="Aptos"/>
              </a:rPr>
              <a:t>Review status</a:t>
            </a:r>
          </a:p>
        </p:txBody>
      </p:sp>
      <p:sp>
        <p:nvSpPr>
          <p:cNvPr id="30" name="TextBox 29"/>
          <p:cNvSpPr txBox="1"/>
          <p:nvPr/>
        </p:nvSpPr>
        <p:spPr>
          <a:xfrm>
            <a:off x="7518196" y="2633472"/>
            <a:ext cx="1594713"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See timeline, date
and next action</a:t>
            </a:r>
          </a:p>
        </p:txBody>
      </p:sp>
      <p:cxnSp>
        <p:nvCxnSpPr>
          <p:cNvPr id="31" name="Connector 30"/>
          <p:cNvCxnSpPr/>
          <p:nvPr/>
        </p:nvCxnSpPr>
        <p:spPr>
          <a:xfrm>
            <a:off x="9304934" y="2596896"/>
            <a:ext cx="219456" cy="0"/>
          </a:xfrm>
          <a:prstGeom prst="line">
            <a:avLst/>
          </a:prstGeom>
          <a:ln w="17780">
            <a:solidFill>
              <a:srgbClr val="26A99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432950" y="2468879"/>
            <a:ext cx="182880" cy="256032"/>
          </a:xfrm>
          <a:prstGeom prst="rect">
            <a:avLst/>
          </a:prstGeom>
          <a:noFill/>
        </p:spPr>
        <p:txBody>
          <a:bodyPr wrap="square" lIns="18288" rIns="18288" tIns="18288" bIns="18288" anchor="t">
            <a:spAutoFit/>
          </a:bodyPr>
          <a:lstStyle/>
          <a:p>
            <a:pPr algn="ctr">
              <a:spcAft>
                <a:spcPts val="0"/>
              </a:spcAft>
            </a:pPr>
            <a:r>
              <a:rPr sz="1600" b="1" i="0">
                <a:solidFill>
                  <a:srgbClr val="26A99A"/>
                </a:solidFill>
                <a:latin typeface="Aptos"/>
              </a:rPr>
              <a:t>›</a:t>
            </a:r>
          </a:p>
        </p:txBody>
      </p:sp>
      <p:sp>
        <p:nvSpPr>
          <p:cNvPr id="33" name="Rounded Rectangle 32"/>
          <p:cNvSpPr/>
          <p:nvPr/>
        </p:nvSpPr>
        <p:spPr>
          <a:xfrm>
            <a:off x="9560966" y="2057400"/>
            <a:ext cx="1914753" cy="1078992"/>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698126" y="2203704"/>
            <a:ext cx="274320" cy="274320"/>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98126" y="2212848"/>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5</a:t>
            </a:r>
          </a:p>
        </p:txBody>
      </p:sp>
      <p:sp>
        <p:nvSpPr>
          <p:cNvPr id="36" name="TextBox 35"/>
          <p:cNvSpPr txBox="1"/>
          <p:nvPr/>
        </p:nvSpPr>
        <p:spPr>
          <a:xfrm>
            <a:off x="10045598" y="2203704"/>
            <a:ext cx="1320393" cy="365760"/>
          </a:xfrm>
          <a:prstGeom prst="rect">
            <a:avLst/>
          </a:prstGeom>
          <a:noFill/>
        </p:spPr>
        <p:txBody>
          <a:bodyPr wrap="square" lIns="18288" rIns="18288" tIns="18288" bIns="18288" anchor="t">
            <a:spAutoFit/>
          </a:bodyPr>
          <a:lstStyle/>
          <a:p>
            <a:pPr algn="l">
              <a:spcAft>
                <a:spcPts val="0"/>
              </a:spcAft>
            </a:pPr>
            <a:r>
              <a:rPr sz="1200" b="1" i="0">
                <a:solidFill>
                  <a:srgbClr val="15364A"/>
                </a:solidFill>
                <a:latin typeface="Aptos"/>
              </a:rPr>
              <a:t>Manage practice</a:t>
            </a:r>
          </a:p>
        </p:txBody>
      </p:sp>
      <p:sp>
        <p:nvSpPr>
          <p:cNvPr id="37" name="TextBox 36"/>
          <p:cNvSpPr txBox="1"/>
          <p:nvPr/>
        </p:nvSpPr>
        <p:spPr>
          <a:xfrm>
            <a:off x="9725558" y="2633472"/>
            <a:ext cx="1594713"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Dashboard, profile
and availability</a:t>
            </a:r>
          </a:p>
        </p:txBody>
      </p:sp>
      <p:sp>
        <p:nvSpPr>
          <p:cNvPr id="38" name="Rounded Rectangle 37"/>
          <p:cNvSpPr/>
          <p:nvPr/>
        </p:nvSpPr>
        <p:spPr>
          <a:xfrm>
            <a:off x="713232" y="3813048"/>
            <a:ext cx="5257800" cy="1581912"/>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13232" y="3813048"/>
            <a:ext cx="64008" cy="1581912"/>
          </a:xfrm>
          <a:prstGeom prst="rect">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968496"/>
            <a:ext cx="4873752" cy="292608"/>
          </a:xfrm>
          <a:prstGeom prst="rect">
            <a:avLst/>
          </a:prstGeom>
          <a:noFill/>
        </p:spPr>
        <p:txBody>
          <a:bodyPr wrap="square" lIns="18288" rIns="18288" tIns="18288" bIns="18288" anchor="t">
            <a:spAutoFit/>
          </a:bodyPr>
          <a:lstStyle/>
          <a:p>
            <a:pPr algn="l">
              <a:spcAft>
                <a:spcPts val="0"/>
              </a:spcAft>
            </a:pPr>
            <a:r>
              <a:rPr sz="1400" b="1" i="0">
                <a:solidFill>
                  <a:srgbClr val="15364A"/>
                </a:solidFill>
                <a:latin typeface="Aptos"/>
              </a:rPr>
              <a:t>Doctor use cases</a:t>
            </a:r>
          </a:p>
        </p:txBody>
      </p:sp>
      <p:sp>
        <p:nvSpPr>
          <p:cNvPr id="41" name="TextBox 40"/>
          <p:cNvSpPr txBox="1"/>
          <p:nvPr/>
        </p:nvSpPr>
        <p:spPr>
          <a:xfrm>
            <a:off x="914400" y="4343400"/>
            <a:ext cx="4873752" cy="923544"/>
          </a:xfrm>
          <a:prstGeom prst="rect">
            <a:avLst/>
          </a:prstGeom>
          <a:noFill/>
        </p:spPr>
        <p:txBody>
          <a:bodyPr wrap="square" lIns="18288" rIns="18288" tIns="18288" bIns="18288" anchor="t">
            <a:spAutoFit/>
          </a:bodyPr>
          <a:lstStyle/>
          <a:p>
            <a:pPr algn="l">
              <a:spcAft>
                <a:spcPts val="0"/>
              </a:spcAft>
            </a:pPr>
            <a:r>
              <a:rPr sz="1100" b="0" i="0">
                <a:solidFill>
                  <a:srgbClr val="607889"/>
                </a:solidFill>
                <a:latin typeface="Aptos"/>
              </a:rPr>
              <a:t>Register • describe specialty and qualifications • submit council details and supporting documents • follow verification • understand joining-fee next steps • edit profile and working hours.</a:t>
            </a:r>
          </a:p>
        </p:txBody>
      </p:sp>
      <p:sp>
        <p:nvSpPr>
          <p:cNvPr id="42" name="Rounded Rectangle 41"/>
          <p:cNvSpPr/>
          <p:nvPr/>
        </p:nvSpPr>
        <p:spPr>
          <a:xfrm>
            <a:off x="6199632" y="3813048"/>
            <a:ext cx="5257800" cy="1581912"/>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99632" y="3813048"/>
            <a:ext cx="64008" cy="1581912"/>
          </a:xfrm>
          <a:prstGeom prst="rect">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0" y="3968496"/>
            <a:ext cx="4873752" cy="292608"/>
          </a:xfrm>
          <a:prstGeom prst="rect">
            <a:avLst/>
          </a:prstGeom>
          <a:noFill/>
        </p:spPr>
        <p:txBody>
          <a:bodyPr wrap="square" lIns="18288" rIns="18288" tIns="18288" bIns="18288" anchor="t">
            <a:spAutoFit/>
          </a:bodyPr>
          <a:lstStyle/>
          <a:p>
            <a:pPr algn="l">
              <a:spcAft>
                <a:spcPts val="0"/>
              </a:spcAft>
            </a:pPr>
            <a:r>
              <a:rPr sz="1400" b="1" i="0">
                <a:solidFill>
                  <a:srgbClr val="15364A"/>
                </a:solidFill>
                <a:latin typeface="Aptos"/>
              </a:rPr>
              <a:t>Onboarding principle</a:t>
            </a:r>
          </a:p>
        </p:txBody>
      </p:sp>
      <p:sp>
        <p:nvSpPr>
          <p:cNvPr id="45" name="TextBox 44"/>
          <p:cNvSpPr txBox="1"/>
          <p:nvPr/>
        </p:nvSpPr>
        <p:spPr>
          <a:xfrm>
            <a:off x="6400800" y="4343400"/>
            <a:ext cx="4873752" cy="923544"/>
          </a:xfrm>
          <a:prstGeom prst="rect">
            <a:avLst/>
          </a:prstGeom>
          <a:noFill/>
        </p:spPr>
        <p:txBody>
          <a:bodyPr wrap="square" lIns="18288" rIns="18288" tIns="18288" bIns="18288" anchor="t">
            <a:spAutoFit/>
          </a:bodyPr>
          <a:lstStyle/>
          <a:p>
            <a:pPr algn="l">
              <a:spcAft>
                <a:spcPts val="0"/>
              </a:spcAft>
            </a:pPr>
            <a:r>
              <a:rPr sz="1100" b="0" i="0">
                <a:solidFill>
                  <a:srgbClr val="607889"/>
                </a:solidFill>
                <a:latin typeface="Aptos"/>
              </a:rPr>
              <a:t>Show step count, save/continue and back actions; explain document requirements and verification timing; never imply a profile is approved until the review outcome is confirmed.</a:t>
            </a:r>
          </a:p>
        </p:txBody>
      </p:sp>
      <p:cxnSp>
        <p:nvCxnSpPr>
          <p:cNvPr id="46" name="Connector 45"/>
          <p:cNvCxnSpPr/>
          <p:nvPr/>
        </p:nvCxnSpPr>
        <p:spPr>
          <a:xfrm>
            <a:off x="502920" y="6510528"/>
            <a:ext cx="11183112" cy="0"/>
          </a:xfrm>
          <a:prstGeom prst="line">
            <a:avLst/>
          </a:prstGeom>
          <a:ln w="8890">
            <a:solidFill>
              <a:srgbClr val="DCE7ED"/>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48640" y="6574536"/>
            <a:ext cx="6858000" cy="164592"/>
          </a:xfrm>
          <a:prstGeom prst="rect">
            <a:avLst/>
          </a:prstGeom>
          <a:noFill/>
        </p:spPr>
        <p:txBody>
          <a:bodyPr wrap="square" lIns="18288" rIns="18288" tIns="18288" bIns="18288" anchor="t">
            <a:spAutoFit/>
          </a:bodyPr>
          <a:lstStyle/>
          <a:p>
            <a:pPr algn="l">
              <a:spcAft>
                <a:spcPts val="0"/>
              </a:spcAft>
            </a:pPr>
            <a:r>
              <a:rPr sz="800" b="1" i="0">
                <a:solidFill>
                  <a:srgbClr val="607889"/>
                </a:solidFill>
                <a:latin typeface="Aptos"/>
              </a:rPr>
              <a:t>HEALTHCARE CONNECT  /  UI PLAN  •  WORKING DRAFT</a:t>
            </a:r>
          </a:p>
        </p:txBody>
      </p:sp>
      <p:sp>
        <p:nvSpPr>
          <p:cNvPr id="48" name="TextBox 47"/>
          <p:cNvSpPr txBox="1"/>
          <p:nvPr/>
        </p:nvSpPr>
        <p:spPr>
          <a:xfrm>
            <a:off x="10972800" y="6565392"/>
            <a:ext cx="594360" cy="182880"/>
          </a:xfrm>
          <a:prstGeom prst="rect">
            <a:avLst/>
          </a:prstGeom>
          <a:noFill/>
        </p:spPr>
        <p:txBody>
          <a:bodyPr wrap="square" lIns="18288" rIns="18288" tIns="18288" bIns="18288" anchor="t">
            <a:spAutoFit/>
          </a:bodyPr>
          <a:lstStyle/>
          <a:p>
            <a:pPr algn="r">
              <a:spcAft>
                <a:spcPts val="0"/>
              </a:spcAft>
            </a:pPr>
            <a:r>
              <a:rPr sz="900" b="1" i="0">
                <a:solidFill>
                  <a:srgbClr val="607889"/>
                </a:solidFill>
                <a:latin typeface="Apto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594360" y="384048"/>
            <a:ext cx="4114800" cy="201168"/>
          </a:xfrm>
          <a:prstGeom prst="rect">
            <a:avLst/>
          </a:prstGeom>
          <a:noFill/>
        </p:spPr>
        <p:txBody>
          <a:bodyPr wrap="square" lIns="18288" rIns="18288" tIns="18288" bIns="18288" anchor="t">
            <a:spAutoFit/>
          </a:bodyPr>
          <a:lstStyle/>
          <a:p>
            <a:pPr algn="l">
              <a:spcAft>
                <a:spcPts val="0"/>
              </a:spcAft>
            </a:pPr>
            <a:r>
              <a:rPr sz="900" b="1" i="0">
                <a:solidFill>
                  <a:srgbClr val="26A99A"/>
                </a:solidFill>
                <a:latin typeface="Aptos"/>
              </a:rPr>
              <a:t>05 / AUTHENTICATION</a:t>
            </a:r>
          </a:p>
        </p:txBody>
      </p:sp>
      <p:sp>
        <p:nvSpPr>
          <p:cNvPr id="3" name="TextBox 2"/>
          <p:cNvSpPr txBox="1"/>
          <p:nvPr/>
        </p:nvSpPr>
        <p:spPr>
          <a:xfrm>
            <a:off x="594360" y="658368"/>
            <a:ext cx="10972800" cy="475488"/>
          </a:xfrm>
          <a:prstGeom prst="rect">
            <a:avLst/>
          </a:prstGeom>
          <a:noFill/>
        </p:spPr>
        <p:txBody>
          <a:bodyPr wrap="square" lIns="18288" rIns="18288" tIns="18288" bIns="18288" anchor="t">
            <a:spAutoFit/>
          </a:bodyPr>
          <a:lstStyle/>
          <a:p>
            <a:pPr algn="l">
              <a:spcAft>
                <a:spcPts val="0"/>
              </a:spcAft>
            </a:pPr>
            <a:r>
              <a:rPr sz="2700" b="1" i="0">
                <a:solidFill>
                  <a:srgbClr val="15364A"/>
                </a:solidFill>
                <a:latin typeface="Aptos"/>
              </a:rPr>
              <a:t>A shared sign-in foundation for both account types</a:t>
            </a:r>
          </a:p>
        </p:txBody>
      </p:sp>
      <p:sp>
        <p:nvSpPr>
          <p:cNvPr id="4" name="TextBox 3"/>
          <p:cNvSpPr txBox="1"/>
          <p:nvPr/>
        </p:nvSpPr>
        <p:spPr>
          <a:xfrm>
            <a:off x="612648" y="1207008"/>
            <a:ext cx="10789920" cy="365760"/>
          </a:xfrm>
          <a:prstGeom prst="rect">
            <a:avLst/>
          </a:prstGeom>
          <a:noFill/>
        </p:spPr>
        <p:txBody>
          <a:bodyPr wrap="square" lIns="18288" rIns="18288" tIns="18288" bIns="18288" anchor="t">
            <a:spAutoFit/>
          </a:bodyPr>
          <a:lstStyle/>
          <a:p>
            <a:pPr algn="l">
              <a:spcAft>
                <a:spcPts val="0"/>
              </a:spcAft>
            </a:pPr>
            <a:r>
              <a:rPr sz="1250" b="0" i="0">
                <a:solidFill>
                  <a:srgbClr val="607889"/>
                </a:solidFill>
                <a:latin typeface="Aptos"/>
              </a:rPr>
              <a:t>Patient and doctor entry points can share form patterns while keeping role, access and next destination explicit.</a:t>
            </a:r>
          </a:p>
        </p:txBody>
      </p:sp>
      <p:sp>
        <p:nvSpPr>
          <p:cNvPr id="5" name="Rounded Rectangle 4"/>
          <p:cNvSpPr/>
          <p:nvPr/>
        </p:nvSpPr>
        <p:spPr>
          <a:xfrm>
            <a:off x="731520" y="2057400"/>
            <a:ext cx="2466594" cy="114300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203704"/>
            <a:ext cx="274320" cy="274320"/>
          </a:xfrm>
          <a:prstGeom prst="ellipse">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212848"/>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1</a:t>
            </a:r>
          </a:p>
        </p:txBody>
      </p:sp>
      <p:sp>
        <p:nvSpPr>
          <p:cNvPr id="8" name="TextBox 7"/>
          <p:cNvSpPr txBox="1"/>
          <p:nvPr/>
        </p:nvSpPr>
        <p:spPr>
          <a:xfrm>
            <a:off x="1216152" y="2203704"/>
            <a:ext cx="1872234" cy="365760"/>
          </a:xfrm>
          <a:prstGeom prst="rect">
            <a:avLst/>
          </a:prstGeom>
          <a:noFill/>
        </p:spPr>
        <p:txBody>
          <a:bodyPr wrap="square" lIns="18288" rIns="18288" tIns="18288" bIns="18288" anchor="t">
            <a:spAutoFit/>
          </a:bodyPr>
          <a:lstStyle/>
          <a:p>
            <a:pPr algn="l">
              <a:spcAft>
                <a:spcPts val="0"/>
              </a:spcAft>
            </a:pPr>
            <a:r>
              <a:rPr sz="1200" b="1" i="0">
                <a:solidFill>
                  <a:srgbClr val="15364A"/>
                </a:solidFill>
                <a:latin typeface="Aptos"/>
              </a:rPr>
              <a:t>Choose role</a:t>
            </a:r>
          </a:p>
        </p:txBody>
      </p:sp>
      <p:sp>
        <p:nvSpPr>
          <p:cNvPr id="9" name="TextBox 8"/>
          <p:cNvSpPr txBox="1"/>
          <p:nvPr/>
        </p:nvSpPr>
        <p:spPr>
          <a:xfrm>
            <a:off x="896112" y="2633472"/>
            <a:ext cx="2146553"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Patient or Doctor;
public browsing stays open</a:t>
            </a:r>
          </a:p>
        </p:txBody>
      </p:sp>
      <p:cxnSp>
        <p:nvCxnSpPr>
          <p:cNvPr id="10" name="Connector 9"/>
          <p:cNvCxnSpPr/>
          <p:nvPr/>
        </p:nvCxnSpPr>
        <p:spPr>
          <a:xfrm>
            <a:off x="3234689" y="2628900"/>
            <a:ext cx="219456" cy="0"/>
          </a:xfrm>
          <a:prstGeom prst="line">
            <a:avLst/>
          </a:prstGeom>
          <a:ln w="17780">
            <a:solidFill>
              <a:srgbClr val="26A99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362705" y="2500884"/>
            <a:ext cx="182880" cy="256032"/>
          </a:xfrm>
          <a:prstGeom prst="rect">
            <a:avLst/>
          </a:prstGeom>
          <a:noFill/>
        </p:spPr>
        <p:txBody>
          <a:bodyPr wrap="square" lIns="18288" rIns="18288" tIns="18288" bIns="18288" anchor="t">
            <a:spAutoFit/>
          </a:bodyPr>
          <a:lstStyle/>
          <a:p>
            <a:pPr algn="ctr">
              <a:spcAft>
                <a:spcPts val="0"/>
              </a:spcAft>
            </a:pPr>
            <a:r>
              <a:rPr sz="1600" b="1" i="0">
                <a:solidFill>
                  <a:srgbClr val="26A99A"/>
                </a:solidFill>
                <a:latin typeface="Aptos"/>
              </a:rPr>
              <a:t>›</a:t>
            </a:r>
          </a:p>
        </p:txBody>
      </p:sp>
      <p:sp>
        <p:nvSpPr>
          <p:cNvPr id="12" name="Rounded Rectangle 11"/>
          <p:cNvSpPr/>
          <p:nvPr/>
        </p:nvSpPr>
        <p:spPr>
          <a:xfrm>
            <a:off x="3490722" y="2057400"/>
            <a:ext cx="2466594" cy="114300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27882" y="2203704"/>
            <a:ext cx="274320" cy="274320"/>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27882" y="2212848"/>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2</a:t>
            </a:r>
          </a:p>
        </p:txBody>
      </p:sp>
      <p:sp>
        <p:nvSpPr>
          <p:cNvPr id="15" name="TextBox 14"/>
          <p:cNvSpPr txBox="1"/>
          <p:nvPr/>
        </p:nvSpPr>
        <p:spPr>
          <a:xfrm>
            <a:off x="3975354" y="2203704"/>
            <a:ext cx="1872234" cy="365760"/>
          </a:xfrm>
          <a:prstGeom prst="rect">
            <a:avLst/>
          </a:prstGeom>
          <a:noFill/>
        </p:spPr>
        <p:txBody>
          <a:bodyPr wrap="square" lIns="18288" rIns="18288" tIns="18288" bIns="18288" anchor="t">
            <a:spAutoFit/>
          </a:bodyPr>
          <a:lstStyle/>
          <a:p>
            <a:pPr algn="l">
              <a:spcAft>
                <a:spcPts val="0"/>
              </a:spcAft>
            </a:pPr>
            <a:r>
              <a:rPr sz="1200" b="1" i="0">
                <a:solidFill>
                  <a:srgbClr val="15364A"/>
                </a:solidFill>
                <a:latin typeface="Aptos"/>
              </a:rPr>
              <a:t>Sign up / sign in</a:t>
            </a:r>
          </a:p>
        </p:txBody>
      </p:sp>
      <p:sp>
        <p:nvSpPr>
          <p:cNvPr id="16" name="TextBox 15"/>
          <p:cNvSpPr txBox="1"/>
          <p:nvPr/>
        </p:nvSpPr>
        <p:spPr>
          <a:xfrm>
            <a:off x="3655314" y="2633472"/>
            <a:ext cx="2146553"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Credentials, consent
and field feedback</a:t>
            </a:r>
          </a:p>
        </p:txBody>
      </p:sp>
      <p:cxnSp>
        <p:nvCxnSpPr>
          <p:cNvPr id="17" name="Connector 16"/>
          <p:cNvCxnSpPr/>
          <p:nvPr/>
        </p:nvCxnSpPr>
        <p:spPr>
          <a:xfrm>
            <a:off x="5993892" y="2628900"/>
            <a:ext cx="219456" cy="0"/>
          </a:xfrm>
          <a:prstGeom prst="line">
            <a:avLst/>
          </a:prstGeom>
          <a:ln w="17780">
            <a:solidFill>
              <a:srgbClr val="26A99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121908" y="2500884"/>
            <a:ext cx="182880" cy="256032"/>
          </a:xfrm>
          <a:prstGeom prst="rect">
            <a:avLst/>
          </a:prstGeom>
          <a:noFill/>
        </p:spPr>
        <p:txBody>
          <a:bodyPr wrap="square" lIns="18288" rIns="18288" tIns="18288" bIns="18288" anchor="t">
            <a:spAutoFit/>
          </a:bodyPr>
          <a:lstStyle/>
          <a:p>
            <a:pPr algn="ctr">
              <a:spcAft>
                <a:spcPts val="0"/>
              </a:spcAft>
            </a:pPr>
            <a:r>
              <a:rPr sz="1600" b="1" i="0">
                <a:solidFill>
                  <a:srgbClr val="26A99A"/>
                </a:solidFill>
                <a:latin typeface="Aptos"/>
              </a:rPr>
              <a:t>›</a:t>
            </a:r>
          </a:p>
        </p:txBody>
      </p:sp>
      <p:sp>
        <p:nvSpPr>
          <p:cNvPr id="19" name="Rounded Rectangle 18"/>
          <p:cNvSpPr/>
          <p:nvPr/>
        </p:nvSpPr>
        <p:spPr>
          <a:xfrm>
            <a:off x="6249923" y="2057400"/>
            <a:ext cx="2466594" cy="114300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87083" y="2203704"/>
            <a:ext cx="274320" cy="274320"/>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7083" y="2212848"/>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3</a:t>
            </a:r>
          </a:p>
        </p:txBody>
      </p:sp>
      <p:sp>
        <p:nvSpPr>
          <p:cNvPr id="22" name="TextBox 21"/>
          <p:cNvSpPr txBox="1"/>
          <p:nvPr/>
        </p:nvSpPr>
        <p:spPr>
          <a:xfrm>
            <a:off x="6734555" y="2203704"/>
            <a:ext cx="1872234" cy="365760"/>
          </a:xfrm>
          <a:prstGeom prst="rect">
            <a:avLst/>
          </a:prstGeom>
          <a:noFill/>
        </p:spPr>
        <p:txBody>
          <a:bodyPr wrap="square" lIns="18288" rIns="18288" tIns="18288" bIns="18288" anchor="t">
            <a:spAutoFit/>
          </a:bodyPr>
          <a:lstStyle/>
          <a:p>
            <a:pPr algn="l">
              <a:spcAft>
                <a:spcPts val="0"/>
              </a:spcAft>
            </a:pPr>
            <a:r>
              <a:rPr sz="1200" b="1" i="0">
                <a:solidFill>
                  <a:srgbClr val="15364A"/>
                </a:solidFill>
                <a:latin typeface="Aptos"/>
              </a:rPr>
              <a:t>Verify email</a:t>
            </a:r>
          </a:p>
        </p:txBody>
      </p:sp>
      <p:sp>
        <p:nvSpPr>
          <p:cNvPr id="23" name="TextBox 22"/>
          <p:cNvSpPr txBox="1"/>
          <p:nvPr/>
        </p:nvSpPr>
        <p:spPr>
          <a:xfrm>
            <a:off x="6414515" y="2633472"/>
            <a:ext cx="2146553"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Six-digit code;
resend + error state</a:t>
            </a:r>
          </a:p>
        </p:txBody>
      </p:sp>
      <p:cxnSp>
        <p:nvCxnSpPr>
          <p:cNvPr id="24" name="Connector 23"/>
          <p:cNvCxnSpPr/>
          <p:nvPr/>
        </p:nvCxnSpPr>
        <p:spPr>
          <a:xfrm>
            <a:off x="8753093" y="2628900"/>
            <a:ext cx="219457" cy="0"/>
          </a:xfrm>
          <a:prstGeom prst="line">
            <a:avLst/>
          </a:prstGeom>
          <a:ln w="17780">
            <a:solidFill>
              <a:srgbClr val="26A99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881110" y="2500884"/>
            <a:ext cx="182880" cy="256032"/>
          </a:xfrm>
          <a:prstGeom prst="rect">
            <a:avLst/>
          </a:prstGeom>
          <a:noFill/>
        </p:spPr>
        <p:txBody>
          <a:bodyPr wrap="square" lIns="18288" rIns="18288" tIns="18288" bIns="18288" anchor="t">
            <a:spAutoFit/>
          </a:bodyPr>
          <a:lstStyle/>
          <a:p>
            <a:pPr algn="ctr">
              <a:spcAft>
                <a:spcPts val="0"/>
              </a:spcAft>
            </a:pPr>
            <a:r>
              <a:rPr sz="1600" b="1" i="0">
                <a:solidFill>
                  <a:srgbClr val="26A99A"/>
                </a:solidFill>
                <a:latin typeface="Aptos"/>
              </a:rPr>
              <a:t>›</a:t>
            </a:r>
          </a:p>
        </p:txBody>
      </p:sp>
      <p:sp>
        <p:nvSpPr>
          <p:cNvPr id="26" name="Rounded Rectangle 25"/>
          <p:cNvSpPr/>
          <p:nvPr/>
        </p:nvSpPr>
        <p:spPr>
          <a:xfrm>
            <a:off x="9009126" y="2057400"/>
            <a:ext cx="2466594" cy="114300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46286" y="2203704"/>
            <a:ext cx="274320" cy="274320"/>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6286" y="2212848"/>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4</a:t>
            </a:r>
          </a:p>
        </p:txBody>
      </p:sp>
      <p:sp>
        <p:nvSpPr>
          <p:cNvPr id="29" name="TextBox 28"/>
          <p:cNvSpPr txBox="1"/>
          <p:nvPr/>
        </p:nvSpPr>
        <p:spPr>
          <a:xfrm>
            <a:off x="9493757" y="2203704"/>
            <a:ext cx="1872234" cy="365760"/>
          </a:xfrm>
          <a:prstGeom prst="rect">
            <a:avLst/>
          </a:prstGeom>
          <a:noFill/>
        </p:spPr>
        <p:txBody>
          <a:bodyPr wrap="square" lIns="18288" rIns="18288" tIns="18288" bIns="18288" anchor="t">
            <a:spAutoFit/>
          </a:bodyPr>
          <a:lstStyle/>
          <a:p>
            <a:pPr algn="l">
              <a:spcAft>
                <a:spcPts val="0"/>
              </a:spcAft>
            </a:pPr>
            <a:r>
              <a:rPr sz="1200" b="1" i="0">
                <a:solidFill>
                  <a:srgbClr val="15364A"/>
                </a:solidFill>
                <a:latin typeface="Aptos"/>
              </a:rPr>
              <a:t>Continue to role area</a:t>
            </a:r>
          </a:p>
        </p:txBody>
      </p:sp>
      <p:sp>
        <p:nvSpPr>
          <p:cNvPr id="30" name="TextBox 29"/>
          <p:cNvSpPr txBox="1"/>
          <p:nvPr/>
        </p:nvSpPr>
        <p:spPr>
          <a:xfrm>
            <a:off x="9173717" y="2633472"/>
            <a:ext cx="2146553"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Patient: appointments
Doctor: onboarding</a:t>
            </a:r>
          </a:p>
        </p:txBody>
      </p:sp>
      <p:sp>
        <p:nvSpPr>
          <p:cNvPr id="31" name="Rounded Rectangle 30"/>
          <p:cNvSpPr/>
          <p:nvPr/>
        </p:nvSpPr>
        <p:spPr>
          <a:xfrm>
            <a:off x="749808" y="3886200"/>
            <a:ext cx="5212080" cy="141732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9808" y="3886200"/>
            <a:ext cx="64008" cy="1417320"/>
          </a:xfrm>
          <a:prstGeom prst="rect">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0976" y="4041648"/>
            <a:ext cx="4828032" cy="292608"/>
          </a:xfrm>
          <a:prstGeom prst="rect">
            <a:avLst/>
          </a:prstGeom>
          <a:noFill/>
        </p:spPr>
        <p:txBody>
          <a:bodyPr wrap="square" lIns="18288" rIns="18288" tIns="18288" bIns="18288" anchor="t">
            <a:spAutoFit/>
          </a:bodyPr>
          <a:lstStyle/>
          <a:p>
            <a:pPr algn="l">
              <a:spcAft>
                <a:spcPts val="0"/>
              </a:spcAft>
            </a:pPr>
            <a:r>
              <a:rPr sz="1400" b="1" i="0">
                <a:solidFill>
                  <a:srgbClr val="15364A"/>
                </a:solidFill>
                <a:latin typeface="Aptos"/>
              </a:rPr>
              <a:t>Account recovery</a:t>
            </a:r>
          </a:p>
        </p:txBody>
      </p:sp>
      <p:sp>
        <p:nvSpPr>
          <p:cNvPr id="34" name="TextBox 33"/>
          <p:cNvSpPr txBox="1"/>
          <p:nvPr/>
        </p:nvSpPr>
        <p:spPr>
          <a:xfrm>
            <a:off x="950976" y="4416552"/>
            <a:ext cx="4828032" cy="758952"/>
          </a:xfrm>
          <a:prstGeom prst="rect">
            <a:avLst/>
          </a:prstGeom>
          <a:noFill/>
        </p:spPr>
        <p:txBody>
          <a:bodyPr wrap="square" lIns="18288" rIns="18288" tIns="18288" bIns="18288" anchor="t">
            <a:spAutoFit/>
          </a:bodyPr>
          <a:lstStyle/>
          <a:p>
            <a:pPr algn="l">
              <a:spcAft>
                <a:spcPts val="0"/>
              </a:spcAft>
            </a:pPr>
            <a:r>
              <a:rPr sz="1150" b="0" i="0">
                <a:solidFill>
                  <a:srgbClr val="607889"/>
                </a:solidFill>
                <a:latin typeface="Aptos"/>
              </a:rPr>
              <a:t>Forgot password → enter email → neutral confirmation → return to sign-in. Avoid disclosing whether an email is registered.</a:t>
            </a:r>
          </a:p>
        </p:txBody>
      </p:sp>
      <p:sp>
        <p:nvSpPr>
          <p:cNvPr id="35" name="Rounded Rectangle 34"/>
          <p:cNvSpPr/>
          <p:nvPr/>
        </p:nvSpPr>
        <p:spPr>
          <a:xfrm>
            <a:off x="6217920" y="3886200"/>
            <a:ext cx="5212080" cy="141732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7920" y="3886200"/>
            <a:ext cx="64008" cy="1417320"/>
          </a:xfrm>
          <a:prstGeom prst="rect">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041648"/>
            <a:ext cx="4828032" cy="292608"/>
          </a:xfrm>
          <a:prstGeom prst="rect">
            <a:avLst/>
          </a:prstGeom>
          <a:noFill/>
        </p:spPr>
        <p:txBody>
          <a:bodyPr wrap="square" lIns="18288" rIns="18288" tIns="18288" bIns="18288" anchor="t">
            <a:spAutoFit/>
          </a:bodyPr>
          <a:lstStyle/>
          <a:p>
            <a:pPr algn="l">
              <a:spcAft>
                <a:spcPts val="0"/>
              </a:spcAft>
            </a:pPr>
            <a:r>
              <a:rPr sz="1400" b="1" i="0">
                <a:solidFill>
                  <a:srgbClr val="15364A"/>
                </a:solidFill>
                <a:latin typeface="Aptos"/>
              </a:rPr>
              <a:t>Role-aware access</a:t>
            </a:r>
          </a:p>
        </p:txBody>
      </p:sp>
      <p:sp>
        <p:nvSpPr>
          <p:cNvPr id="38" name="TextBox 37"/>
          <p:cNvSpPr txBox="1"/>
          <p:nvPr/>
        </p:nvSpPr>
        <p:spPr>
          <a:xfrm>
            <a:off x="6419088" y="4416552"/>
            <a:ext cx="4828032" cy="758952"/>
          </a:xfrm>
          <a:prstGeom prst="rect">
            <a:avLst/>
          </a:prstGeom>
          <a:noFill/>
        </p:spPr>
        <p:txBody>
          <a:bodyPr wrap="square" lIns="18288" rIns="18288" tIns="18288" bIns="18288" anchor="t">
            <a:spAutoFit/>
          </a:bodyPr>
          <a:lstStyle/>
          <a:p>
            <a:pPr algn="l">
              <a:spcAft>
                <a:spcPts val="0"/>
              </a:spcAft>
            </a:pPr>
            <a:r>
              <a:rPr sz="1150" b="0" i="0">
                <a:solidFill>
                  <a:srgbClr val="607889"/>
                </a:solidFill>
                <a:latin typeface="Aptos"/>
              </a:rPr>
              <a:t>Direct links to protected booking or doctor pages retain the intended destination after sign-in. Sign-out returns to public browsing.</a:t>
            </a:r>
          </a:p>
        </p:txBody>
      </p:sp>
      <p:sp>
        <p:nvSpPr>
          <p:cNvPr id="39" name="TextBox 38"/>
          <p:cNvSpPr txBox="1"/>
          <p:nvPr/>
        </p:nvSpPr>
        <p:spPr>
          <a:xfrm>
            <a:off x="777240" y="5577840"/>
            <a:ext cx="10241280" cy="292608"/>
          </a:xfrm>
          <a:prstGeom prst="rect">
            <a:avLst/>
          </a:prstGeom>
          <a:noFill/>
        </p:spPr>
        <p:txBody>
          <a:bodyPr wrap="square" lIns="18288" rIns="18288" tIns="18288" bIns="18288" anchor="t">
            <a:spAutoFit/>
          </a:bodyPr>
          <a:lstStyle/>
          <a:p>
            <a:pPr algn="l">
              <a:spcAft>
                <a:spcPts val="0"/>
              </a:spcAft>
            </a:pPr>
            <a:r>
              <a:rPr sz="1000" b="0" i="1">
                <a:solidFill>
                  <a:srgbClr val="607889"/>
                </a:solidFill>
                <a:latin typeface="Aptos"/>
              </a:rPr>
              <a:t>Prototype note: current auth is a demo; production identity, OTP delivery, password reset and session security require backend services.</a:t>
            </a:r>
          </a:p>
        </p:txBody>
      </p:sp>
      <p:cxnSp>
        <p:nvCxnSpPr>
          <p:cNvPr id="40" name="Connector 39"/>
          <p:cNvCxnSpPr/>
          <p:nvPr/>
        </p:nvCxnSpPr>
        <p:spPr>
          <a:xfrm>
            <a:off x="502920" y="6510528"/>
            <a:ext cx="11183112" cy="0"/>
          </a:xfrm>
          <a:prstGeom prst="line">
            <a:avLst/>
          </a:prstGeom>
          <a:ln w="8890">
            <a:solidFill>
              <a:srgbClr val="DCE7ED"/>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48640" y="6574536"/>
            <a:ext cx="6858000" cy="164592"/>
          </a:xfrm>
          <a:prstGeom prst="rect">
            <a:avLst/>
          </a:prstGeom>
          <a:noFill/>
        </p:spPr>
        <p:txBody>
          <a:bodyPr wrap="square" lIns="18288" rIns="18288" tIns="18288" bIns="18288" anchor="t">
            <a:spAutoFit/>
          </a:bodyPr>
          <a:lstStyle/>
          <a:p>
            <a:pPr algn="l">
              <a:spcAft>
                <a:spcPts val="0"/>
              </a:spcAft>
            </a:pPr>
            <a:r>
              <a:rPr sz="800" b="1" i="0">
                <a:solidFill>
                  <a:srgbClr val="607889"/>
                </a:solidFill>
                <a:latin typeface="Aptos"/>
              </a:rPr>
              <a:t>HEALTHCARE CONNECT  /  UI PLAN  •  WORKING DRAFT</a:t>
            </a:r>
          </a:p>
        </p:txBody>
      </p:sp>
      <p:sp>
        <p:nvSpPr>
          <p:cNvPr id="42" name="TextBox 41"/>
          <p:cNvSpPr txBox="1"/>
          <p:nvPr/>
        </p:nvSpPr>
        <p:spPr>
          <a:xfrm>
            <a:off x="10972800" y="6565392"/>
            <a:ext cx="594360" cy="182880"/>
          </a:xfrm>
          <a:prstGeom prst="rect">
            <a:avLst/>
          </a:prstGeom>
          <a:noFill/>
        </p:spPr>
        <p:txBody>
          <a:bodyPr wrap="square" lIns="18288" rIns="18288" tIns="18288" bIns="18288" anchor="t">
            <a:spAutoFit/>
          </a:bodyPr>
          <a:lstStyle/>
          <a:p>
            <a:pPr algn="r">
              <a:spcAft>
                <a:spcPts val="0"/>
              </a:spcAft>
            </a:pPr>
            <a:r>
              <a:rPr sz="900" b="1" i="0">
                <a:solidFill>
                  <a:srgbClr val="607889"/>
                </a:solidFill>
                <a:latin typeface="Apto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594360" y="384048"/>
            <a:ext cx="4114800" cy="201168"/>
          </a:xfrm>
          <a:prstGeom prst="rect">
            <a:avLst/>
          </a:prstGeom>
          <a:noFill/>
        </p:spPr>
        <p:txBody>
          <a:bodyPr wrap="square" lIns="18288" rIns="18288" tIns="18288" bIns="18288" anchor="t">
            <a:spAutoFit/>
          </a:bodyPr>
          <a:lstStyle/>
          <a:p>
            <a:pPr algn="l">
              <a:spcAft>
                <a:spcPts val="0"/>
              </a:spcAft>
            </a:pPr>
            <a:r>
              <a:rPr sz="900" b="1" i="0">
                <a:solidFill>
                  <a:srgbClr val="26A99A"/>
                </a:solidFill>
                <a:latin typeface="Aptos"/>
              </a:rPr>
              <a:t>06 / BOOKING</a:t>
            </a:r>
          </a:p>
        </p:txBody>
      </p:sp>
      <p:sp>
        <p:nvSpPr>
          <p:cNvPr id="3" name="TextBox 2"/>
          <p:cNvSpPr txBox="1"/>
          <p:nvPr/>
        </p:nvSpPr>
        <p:spPr>
          <a:xfrm>
            <a:off x="594360" y="658368"/>
            <a:ext cx="10972800" cy="475488"/>
          </a:xfrm>
          <a:prstGeom prst="rect">
            <a:avLst/>
          </a:prstGeom>
          <a:noFill/>
        </p:spPr>
        <p:txBody>
          <a:bodyPr wrap="square" lIns="18288" rIns="18288" tIns="18288" bIns="18288" anchor="t">
            <a:spAutoFit/>
          </a:bodyPr>
          <a:lstStyle/>
          <a:p>
            <a:pPr algn="l">
              <a:spcAft>
                <a:spcPts val="0"/>
              </a:spcAft>
            </a:pPr>
            <a:r>
              <a:rPr sz="2700" b="1" i="0">
                <a:solidFill>
                  <a:srgbClr val="15364A"/>
                </a:solidFill>
                <a:latin typeface="Aptos"/>
              </a:rPr>
              <a:t>One guided booking flow, three ways to meet</a:t>
            </a:r>
          </a:p>
        </p:txBody>
      </p:sp>
      <p:sp>
        <p:nvSpPr>
          <p:cNvPr id="4" name="TextBox 3"/>
          <p:cNvSpPr txBox="1"/>
          <p:nvPr/>
        </p:nvSpPr>
        <p:spPr>
          <a:xfrm>
            <a:off x="612648" y="1207008"/>
            <a:ext cx="10789920" cy="365760"/>
          </a:xfrm>
          <a:prstGeom prst="rect">
            <a:avLst/>
          </a:prstGeom>
          <a:noFill/>
        </p:spPr>
        <p:txBody>
          <a:bodyPr wrap="square" lIns="18288" rIns="18288" tIns="18288" bIns="18288" anchor="t">
            <a:spAutoFit/>
          </a:bodyPr>
          <a:lstStyle/>
          <a:p>
            <a:pPr algn="l">
              <a:spcAft>
                <a:spcPts val="0"/>
              </a:spcAft>
            </a:pPr>
            <a:r>
              <a:rPr sz="1250" b="0" i="0">
                <a:solidFill>
                  <a:srgbClr val="607889"/>
                </a:solidFill>
                <a:latin typeface="Aptos"/>
              </a:rPr>
              <a:t>Booking is a multi-step journey. Appointment type is chosen first; the remaining steps adapt to the selected service.</a:t>
            </a:r>
          </a:p>
        </p:txBody>
      </p:sp>
      <p:sp>
        <p:nvSpPr>
          <p:cNvPr id="5" name="Rounded Rectangle 4"/>
          <p:cNvSpPr/>
          <p:nvPr/>
        </p:nvSpPr>
        <p:spPr>
          <a:xfrm>
            <a:off x="685800" y="1856231"/>
            <a:ext cx="3447288" cy="150876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856231"/>
            <a:ext cx="64008" cy="1508760"/>
          </a:xfrm>
          <a:prstGeom prst="rect">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011679"/>
            <a:ext cx="3063240" cy="292608"/>
          </a:xfrm>
          <a:prstGeom prst="rect">
            <a:avLst/>
          </a:prstGeom>
          <a:noFill/>
        </p:spPr>
        <p:txBody>
          <a:bodyPr wrap="square" lIns="18288" rIns="18288" tIns="18288" bIns="18288" anchor="t">
            <a:spAutoFit/>
          </a:bodyPr>
          <a:lstStyle/>
          <a:p>
            <a:pPr algn="l">
              <a:spcAft>
                <a:spcPts val="0"/>
              </a:spcAft>
            </a:pPr>
            <a:r>
              <a:rPr sz="1500" b="1" i="0">
                <a:solidFill>
                  <a:srgbClr val="15364A"/>
                </a:solidFill>
                <a:latin typeface="Aptos"/>
              </a:rPr>
              <a:t>Phone</a:t>
            </a:r>
          </a:p>
        </p:txBody>
      </p:sp>
      <p:sp>
        <p:nvSpPr>
          <p:cNvPr id="8" name="TextBox 7"/>
          <p:cNvSpPr txBox="1"/>
          <p:nvPr/>
        </p:nvSpPr>
        <p:spPr>
          <a:xfrm>
            <a:off x="886968" y="2386584"/>
            <a:ext cx="3063240" cy="850392"/>
          </a:xfrm>
          <a:prstGeom prst="rect">
            <a:avLst/>
          </a:prstGeom>
          <a:noFill/>
        </p:spPr>
        <p:txBody>
          <a:bodyPr wrap="square" lIns="18288" rIns="18288" tIns="18288" bIns="18288" anchor="t">
            <a:spAutoFit/>
          </a:bodyPr>
          <a:lstStyle/>
          <a:p>
            <a:pPr algn="l">
              <a:spcAft>
                <a:spcPts val="0"/>
              </a:spcAft>
            </a:pPr>
            <a:r>
              <a:rPr sz="1050" b="0" i="0">
                <a:solidFill>
                  <a:srgbClr val="607889"/>
                </a:solidFill>
                <a:latin typeface="Aptos"/>
              </a:rPr>
              <a:t>Remote consultation
Confirm the contact number
Join/call instructions to confirm</a:t>
            </a:r>
          </a:p>
        </p:txBody>
      </p:sp>
      <p:sp>
        <p:nvSpPr>
          <p:cNvPr id="9" name="Rounded Rectangle 8"/>
          <p:cNvSpPr/>
          <p:nvPr/>
        </p:nvSpPr>
        <p:spPr>
          <a:xfrm>
            <a:off x="4389120" y="1856231"/>
            <a:ext cx="3447288" cy="150876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856231"/>
            <a:ext cx="64008" cy="1508760"/>
          </a:xfrm>
          <a:prstGeom prst="rect">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011679"/>
            <a:ext cx="3063240" cy="292608"/>
          </a:xfrm>
          <a:prstGeom prst="rect">
            <a:avLst/>
          </a:prstGeom>
          <a:noFill/>
        </p:spPr>
        <p:txBody>
          <a:bodyPr wrap="square" lIns="18288" rIns="18288" tIns="18288" bIns="18288" anchor="t">
            <a:spAutoFit/>
          </a:bodyPr>
          <a:lstStyle/>
          <a:p>
            <a:pPr algn="l">
              <a:spcAft>
                <a:spcPts val="0"/>
              </a:spcAft>
            </a:pPr>
            <a:r>
              <a:rPr sz="1500" b="1" i="0">
                <a:solidFill>
                  <a:srgbClr val="15364A"/>
                </a:solidFill>
                <a:latin typeface="Aptos"/>
              </a:rPr>
              <a:t>Clinic Visit</a:t>
            </a:r>
          </a:p>
        </p:txBody>
      </p:sp>
      <p:sp>
        <p:nvSpPr>
          <p:cNvPr id="12" name="TextBox 11"/>
          <p:cNvSpPr txBox="1"/>
          <p:nvPr/>
        </p:nvSpPr>
        <p:spPr>
          <a:xfrm>
            <a:off x="4590288" y="2386584"/>
            <a:ext cx="3063240" cy="850392"/>
          </a:xfrm>
          <a:prstGeom prst="rect">
            <a:avLst/>
          </a:prstGeom>
          <a:noFill/>
        </p:spPr>
        <p:txBody>
          <a:bodyPr wrap="square" lIns="18288" rIns="18288" tIns="18288" bIns="18288" anchor="t">
            <a:spAutoFit/>
          </a:bodyPr>
          <a:lstStyle/>
          <a:p>
            <a:pPr algn="l">
              <a:spcAft>
                <a:spcPts val="0"/>
              </a:spcAft>
            </a:pPr>
            <a:r>
              <a:rPr sz="1050" b="0" i="0">
                <a:solidFill>
                  <a:srgbClr val="607889"/>
                </a:solidFill>
                <a:latin typeface="Aptos"/>
              </a:rPr>
              <a:t>In-person appointment
Show clinic address and arrival details
Availability by doctor</a:t>
            </a:r>
          </a:p>
        </p:txBody>
      </p:sp>
      <p:sp>
        <p:nvSpPr>
          <p:cNvPr id="13" name="Rounded Rectangle 12"/>
          <p:cNvSpPr/>
          <p:nvPr/>
        </p:nvSpPr>
        <p:spPr>
          <a:xfrm>
            <a:off x="8092440" y="1856231"/>
            <a:ext cx="3447288" cy="150876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856231"/>
            <a:ext cx="64008" cy="1508760"/>
          </a:xfrm>
          <a:prstGeom prst="rect">
            <a:avLst/>
          </a:prstGeom>
          <a:solidFill>
            <a:srgbClr val="E6A94E"/>
          </a:solidFill>
          <a:ln>
            <a:solidFill>
              <a:srgbClr val="E6A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93608" y="2011679"/>
            <a:ext cx="3063240" cy="292608"/>
          </a:xfrm>
          <a:prstGeom prst="rect">
            <a:avLst/>
          </a:prstGeom>
          <a:noFill/>
        </p:spPr>
        <p:txBody>
          <a:bodyPr wrap="square" lIns="18288" rIns="18288" tIns="18288" bIns="18288" anchor="t">
            <a:spAutoFit/>
          </a:bodyPr>
          <a:lstStyle/>
          <a:p>
            <a:pPr algn="l">
              <a:spcAft>
                <a:spcPts val="0"/>
              </a:spcAft>
            </a:pPr>
            <a:r>
              <a:rPr sz="1500" b="1" i="0">
                <a:solidFill>
                  <a:srgbClr val="15364A"/>
                </a:solidFill>
                <a:latin typeface="Aptos"/>
              </a:rPr>
              <a:t>Home Visit</a:t>
            </a:r>
          </a:p>
        </p:txBody>
      </p:sp>
      <p:sp>
        <p:nvSpPr>
          <p:cNvPr id="16" name="TextBox 15"/>
          <p:cNvSpPr txBox="1"/>
          <p:nvPr/>
        </p:nvSpPr>
        <p:spPr>
          <a:xfrm>
            <a:off x="8293608" y="2386584"/>
            <a:ext cx="3063240" cy="850392"/>
          </a:xfrm>
          <a:prstGeom prst="rect">
            <a:avLst/>
          </a:prstGeom>
          <a:noFill/>
        </p:spPr>
        <p:txBody>
          <a:bodyPr wrap="square" lIns="18288" rIns="18288" tIns="18288" bIns="18288" anchor="t">
            <a:spAutoFit/>
          </a:bodyPr>
          <a:lstStyle/>
          <a:p>
            <a:pPr algn="l">
              <a:spcAft>
                <a:spcPts val="0"/>
              </a:spcAft>
            </a:pPr>
            <a:r>
              <a:rPr sz="1050" b="0" i="0">
                <a:solidFill>
                  <a:srgbClr val="607889"/>
                </a:solidFill>
                <a:latin typeface="Aptos"/>
              </a:rPr>
              <a:t>Care at the patient’s address
Capture service location and coverage
Confirm availability and any terms</a:t>
            </a:r>
          </a:p>
        </p:txBody>
      </p:sp>
      <p:sp>
        <p:nvSpPr>
          <p:cNvPr id="17" name="Rounded Rectangle 16"/>
          <p:cNvSpPr/>
          <p:nvPr/>
        </p:nvSpPr>
        <p:spPr>
          <a:xfrm>
            <a:off x="777240" y="3913632"/>
            <a:ext cx="2443734" cy="96012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059936"/>
            <a:ext cx="274320" cy="274320"/>
          </a:xfrm>
          <a:prstGeom prst="ellipse">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069080"/>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1</a:t>
            </a:r>
          </a:p>
        </p:txBody>
      </p:sp>
      <p:sp>
        <p:nvSpPr>
          <p:cNvPr id="20" name="TextBox 19"/>
          <p:cNvSpPr txBox="1"/>
          <p:nvPr/>
        </p:nvSpPr>
        <p:spPr>
          <a:xfrm>
            <a:off x="1261872" y="4059936"/>
            <a:ext cx="1849374" cy="365760"/>
          </a:xfrm>
          <a:prstGeom prst="rect">
            <a:avLst/>
          </a:prstGeom>
          <a:noFill/>
        </p:spPr>
        <p:txBody>
          <a:bodyPr wrap="square" lIns="18288" rIns="18288" tIns="18288" bIns="18288" anchor="t">
            <a:spAutoFit/>
          </a:bodyPr>
          <a:lstStyle/>
          <a:p>
            <a:pPr algn="l">
              <a:spcAft>
                <a:spcPts val="0"/>
              </a:spcAft>
            </a:pPr>
            <a:r>
              <a:rPr sz="1100" b="1" i="0">
                <a:solidFill>
                  <a:srgbClr val="15364A"/>
                </a:solidFill>
                <a:latin typeface="Aptos"/>
              </a:rPr>
              <a:t>Type</a:t>
            </a:r>
          </a:p>
        </p:txBody>
      </p:sp>
      <p:sp>
        <p:nvSpPr>
          <p:cNvPr id="21" name="TextBox 20"/>
          <p:cNvSpPr txBox="1"/>
          <p:nvPr/>
        </p:nvSpPr>
        <p:spPr>
          <a:xfrm>
            <a:off x="941832" y="4489704"/>
            <a:ext cx="2123694"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Phone / clinic /
home</a:t>
            </a:r>
          </a:p>
        </p:txBody>
      </p:sp>
      <p:cxnSp>
        <p:nvCxnSpPr>
          <p:cNvPr id="22" name="Connector 21"/>
          <p:cNvCxnSpPr/>
          <p:nvPr/>
        </p:nvCxnSpPr>
        <p:spPr>
          <a:xfrm>
            <a:off x="3257550" y="4393692"/>
            <a:ext cx="219456" cy="0"/>
          </a:xfrm>
          <a:prstGeom prst="line">
            <a:avLst/>
          </a:prstGeom>
          <a:ln w="17780">
            <a:solidFill>
              <a:srgbClr val="26A99A"/>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385566" y="4265676"/>
            <a:ext cx="182880" cy="256032"/>
          </a:xfrm>
          <a:prstGeom prst="rect">
            <a:avLst/>
          </a:prstGeom>
          <a:noFill/>
        </p:spPr>
        <p:txBody>
          <a:bodyPr wrap="square" lIns="18288" rIns="18288" tIns="18288" bIns="18288" anchor="t">
            <a:spAutoFit/>
          </a:bodyPr>
          <a:lstStyle/>
          <a:p>
            <a:pPr algn="ctr">
              <a:spcAft>
                <a:spcPts val="0"/>
              </a:spcAft>
            </a:pPr>
            <a:r>
              <a:rPr sz="1600" b="1" i="0">
                <a:solidFill>
                  <a:srgbClr val="26A99A"/>
                </a:solidFill>
                <a:latin typeface="Aptos"/>
              </a:rPr>
              <a:t>›</a:t>
            </a:r>
          </a:p>
        </p:txBody>
      </p:sp>
      <p:sp>
        <p:nvSpPr>
          <p:cNvPr id="24" name="Rounded Rectangle 23"/>
          <p:cNvSpPr/>
          <p:nvPr/>
        </p:nvSpPr>
        <p:spPr>
          <a:xfrm>
            <a:off x="3513582" y="3913632"/>
            <a:ext cx="2443734" cy="96012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650742" y="4059936"/>
            <a:ext cx="274320" cy="274320"/>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0742" y="4069080"/>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2</a:t>
            </a:r>
          </a:p>
        </p:txBody>
      </p:sp>
      <p:sp>
        <p:nvSpPr>
          <p:cNvPr id="27" name="TextBox 26"/>
          <p:cNvSpPr txBox="1"/>
          <p:nvPr/>
        </p:nvSpPr>
        <p:spPr>
          <a:xfrm>
            <a:off x="3998214" y="4059936"/>
            <a:ext cx="1849374" cy="365760"/>
          </a:xfrm>
          <a:prstGeom prst="rect">
            <a:avLst/>
          </a:prstGeom>
          <a:noFill/>
        </p:spPr>
        <p:txBody>
          <a:bodyPr wrap="square" lIns="18288" rIns="18288" tIns="18288" bIns="18288" anchor="t">
            <a:spAutoFit/>
          </a:bodyPr>
          <a:lstStyle/>
          <a:p>
            <a:pPr algn="l">
              <a:spcAft>
                <a:spcPts val="0"/>
              </a:spcAft>
            </a:pPr>
            <a:r>
              <a:rPr sz="1100" b="1" i="0">
                <a:solidFill>
                  <a:srgbClr val="15364A"/>
                </a:solidFill>
                <a:latin typeface="Aptos"/>
              </a:rPr>
              <a:t>Date &amp; time</a:t>
            </a:r>
          </a:p>
        </p:txBody>
      </p:sp>
      <p:sp>
        <p:nvSpPr>
          <p:cNvPr id="28" name="TextBox 27"/>
          <p:cNvSpPr txBox="1"/>
          <p:nvPr/>
        </p:nvSpPr>
        <p:spPr>
          <a:xfrm>
            <a:off x="3678174" y="4489704"/>
            <a:ext cx="2123694"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Available slots;
prevent stale choice</a:t>
            </a:r>
          </a:p>
        </p:txBody>
      </p:sp>
      <p:cxnSp>
        <p:nvCxnSpPr>
          <p:cNvPr id="29" name="Connector 28"/>
          <p:cNvCxnSpPr/>
          <p:nvPr/>
        </p:nvCxnSpPr>
        <p:spPr>
          <a:xfrm>
            <a:off x="5993892" y="4393692"/>
            <a:ext cx="219456" cy="0"/>
          </a:xfrm>
          <a:prstGeom prst="line">
            <a:avLst/>
          </a:prstGeom>
          <a:ln w="17780">
            <a:solidFill>
              <a:srgbClr val="26A99A"/>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121908" y="4265676"/>
            <a:ext cx="182880" cy="256032"/>
          </a:xfrm>
          <a:prstGeom prst="rect">
            <a:avLst/>
          </a:prstGeom>
          <a:noFill/>
        </p:spPr>
        <p:txBody>
          <a:bodyPr wrap="square" lIns="18288" rIns="18288" tIns="18288" bIns="18288" anchor="t">
            <a:spAutoFit/>
          </a:bodyPr>
          <a:lstStyle/>
          <a:p>
            <a:pPr algn="ctr">
              <a:spcAft>
                <a:spcPts val="0"/>
              </a:spcAft>
            </a:pPr>
            <a:r>
              <a:rPr sz="1600" b="1" i="0">
                <a:solidFill>
                  <a:srgbClr val="26A99A"/>
                </a:solidFill>
                <a:latin typeface="Aptos"/>
              </a:rPr>
              <a:t>›</a:t>
            </a:r>
          </a:p>
        </p:txBody>
      </p:sp>
      <p:sp>
        <p:nvSpPr>
          <p:cNvPr id="31" name="Rounded Rectangle 30"/>
          <p:cNvSpPr/>
          <p:nvPr/>
        </p:nvSpPr>
        <p:spPr>
          <a:xfrm>
            <a:off x="6249924" y="3913632"/>
            <a:ext cx="2443734" cy="96012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387084" y="4059936"/>
            <a:ext cx="274320" cy="274320"/>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87084" y="4069080"/>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3</a:t>
            </a:r>
          </a:p>
        </p:txBody>
      </p:sp>
      <p:sp>
        <p:nvSpPr>
          <p:cNvPr id="34" name="TextBox 33"/>
          <p:cNvSpPr txBox="1"/>
          <p:nvPr/>
        </p:nvSpPr>
        <p:spPr>
          <a:xfrm>
            <a:off x="6734556" y="4059936"/>
            <a:ext cx="1849374" cy="365760"/>
          </a:xfrm>
          <a:prstGeom prst="rect">
            <a:avLst/>
          </a:prstGeom>
          <a:noFill/>
        </p:spPr>
        <p:txBody>
          <a:bodyPr wrap="square" lIns="18288" rIns="18288" tIns="18288" bIns="18288" anchor="t">
            <a:spAutoFit/>
          </a:bodyPr>
          <a:lstStyle/>
          <a:p>
            <a:pPr algn="l">
              <a:spcAft>
                <a:spcPts val="0"/>
              </a:spcAft>
            </a:pPr>
            <a:r>
              <a:rPr sz="1100" b="1" i="0">
                <a:solidFill>
                  <a:srgbClr val="15364A"/>
                </a:solidFill>
                <a:latin typeface="Aptos"/>
              </a:rPr>
              <a:t>Patient details</a:t>
            </a:r>
          </a:p>
        </p:txBody>
      </p:sp>
      <p:sp>
        <p:nvSpPr>
          <p:cNvPr id="35" name="TextBox 34"/>
          <p:cNvSpPr txBox="1"/>
          <p:nvPr/>
        </p:nvSpPr>
        <p:spPr>
          <a:xfrm>
            <a:off x="6414516" y="4489704"/>
            <a:ext cx="2123694"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Name, phone, email;
optional note</a:t>
            </a:r>
          </a:p>
        </p:txBody>
      </p:sp>
      <p:cxnSp>
        <p:nvCxnSpPr>
          <p:cNvPr id="36" name="Connector 35"/>
          <p:cNvCxnSpPr/>
          <p:nvPr/>
        </p:nvCxnSpPr>
        <p:spPr>
          <a:xfrm>
            <a:off x="8730234" y="4393692"/>
            <a:ext cx="219456" cy="0"/>
          </a:xfrm>
          <a:prstGeom prst="line">
            <a:avLst/>
          </a:prstGeom>
          <a:ln w="17780">
            <a:solidFill>
              <a:srgbClr val="26A99A"/>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858250" y="4265676"/>
            <a:ext cx="182880" cy="256032"/>
          </a:xfrm>
          <a:prstGeom prst="rect">
            <a:avLst/>
          </a:prstGeom>
          <a:noFill/>
        </p:spPr>
        <p:txBody>
          <a:bodyPr wrap="square" lIns="18288" rIns="18288" tIns="18288" bIns="18288" anchor="t">
            <a:spAutoFit/>
          </a:bodyPr>
          <a:lstStyle/>
          <a:p>
            <a:pPr algn="ctr">
              <a:spcAft>
                <a:spcPts val="0"/>
              </a:spcAft>
            </a:pPr>
            <a:r>
              <a:rPr sz="1600" b="1" i="0">
                <a:solidFill>
                  <a:srgbClr val="26A99A"/>
                </a:solidFill>
                <a:latin typeface="Aptos"/>
              </a:rPr>
              <a:t>›</a:t>
            </a:r>
          </a:p>
        </p:txBody>
      </p:sp>
      <p:sp>
        <p:nvSpPr>
          <p:cNvPr id="38" name="Rounded Rectangle 37"/>
          <p:cNvSpPr/>
          <p:nvPr/>
        </p:nvSpPr>
        <p:spPr>
          <a:xfrm>
            <a:off x="8986266" y="3913632"/>
            <a:ext cx="2443734" cy="96012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123426" y="4059936"/>
            <a:ext cx="274320" cy="274320"/>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23426" y="4069080"/>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4</a:t>
            </a:r>
          </a:p>
        </p:txBody>
      </p:sp>
      <p:sp>
        <p:nvSpPr>
          <p:cNvPr id="41" name="TextBox 40"/>
          <p:cNvSpPr txBox="1"/>
          <p:nvPr/>
        </p:nvSpPr>
        <p:spPr>
          <a:xfrm>
            <a:off x="9470898" y="4059936"/>
            <a:ext cx="1849374" cy="365760"/>
          </a:xfrm>
          <a:prstGeom prst="rect">
            <a:avLst/>
          </a:prstGeom>
          <a:noFill/>
        </p:spPr>
        <p:txBody>
          <a:bodyPr wrap="square" lIns="18288" rIns="18288" tIns="18288" bIns="18288" anchor="t">
            <a:spAutoFit/>
          </a:bodyPr>
          <a:lstStyle/>
          <a:p>
            <a:pPr algn="l">
              <a:spcAft>
                <a:spcPts val="0"/>
              </a:spcAft>
            </a:pPr>
            <a:r>
              <a:rPr sz="1100" b="1" i="0">
                <a:solidFill>
                  <a:srgbClr val="15364A"/>
                </a:solidFill>
                <a:latin typeface="Aptos"/>
              </a:rPr>
              <a:t>Review</a:t>
            </a:r>
          </a:p>
        </p:txBody>
      </p:sp>
      <p:sp>
        <p:nvSpPr>
          <p:cNvPr id="42" name="TextBox 41"/>
          <p:cNvSpPr txBox="1"/>
          <p:nvPr/>
        </p:nvSpPr>
        <p:spPr>
          <a:xfrm>
            <a:off x="9150858" y="4489704"/>
            <a:ext cx="2123694"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Doctor, fee, visit
and contact summary</a:t>
            </a:r>
          </a:p>
        </p:txBody>
      </p:sp>
      <p:sp>
        <p:nvSpPr>
          <p:cNvPr id="43" name="TextBox 42"/>
          <p:cNvSpPr txBox="1"/>
          <p:nvPr/>
        </p:nvSpPr>
        <p:spPr>
          <a:xfrm>
            <a:off x="804672" y="5276088"/>
            <a:ext cx="10515600" cy="438912"/>
          </a:xfrm>
          <a:prstGeom prst="rect">
            <a:avLst/>
          </a:prstGeom>
          <a:noFill/>
        </p:spPr>
        <p:txBody>
          <a:bodyPr wrap="square" lIns="18288" rIns="18288" tIns="18288" bIns="18288" anchor="t">
            <a:spAutoFit/>
          </a:bodyPr>
          <a:lstStyle/>
          <a:p>
            <a:pPr algn="l">
              <a:spcAft>
                <a:spcPts val="0"/>
              </a:spcAft>
            </a:pPr>
            <a:r>
              <a:rPr sz="1100" b="0" i="0">
                <a:solidFill>
                  <a:srgbClr val="607889"/>
                </a:solidFill>
                <a:latin typeface="Aptos"/>
              </a:rPr>
              <a:t>Then continue to payment → confirmation. Keep a clear Back action and preserve completed answers when moving between steps.</a:t>
            </a:r>
          </a:p>
        </p:txBody>
      </p:sp>
      <p:cxnSp>
        <p:nvCxnSpPr>
          <p:cNvPr id="44" name="Connector 43"/>
          <p:cNvCxnSpPr/>
          <p:nvPr/>
        </p:nvCxnSpPr>
        <p:spPr>
          <a:xfrm>
            <a:off x="502920" y="6510528"/>
            <a:ext cx="11183112" cy="0"/>
          </a:xfrm>
          <a:prstGeom prst="line">
            <a:avLst/>
          </a:prstGeom>
          <a:ln w="8890">
            <a:solidFill>
              <a:srgbClr val="DCE7ED"/>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48640" y="6574536"/>
            <a:ext cx="6858000" cy="164592"/>
          </a:xfrm>
          <a:prstGeom prst="rect">
            <a:avLst/>
          </a:prstGeom>
          <a:noFill/>
        </p:spPr>
        <p:txBody>
          <a:bodyPr wrap="square" lIns="18288" rIns="18288" tIns="18288" bIns="18288" anchor="t">
            <a:spAutoFit/>
          </a:bodyPr>
          <a:lstStyle/>
          <a:p>
            <a:pPr algn="l">
              <a:spcAft>
                <a:spcPts val="0"/>
              </a:spcAft>
            </a:pPr>
            <a:r>
              <a:rPr sz="800" b="1" i="0">
                <a:solidFill>
                  <a:srgbClr val="607889"/>
                </a:solidFill>
                <a:latin typeface="Aptos"/>
              </a:rPr>
              <a:t>HEALTHCARE CONNECT  /  UI PLAN  •  WORKING DRAFT</a:t>
            </a:r>
          </a:p>
        </p:txBody>
      </p:sp>
      <p:sp>
        <p:nvSpPr>
          <p:cNvPr id="46" name="TextBox 45"/>
          <p:cNvSpPr txBox="1"/>
          <p:nvPr/>
        </p:nvSpPr>
        <p:spPr>
          <a:xfrm>
            <a:off x="10972800" y="6565392"/>
            <a:ext cx="594360" cy="182880"/>
          </a:xfrm>
          <a:prstGeom prst="rect">
            <a:avLst/>
          </a:prstGeom>
          <a:noFill/>
        </p:spPr>
        <p:txBody>
          <a:bodyPr wrap="square" lIns="18288" rIns="18288" tIns="18288" bIns="18288" anchor="t">
            <a:spAutoFit/>
          </a:bodyPr>
          <a:lstStyle/>
          <a:p>
            <a:pPr algn="r">
              <a:spcAft>
                <a:spcPts val="0"/>
              </a:spcAft>
            </a:pPr>
            <a:r>
              <a:rPr sz="900" b="1" i="0">
                <a:solidFill>
                  <a:srgbClr val="607889"/>
                </a:solidFill>
                <a:latin typeface="Apto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594360" y="384048"/>
            <a:ext cx="4114800" cy="201168"/>
          </a:xfrm>
          <a:prstGeom prst="rect">
            <a:avLst/>
          </a:prstGeom>
          <a:noFill/>
        </p:spPr>
        <p:txBody>
          <a:bodyPr wrap="square" lIns="18288" rIns="18288" tIns="18288" bIns="18288" anchor="t">
            <a:spAutoFit/>
          </a:bodyPr>
          <a:lstStyle/>
          <a:p>
            <a:pPr algn="l">
              <a:spcAft>
                <a:spcPts val="0"/>
              </a:spcAft>
            </a:pPr>
            <a:r>
              <a:rPr sz="900" b="1" i="0">
                <a:solidFill>
                  <a:srgbClr val="26A99A"/>
                </a:solidFill>
                <a:latin typeface="Aptos"/>
              </a:rPr>
              <a:t>07 / PAYMENT</a:t>
            </a:r>
          </a:p>
        </p:txBody>
      </p:sp>
      <p:sp>
        <p:nvSpPr>
          <p:cNvPr id="3" name="TextBox 2"/>
          <p:cNvSpPr txBox="1"/>
          <p:nvPr/>
        </p:nvSpPr>
        <p:spPr>
          <a:xfrm>
            <a:off x="594360" y="658368"/>
            <a:ext cx="10972800" cy="475488"/>
          </a:xfrm>
          <a:prstGeom prst="rect">
            <a:avLst/>
          </a:prstGeom>
          <a:noFill/>
        </p:spPr>
        <p:txBody>
          <a:bodyPr wrap="square" lIns="18288" rIns="18288" tIns="18288" bIns="18288" anchor="t">
            <a:spAutoFit/>
          </a:bodyPr>
          <a:lstStyle/>
          <a:p>
            <a:pPr algn="l">
              <a:spcAft>
                <a:spcPts val="0"/>
              </a:spcAft>
            </a:pPr>
            <a:r>
              <a:rPr sz="2700" b="1" i="0">
                <a:solidFill>
                  <a:srgbClr val="15364A"/>
                </a:solidFill>
                <a:latin typeface="Aptos"/>
              </a:rPr>
              <a:t>Patient payment: a clear hand-off to Razorpay</a:t>
            </a:r>
          </a:p>
        </p:txBody>
      </p:sp>
      <p:sp>
        <p:nvSpPr>
          <p:cNvPr id="4" name="TextBox 3"/>
          <p:cNvSpPr txBox="1"/>
          <p:nvPr/>
        </p:nvSpPr>
        <p:spPr>
          <a:xfrm>
            <a:off x="612648" y="1207008"/>
            <a:ext cx="10789920" cy="365760"/>
          </a:xfrm>
          <a:prstGeom prst="rect">
            <a:avLst/>
          </a:prstGeom>
          <a:noFill/>
        </p:spPr>
        <p:txBody>
          <a:bodyPr wrap="square" lIns="18288" rIns="18288" tIns="18288" bIns="18288" anchor="t">
            <a:spAutoFit/>
          </a:bodyPr>
          <a:lstStyle/>
          <a:p>
            <a:pPr algn="l">
              <a:spcAft>
                <a:spcPts val="0"/>
              </a:spcAft>
            </a:pPr>
            <a:r>
              <a:rPr sz="1250" b="0" i="0">
                <a:solidFill>
                  <a:srgbClr val="607889"/>
                </a:solidFill>
                <a:latin typeface="Aptos"/>
              </a:rPr>
              <a:t>Show the amount and appointment summary before the customer leaves the booking experience.</a:t>
            </a:r>
          </a:p>
        </p:txBody>
      </p:sp>
      <p:sp>
        <p:nvSpPr>
          <p:cNvPr id="5" name="Rounded Rectangle 4"/>
          <p:cNvSpPr/>
          <p:nvPr/>
        </p:nvSpPr>
        <p:spPr>
          <a:xfrm>
            <a:off x="731520" y="2148840"/>
            <a:ext cx="2466594" cy="1170432"/>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295144"/>
            <a:ext cx="274320" cy="274320"/>
          </a:xfrm>
          <a:prstGeom prst="ellipse">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04288"/>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1</a:t>
            </a:r>
          </a:p>
        </p:txBody>
      </p:sp>
      <p:sp>
        <p:nvSpPr>
          <p:cNvPr id="8" name="TextBox 7"/>
          <p:cNvSpPr txBox="1"/>
          <p:nvPr/>
        </p:nvSpPr>
        <p:spPr>
          <a:xfrm>
            <a:off x="1216152" y="2295144"/>
            <a:ext cx="1872234" cy="365760"/>
          </a:xfrm>
          <a:prstGeom prst="rect">
            <a:avLst/>
          </a:prstGeom>
          <a:noFill/>
        </p:spPr>
        <p:txBody>
          <a:bodyPr wrap="square" lIns="18288" rIns="18288" tIns="18288" bIns="18288" anchor="t">
            <a:spAutoFit/>
          </a:bodyPr>
          <a:lstStyle/>
          <a:p>
            <a:pPr algn="l">
              <a:spcAft>
                <a:spcPts val="0"/>
              </a:spcAft>
            </a:pPr>
            <a:r>
              <a:rPr sz="1200" b="1" i="0">
                <a:solidFill>
                  <a:srgbClr val="15364A"/>
                </a:solidFill>
                <a:latin typeface="Aptos"/>
              </a:rPr>
              <a:t>Review total</a:t>
            </a:r>
          </a:p>
        </p:txBody>
      </p:sp>
      <p:sp>
        <p:nvSpPr>
          <p:cNvPr id="9" name="TextBox 8"/>
          <p:cNvSpPr txBox="1"/>
          <p:nvPr/>
        </p:nvSpPr>
        <p:spPr>
          <a:xfrm>
            <a:off x="896112" y="2724912"/>
            <a:ext cx="2146553"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Doctor, service, slot
and fee are visible</a:t>
            </a:r>
          </a:p>
        </p:txBody>
      </p:sp>
      <p:cxnSp>
        <p:nvCxnSpPr>
          <p:cNvPr id="10" name="Connector 9"/>
          <p:cNvCxnSpPr/>
          <p:nvPr/>
        </p:nvCxnSpPr>
        <p:spPr>
          <a:xfrm>
            <a:off x="3234689" y="2734056"/>
            <a:ext cx="219456" cy="0"/>
          </a:xfrm>
          <a:prstGeom prst="line">
            <a:avLst/>
          </a:prstGeom>
          <a:ln w="17780">
            <a:solidFill>
              <a:srgbClr val="26A99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362705" y="2606040"/>
            <a:ext cx="182880" cy="256032"/>
          </a:xfrm>
          <a:prstGeom prst="rect">
            <a:avLst/>
          </a:prstGeom>
          <a:noFill/>
        </p:spPr>
        <p:txBody>
          <a:bodyPr wrap="square" lIns="18288" rIns="18288" tIns="18288" bIns="18288" anchor="t">
            <a:spAutoFit/>
          </a:bodyPr>
          <a:lstStyle/>
          <a:p>
            <a:pPr algn="ctr">
              <a:spcAft>
                <a:spcPts val="0"/>
              </a:spcAft>
            </a:pPr>
            <a:r>
              <a:rPr sz="1600" b="1" i="0">
                <a:solidFill>
                  <a:srgbClr val="26A99A"/>
                </a:solidFill>
                <a:latin typeface="Aptos"/>
              </a:rPr>
              <a:t>›</a:t>
            </a:r>
          </a:p>
        </p:txBody>
      </p:sp>
      <p:sp>
        <p:nvSpPr>
          <p:cNvPr id="12" name="Rounded Rectangle 11"/>
          <p:cNvSpPr/>
          <p:nvPr/>
        </p:nvSpPr>
        <p:spPr>
          <a:xfrm>
            <a:off x="3490722" y="2148840"/>
            <a:ext cx="2466594" cy="1170432"/>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27882" y="2295144"/>
            <a:ext cx="274320" cy="274320"/>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27882" y="2304288"/>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2</a:t>
            </a:r>
          </a:p>
        </p:txBody>
      </p:sp>
      <p:sp>
        <p:nvSpPr>
          <p:cNvPr id="15" name="TextBox 14"/>
          <p:cNvSpPr txBox="1"/>
          <p:nvPr/>
        </p:nvSpPr>
        <p:spPr>
          <a:xfrm>
            <a:off x="3975354" y="2295144"/>
            <a:ext cx="1872234" cy="365760"/>
          </a:xfrm>
          <a:prstGeom prst="rect">
            <a:avLst/>
          </a:prstGeom>
          <a:noFill/>
        </p:spPr>
        <p:txBody>
          <a:bodyPr wrap="square" lIns="18288" rIns="18288" tIns="18288" bIns="18288" anchor="t">
            <a:spAutoFit/>
          </a:bodyPr>
          <a:lstStyle/>
          <a:p>
            <a:pPr algn="l">
              <a:spcAft>
                <a:spcPts val="0"/>
              </a:spcAft>
            </a:pPr>
            <a:r>
              <a:rPr sz="1200" b="1" i="0">
                <a:solidFill>
                  <a:srgbClr val="15364A"/>
                </a:solidFill>
                <a:latin typeface="Aptos"/>
              </a:rPr>
              <a:t>Open Razorpay</a:t>
            </a:r>
          </a:p>
        </p:txBody>
      </p:sp>
      <p:sp>
        <p:nvSpPr>
          <p:cNvPr id="16" name="TextBox 15"/>
          <p:cNvSpPr txBox="1"/>
          <p:nvPr/>
        </p:nvSpPr>
        <p:spPr>
          <a:xfrm>
            <a:off x="3655314" y="2724912"/>
            <a:ext cx="2146553"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UPI / card / net banking;
secure gateway</a:t>
            </a:r>
          </a:p>
        </p:txBody>
      </p:sp>
      <p:cxnSp>
        <p:nvCxnSpPr>
          <p:cNvPr id="17" name="Connector 16"/>
          <p:cNvCxnSpPr/>
          <p:nvPr/>
        </p:nvCxnSpPr>
        <p:spPr>
          <a:xfrm>
            <a:off x="5993892" y="2734056"/>
            <a:ext cx="219456" cy="0"/>
          </a:xfrm>
          <a:prstGeom prst="line">
            <a:avLst/>
          </a:prstGeom>
          <a:ln w="17780">
            <a:solidFill>
              <a:srgbClr val="26A99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121908" y="2606040"/>
            <a:ext cx="182880" cy="256032"/>
          </a:xfrm>
          <a:prstGeom prst="rect">
            <a:avLst/>
          </a:prstGeom>
          <a:noFill/>
        </p:spPr>
        <p:txBody>
          <a:bodyPr wrap="square" lIns="18288" rIns="18288" tIns="18288" bIns="18288" anchor="t">
            <a:spAutoFit/>
          </a:bodyPr>
          <a:lstStyle/>
          <a:p>
            <a:pPr algn="ctr">
              <a:spcAft>
                <a:spcPts val="0"/>
              </a:spcAft>
            </a:pPr>
            <a:r>
              <a:rPr sz="1600" b="1" i="0">
                <a:solidFill>
                  <a:srgbClr val="26A99A"/>
                </a:solidFill>
                <a:latin typeface="Aptos"/>
              </a:rPr>
              <a:t>›</a:t>
            </a:r>
          </a:p>
        </p:txBody>
      </p:sp>
      <p:sp>
        <p:nvSpPr>
          <p:cNvPr id="19" name="Rounded Rectangle 18"/>
          <p:cNvSpPr/>
          <p:nvPr/>
        </p:nvSpPr>
        <p:spPr>
          <a:xfrm>
            <a:off x="6249923" y="2148840"/>
            <a:ext cx="2466594" cy="1170432"/>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87083" y="2295144"/>
            <a:ext cx="274320" cy="274320"/>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7083" y="2304288"/>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3</a:t>
            </a:r>
          </a:p>
        </p:txBody>
      </p:sp>
      <p:sp>
        <p:nvSpPr>
          <p:cNvPr id="22" name="TextBox 21"/>
          <p:cNvSpPr txBox="1"/>
          <p:nvPr/>
        </p:nvSpPr>
        <p:spPr>
          <a:xfrm>
            <a:off x="6734555" y="2295144"/>
            <a:ext cx="1872234" cy="365760"/>
          </a:xfrm>
          <a:prstGeom prst="rect">
            <a:avLst/>
          </a:prstGeom>
          <a:noFill/>
        </p:spPr>
        <p:txBody>
          <a:bodyPr wrap="square" lIns="18288" rIns="18288" tIns="18288" bIns="18288" anchor="t">
            <a:spAutoFit/>
          </a:bodyPr>
          <a:lstStyle/>
          <a:p>
            <a:pPr algn="l">
              <a:spcAft>
                <a:spcPts val="0"/>
              </a:spcAft>
            </a:pPr>
            <a:r>
              <a:rPr sz="1200" b="1" i="0">
                <a:solidFill>
                  <a:srgbClr val="15364A"/>
                </a:solidFill>
                <a:latin typeface="Aptos"/>
              </a:rPr>
              <a:t>Payment result</a:t>
            </a:r>
          </a:p>
        </p:txBody>
      </p:sp>
      <p:sp>
        <p:nvSpPr>
          <p:cNvPr id="23" name="TextBox 22"/>
          <p:cNvSpPr txBox="1"/>
          <p:nvPr/>
        </p:nvSpPr>
        <p:spPr>
          <a:xfrm>
            <a:off x="6414515" y="2724912"/>
            <a:ext cx="2146553"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Success, pending,
cancelled or failed</a:t>
            </a:r>
          </a:p>
        </p:txBody>
      </p:sp>
      <p:cxnSp>
        <p:nvCxnSpPr>
          <p:cNvPr id="24" name="Connector 23"/>
          <p:cNvCxnSpPr/>
          <p:nvPr/>
        </p:nvCxnSpPr>
        <p:spPr>
          <a:xfrm>
            <a:off x="8753093" y="2734056"/>
            <a:ext cx="219457" cy="0"/>
          </a:xfrm>
          <a:prstGeom prst="line">
            <a:avLst/>
          </a:prstGeom>
          <a:ln w="17780">
            <a:solidFill>
              <a:srgbClr val="26A99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881110" y="2606040"/>
            <a:ext cx="182880" cy="256032"/>
          </a:xfrm>
          <a:prstGeom prst="rect">
            <a:avLst/>
          </a:prstGeom>
          <a:noFill/>
        </p:spPr>
        <p:txBody>
          <a:bodyPr wrap="square" lIns="18288" rIns="18288" tIns="18288" bIns="18288" anchor="t">
            <a:spAutoFit/>
          </a:bodyPr>
          <a:lstStyle/>
          <a:p>
            <a:pPr algn="ctr">
              <a:spcAft>
                <a:spcPts val="0"/>
              </a:spcAft>
            </a:pPr>
            <a:r>
              <a:rPr sz="1600" b="1" i="0">
                <a:solidFill>
                  <a:srgbClr val="26A99A"/>
                </a:solidFill>
                <a:latin typeface="Aptos"/>
              </a:rPr>
              <a:t>›</a:t>
            </a:r>
          </a:p>
        </p:txBody>
      </p:sp>
      <p:sp>
        <p:nvSpPr>
          <p:cNvPr id="26" name="Rounded Rectangle 25"/>
          <p:cNvSpPr/>
          <p:nvPr/>
        </p:nvSpPr>
        <p:spPr>
          <a:xfrm>
            <a:off x="9009126" y="2148840"/>
            <a:ext cx="2466594" cy="1170432"/>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46286" y="2295144"/>
            <a:ext cx="274320" cy="274320"/>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6286" y="2304288"/>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4</a:t>
            </a:r>
          </a:p>
        </p:txBody>
      </p:sp>
      <p:sp>
        <p:nvSpPr>
          <p:cNvPr id="29" name="TextBox 28"/>
          <p:cNvSpPr txBox="1"/>
          <p:nvPr/>
        </p:nvSpPr>
        <p:spPr>
          <a:xfrm>
            <a:off x="9493757" y="2295144"/>
            <a:ext cx="1872234" cy="365760"/>
          </a:xfrm>
          <a:prstGeom prst="rect">
            <a:avLst/>
          </a:prstGeom>
          <a:noFill/>
        </p:spPr>
        <p:txBody>
          <a:bodyPr wrap="square" lIns="18288" rIns="18288" tIns="18288" bIns="18288" anchor="t">
            <a:spAutoFit/>
          </a:bodyPr>
          <a:lstStyle/>
          <a:p>
            <a:pPr algn="l">
              <a:spcAft>
                <a:spcPts val="0"/>
              </a:spcAft>
            </a:pPr>
            <a:r>
              <a:rPr sz="1200" b="1" i="0">
                <a:solidFill>
                  <a:srgbClr val="15364A"/>
                </a:solidFill>
                <a:latin typeface="Aptos"/>
              </a:rPr>
              <a:t>Confirm booking</a:t>
            </a:r>
          </a:p>
        </p:txBody>
      </p:sp>
      <p:sp>
        <p:nvSpPr>
          <p:cNvPr id="30" name="TextBox 29"/>
          <p:cNvSpPr txBox="1"/>
          <p:nvPr/>
        </p:nvSpPr>
        <p:spPr>
          <a:xfrm>
            <a:off x="9173717" y="2724912"/>
            <a:ext cx="2146553"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Persist confirmed visit;
show reference</a:t>
            </a:r>
          </a:p>
        </p:txBody>
      </p:sp>
      <p:sp>
        <p:nvSpPr>
          <p:cNvPr id="31" name="Rounded Rectangle 30"/>
          <p:cNvSpPr/>
          <p:nvPr/>
        </p:nvSpPr>
        <p:spPr>
          <a:xfrm>
            <a:off x="749808" y="4041648"/>
            <a:ext cx="5230368" cy="141732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9808" y="4041648"/>
            <a:ext cx="64008" cy="1417320"/>
          </a:xfrm>
          <a:prstGeom prst="rect">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0976" y="4197096"/>
            <a:ext cx="4846320" cy="292608"/>
          </a:xfrm>
          <a:prstGeom prst="rect">
            <a:avLst/>
          </a:prstGeom>
          <a:noFill/>
        </p:spPr>
        <p:txBody>
          <a:bodyPr wrap="square" lIns="18288" rIns="18288" tIns="18288" bIns="18288" anchor="t">
            <a:spAutoFit/>
          </a:bodyPr>
          <a:lstStyle/>
          <a:p>
            <a:pPr algn="l">
              <a:spcAft>
                <a:spcPts val="0"/>
              </a:spcAft>
            </a:pPr>
            <a:r>
              <a:rPr sz="1400" b="1" i="0">
                <a:solidFill>
                  <a:srgbClr val="15364A"/>
                </a:solidFill>
                <a:latin typeface="Aptos"/>
              </a:rPr>
              <a:t>UI responsibilities</a:t>
            </a:r>
          </a:p>
        </p:txBody>
      </p:sp>
      <p:sp>
        <p:nvSpPr>
          <p:cNvPr id="34" name="TextBox 33"/>
          <p:cNvSpPr txBox="1"/>
          <p:nvPr/>
        </p:nvSpPr>
        <p:spPr>
          <a:xfrm>
            <a:off x="950976" y="4572000"/>
            <a:ext cx="4846320" cy="758952"/>
          </a:xfrm>
          <a:prstGeom prst="rect">
            <a:avLst/>
          </a:prstGeom>
          <a:noFill/>
        </p:spPr>
        <p:txBody>
          <a:bodyPr wrap="square" lIns="18288" rIns="18288" tIns="18288" bIns="18288" anchor="t">
            <a:spAutoFit/>
          </a:bodyPr>
          <a:lstStyle/>
          <a:p>
            <a:pPr algn="l">
              <a:spcAft>
                <a:spcPts val="0"/>
              </a:spcAft>
            </a:pPr>
            <a:r>
              <a:rPr sz="1100" b="0" i="0">
                <a:solidFill>
                  <a:srgbClr val="607889"/>
                </a:solidFill>
                <a:latin typeface="Aptos"/>
              </a:rPr>
              <a:t>Explain amount • indicate processing • prevent accidental duplicate action • show a recoverable failure • never display success until the verified result is returned.</a:t>
            </a:r>
          </a:p>
        </p:txBody>
      </p:sp>
      <p:sp>
        <p:nvSpPr>
          <p:cNvPr id="35" name="Rounded Rectangle 34"/>
          <p:cNvSpPr/>
          <p:nvPr/>
        </p:nvSpPr>
        <p:spPr>
          <a:xfrm>
            <a:off x="6217920" y="4041648"/>
            <a:ext cx="5230368" cy="141732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7920" y="4041648"/>
            <a:ext cx="64008" cy="1417320"/>
          </a:xfrm>
          <a:prstGeom prst="rect">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197096"/>
            <a:ext cx="4846320" cy="292608"/>
          </a:xfrm>
          <a:prstGeom prst="rect">
            <a:avLst/>
          </a:prstGeom>
          <a:noFill/>
        </p:spPr>
        <p:txBody>
          <a:bodyPr wrap="square" lIns="18288" rIns="18288" tIns="18288" bIns="18288" anchor="t">
            <a:spAutoFit/>
          </a:bodyPr>
          <a:lstStyle/>
          <a:p>
            <a:pPr algn="l">
              <a:spcAft>
                <a:spcPts val="0"/>
              </a:spcAft>
            </a:pPr>
            <a:r>
              <a:rPr sz="1400" b="1" i="0">
                <a:solidFill>
                  <a:srgbClr val="15364A"/>
                </a:solidFill>
                <a:latin typeface="Aptos"/>
              </a:rPr>
              <a:t>Integration boundary</a:t>
            </a:r>
          </a:p>
        </p:txBody>
      </p:sp>
      <p:sp>
        <p:nvSpPr>
          <p:cNvPr id="38" name="TextBox 37"/>
          <p:cNvSpPr txBox="1"/>
          <p:nvPr/>
        </p:nvSpPr>
        <p:spPr>
          <a:xfrm>
            <a:off x="6419088" y="4572000"/>
            <a:ext cx="4846320" cy="758952"/>
          </a:xfrm>
          <a:prstGeom prst="rect">
            <a:avLst/>
          </a:prstGeom>
          <a:noFill/>
        </p:spPr>
        <p:txBody>
          <a:bodyPr wrap="square" lIns="18288" rIns="18288" tIns="18288" bIns="18288" anchor="t">
            <a:spAutoFit/>
          </a:bodyPr>
          <a:lstStyle/>
          <a:p>
            <a:pPr algn="l">
              <a:spcAft>
                <a:spcPts val="0"/>
              </a:spcAft>
            </a:pPr>
            <a:r>
              <a:rPr sz="1100" b="0" i="0">
                <a:solidFill>
                  <a:srgbClr val="607889"/>
                </a:solidFill>
                <a:latin typeface="Aptos"/>
              </a:rPr>
              <a:t>The prototype uses a simulated payment service. Live Razorpay checkout, server-side order creation, signature verification, webhooks and refunds need backend agreement.</a:t>
            </a:r>
          </a:p>
        </p:txBody>
      </p:sp>
      <p:sp>
        <p:nvSpPr>
          <p:cNvPr id="39" name="TextBox 38"/>
          <p:cNvSpPr txBox="1"/>
          <p:nvPr/>
        </p:nvSpPr>
        <p:spPr>
          <a:xfrm>
            <a:off x="777240" y="5623560"/>
            <a:ext cx="10424160" cy="292608"/>
          </a:xfrm>
          <a:prstGeom prst="rect">
            <a:avLst/>
          </a:prstGeom>
          <a:noFill/>
        </p:spPr>
        <p:txBody>
          <a:bodyPr wrap="square" lIns="18288" rIns="18288" tIns="18288" bIns="18288" anchor="t">
            <a:spAutoFit/>
          </a:bodyPr>
          <a:lstStyle/>
          <a:p>
            <a:pPr algn="l">
              <a:spcAft>
                <a:spcPts val="0"/>
              </a:spcAft>
            </a:pPr>
            <a:r>
              <a:rPr sz="1000" b="0" i="1">
                <a:solidFill>
                  <a:srgbClr val="607889"/>
                </a:solidFill>
                <a:latin typeface="Aptos"/>
              </a:rPr>
              <a:t>Client confirmation: payment timing, cancellation/refund policy, supported methods and whether any doctor joining fee uses Razorpay.</a:t>
            </a:r>
          </a:p>
        </p:txBody>
      </p:sp>
      <p:cxnSp>
        <p:nvCxnSpPr>
          <p:cNvPr id="40" name="Connector 39"/>
          <p:cNvCxnSpPr/>
          <p:nvPr/>
        </p:nvCxnSpPr>
        <p:spPr>
          <a:xfrm>
            <a:off x="502920" y="6510528"/>
            <a:ext cx="11183112" cy="0"/>
          </a:xfrm>
          <a:prstGeom prst="line">
            <a:avLst/>
          </a:prstGeom>
          <a:ln w="8890">
            <a:solidFill>
              <a:srgbClr val="DCE7ED"/>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48640" y="6574536"/>
            <a:ext cx="6858000" cy="164592"/>
          </a:xfrm>
          <a:prstGeom prst="rect">
            <a:avLst/>
          </a:prstGeom>
          <a:noFill/>
        </p:spPr>
        <p:txBody>
          <a:bodyPr wrap="square" lIns="18288" rIns="18288" tIns="18288" bIns="18288" anchor="t">
            <a:spAutoFit/>
          </a:bodyPr>
          <a:lstStyle/>
          <a:p>
            <a:pPr algn="l">
              <a:spcAft>
                <a:spcPts val="0"/>
              </a:spcAft>
            </a:pPr>
            <a:r>
              <a:rPr sz="800" b="1" i="0">
                <a:solidFill>
                  <a:srgbClr val="607889"/>
                </a:solidFill>
                <a:latin typeface="Aptos"/>
              </a:rPr>
              <a:t>HEALTHCARE CONNECT  /  UI PLAN  •  WORKING DRAFT</a:t>
            </a:r>
          </a:p>
        </p:txBody>
      </p:sp>
      <p:sp>
        <p:nvSpPr>
          <p:cNvPr id="42" name="TextBox 41"/>
          <p:cNvSpPr txBox="1"/>
          <p:nvPr/>
        </p:nvSpPr>
        <p:spPr>
          <a:xfrm>
            <a:off x="10972800" y="6565392"/>
            <a:ext cx="594360" cy="182880"/>
          </a:xfrm>
          <a:prstGeom prst="rect">
            <a:avLst/>
          </a:prstGeom>
          <a:noFill/>
        </p:spPr>
        <p:txBody>
          <a:bodyPr wrap="square" lIns="18288" rIns="18288" tIns="18288" bIns="18288" anchor="t">
            <a:spAutoFit/>
          </a:bodyPr>
          <a:lstStyle/>
          <a:p>
            <a:pPr algn="r">
              <a:spcAft>
                <a:spcPts val="0"/>
              </a:spcAft>
            </a:pPr>
            <a:r>
              <a:rPr sz="900" b="1" i="0">
                <a:solidFill>
                  <a:srgbClr val="607889"/>
                </a:solidFill>
                <a:latin typeface="Apto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594360" y="384048"/>
            <a:ext cx="4114800" cy="201168"/>
          </a:xfrm>
          <a:prstGeom prst="rect">
            <a:avLst/>
          </a:prstGeom>
          <a:noFill/>
        </p:spPr>
        <p:txBody>
          <a:bodyPr wrap="square" lIns="18288" rIns="18288" tIns="18288" bIns="18288" anchor="t">
            <a:spAutoFit/>
          </a:bodyPr>
          <a:lstStyle/>
          <a:p>
            <a:pPr algn="l">
              <a:spcAft>
                <a:spcPts val="0"/>
              </a:spcAft>
            </a:pPr>
            <a:r>
              <a:rPr sz="900" b="1" i="0">
                <a:solidFill>
                  <a:srgbClr val="26A99A"/>
                </a:solidFill>
                <a:latin typeface="Aptos"/>
              </a:rPr>
              <a:t>08 / DOCTOR VERIFICATION</a:t>
            </a:r>
          </a:p>
        </p:txBody>
      </p:sp>
      <p:sp>
        <p:nvSpPr>
          <p:cNvPr id="3" name="TextBox 2"/>
          <p:cNvSpPr txBox="1"/>
          <p:nvPr/>
        </p:nvSpPr>
        <p:spPr>
          <a:xfrm>
            <a:off x="594360" y="658368"/>
            <a:ext cx="10972800" cy="475488"/>
          </a:xfrm>
          <a:prstGeom prst="rect">
            <a:avLst/>
          </a:prstGeom>
          <a:noFill/>
        </p:spPr>
        <p:txBody>
          <a:bodyPr wrap="square" lIns="18288" rIns="18288" tIns="18288" bIns="18288" anchor="t">
            <a:spAutoFit/>
          </a:bodyPr>
          <a:lstStyle/>
          <a:p>
            <a:pPr algn="l">
              <a:spcAft>
                <a:spcPts val="0"/>
              </a:spcAft>
            </a:pPr>
            <a:r>
              <a:rPr sz="2700" b="1" i="0">
                <a:solidFill>
                  <a:srgbClr val="15364A"/>
                </a:solidFill>
                <a:latin typeface="Aptos"/>
              </a:rPr>
              <a:t>A transparent review journey builds trust</a:t>
            </a:r>
          </a:p>
        </p:txBody>
      </p:sp>
      <p:sp>
        <p:nvSpPr>
          <p:cNvPr id="4" name="TextBox 3"/>
          <p:cNvSpPr txBox="1"/>
          <p:nvPr/>
        </p:nvSpPr>
        <p:spPr>
          <a:xfrm>
            <a:off x="612648" y="1207008"/>
            <a:ext cx="10789920" cy="365760"/>
          </a:xfrm>
          <a:prstGeom prst="rect">
            <a:avLst/>
          </a:prstGeom>
          <a:noFill/>
        </p:spPr>
        <p:txBody>
          <a:bodyPr wrap="square" lIns="18288" rIns="18288" tIns="18288" bIns="18288" anchor="t">
            <a:spAutoFit/>
          </a:bodyPr>
          <a:lstStyle/>
          <a:p>
            <a:pPr algn="l">
              <a:spcAft>
                <a:spcPts val="0"/>
              </a:spcAft>
            </a:pPr>
            <a:r>
              <a:rPr sz="1250" b="0" i="0">
                <a:solidFill>
                  <a:srgbClr val="607889"/>
                </a:solidFill>
                <a:latin typeface="Aptos"/>
              </a:rPr>
              <a:t>The interface communicates progress; the verification decision remains with the agreed review process.</a:t>
            </a:r>
          </a:p>
        </p:txBody>
      </p:sp>
      <p:sp>
        <p:nvSpPr>
          <p:cNvPr id="5" name="Rounded Rectangle 4"/>
          <p:cNvSpPr/>
          <p:nvPr/>
        </p:nvSpPr>
        <p:spPr>
          <a:xfrm>
            <a:off x="731520" y="2148840"/>
            <a:ext cx="2466594" cy="1225296"/>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295144"/>
            <a:ext cx="274320" cy="274320"/>
          </a:xfrm>
          <a:prstGeom prst="ellipse">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04288"/>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1</a:t>
            </a:r>
          </a:p>
        </p:txBody>
      </p:sp>
      <p:sp>
        <p:nvSpPr>
          <p:cNvPr id="8" name="TextBox 7"/>
          <p:cNvSpPr txBox="1"/>
          <p:nvPr/>
        </p:nvSpPr>
        <p:spPr>
          <a:xfrm>
            <a:off x="1216152" y="2295144"/>
            <a:ext cx="1872234" cy="365760"/>
          </a:xfrm>
          <a:prstGeom prst="rect">
            <a:avLst/>
          </a:prstGeom>
          <a:noFill/>
        </p:spPr>
        <p:txBody>
          <a:bodyPr wrap="square" lIns="18288" rIns="18288" tIns="18288" bIns="18288" anchor="t">
            <a:spAutoFit/>
          </a:bodyPr>
          <a:lstStyle/>
          <a:p>
            <a:pPr algn="l">
              <a:spcAft>
                <a:spcPts val="0"/>
              </a:spcAft>
            </a:pPr>
            <a:r>
              <a:rPr sz="1200" b="1" i="0">
                <a:solidFill>
                  <a:srgbClr val="15364A"/>
                </a:solidFill>
                <a:latin typeface="Aptos"/>
              </a:rPr>
              <a:t>Details submitted</a:t>
            </a:r>
          </a:p>
        </p:txBody>
      </p:sp>
      <p:sp>
        <p:nvSpPr>
          <p:cNvPr id="9" name="TextBox 8"/>
          <p:cNvSpPr txBox="1"/>
          <p:nvPr/>
        </p:nvSpPr>
        <p:spPr>
          <a:xfrm>
            <a:off x="896112" y="2724912"/>
            <a:ext cx="2146553"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Personal and
professional profile</a:t>
            </a:r>
          </a:p>
        </p:txBody>
      </p:sp>
      <p:cxnSp>
        <p:nvCxnSpPr>
          <p:cNvPr id="10" name="Connector 9"/>
          <p:cNvCxnSpPr/>
          <p:nvPr/>
        </p:nvCxnSpPr>
        <p:spPr>
          <a:xfrm>
            <a:off x="3234689" y="2761488"/>
            <a:ext cx="219456" cy="0"/>
          </a:xfrm>
          <a:prstGeom prst="line">
            <a:avLst/>
          </a:prstGeom>
          <a:ln w="17780">
            <a:solidFill>
              <a:srgbClr val="26A99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362705" y="2633472"/>
            <a:ext cx="182880" cy="256032"/>
          </a:xfrm>
          <a:prstGeom prst="rect">
            <a:avLst/>
          </a:prstGeom>
          <a:noFill/>
        </p:spPr>
        <p:txBody>
          <a:bodyPr wrap="square" lIns="18288" rIns="18288" tIns="18288" bIns="18288" anchor="t">
            <a:spAutoFit/>
          </a:bodyPr>
          <a:lstStyle/>
          <a:p>
            <a:pPr algn="ctr">
              <a:spcAft>
                <a:spcPts val="0"/>
              </a:spcAft>
            </a:pPr>
            <a:r>
              <a:rPr sz="1600" b="1" i="0">
                <a:solidFill>
                  <a:srgbClr val="26A99A"/>
                </a:solidFill>
                <a:latin typeface="Aptos"/>
              </a:rPr>
              <a:t>›</a:t>
            </a:r>
          </a:p>
        </p:txBody>
      </p:sp>
      <p:sp>
        <p:nvSpPr>
          <p:cNvPr id="12" name="Rounded Rectangle 11"/>
          <p:cNvSpPr/>
          <p:nvPr/>
        </p:nvSpPr>
        <p:spPr>
          <a:xfrm>
            <a:off x="3490722" y="2148840"/>
            <a:ext cx="2466594" cy="1225296"/>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27882" y="2295144"/>
            <a:ext cx="274320" cy="274320"/>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27882" y="2304288"/>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2</a:t>
            </a:r>
          </a:p>
        </p:txBody>
      </p:sp>
      <p:sp>
        <p:nvSpPr>
          <p:cNvPr id="15" name="TextBox 14"/>
          <p:cNvSpPr txBox="1"/>
          <p:nvPr/>
        </p:nvSpPr>
        <p:spPr>
          <a:xfrm>
            <a:off x="3975354" y="2295144"/>
            <a:ext cx="1872234" cy="365760"/>
          </a:xfrm>
          <a:prstGeom prst="rect">
            <a:avLst/>
          </a:prstGeom>
          <a:noFill/>
        </p:spPr>
        <p:txBody>
          <a:bodyPr wrap="square" lIns="18288" rIns="18288" tIns="18288" bIns="18288" anchor="t">
            <a:spAutoFit/>
          </a:bodyPr>
          <a:lstStyle/>
          <a:p>
            <a:pPr algn="l">
              <a:spcAft>
                <a:spcPts val="0"/>
              </a:spcAft>
            </a:pPr>
            <a:r>
              <a:rPr sz="1200" b="1" i="0">
                <a:solidFill>
                  <a:srgbClr val="15364A"/>
                </a:solidFill>
                <a:latin typeface="Aptos"/>
              </a:rPr>
              <a:t>Documents received</a:t>
            </a:r>
          </a:p>
        </p:txBody>
      </p:sp>
      <p:sp>
        <p:nvSpPr>
          <p:cNvPr id="16" name="TextBox 15"/>
          <p:cNvSpPr txBox="1"/>
          <p:nvPr/>
        </p:nvSpPr>
        <p:spPr>
          <a:xfrm>
            <a:off x="3655314" y="2724912"/>
            <a:ext cx="2146553"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Proof of registration,
identity and photo</a:t>
            </a:r>
          </a:p>
        </p:txBody>
      </p:sp>
      <p:cxnSp>
        <p:nvCxnSpPr>
          <p:cNvPr id="17" name="Connector 16"/>
          <p:cNvCxnSpPr/>
          <p:nvPr/>
        </p:nvCxnSpPr>
        <p:spPr>
          <a:xfrm>
            <a:off x="5993892" y="2761488"/>
            <a:ext cx="219456" cy="0"/>
          </a:xfrm>
          <a:prstGeom prst="line">
            <a:avLst/>
          </a:prstGeom>
          <a:ln w="17780">
            <a:solidFill>
              <a:srgbClr val="26A99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121908" y="2633472"/>
            <a:ext cx="182880" cy="256032"/>
          </a:xfrm>
          <a:prstGeom prst="rect">
            <a:avLst/>
          </a:prstGeom>
          <a:noFill/>
        </p:spPr>
        <p:txBody>
          <a:bodyPr wrap="square" lIns="18288" rIns="18288" tIns="18288" bIns="18288" anchor="t">
            <a:spAutoFit/>
          </a:bodyPr>
          <a:lstStyle/>
          <a:p>
            <a:pPr algn="ctr">
              <a:spcAft>
                <a:spcPts val="0"/>
              </a:spcAft>
            </a:pPr>
            <a:r>
              <a:rPr sz="1600" b="1" i="0">
                <a:solidFill>
                  <a:srgbClr val="26A99A"/>
                </a:solidFill>
                <a:latin typeface="Aptos"/>
              </a:rPr>
              <a:t>›</a:t>
            </a:r>
          </a:p>
        </p:txBody>
      </p:sp>
      <p:sp>
        <p:nvSpPr>
          <p:cNvPr id="19" name="Rounded Rectangle 18"/>
          <p:cNvSpPr/>
          <p:nvPr/>
        </p:nvSpPr>
        <p:spPr>
          <a:xfrm>
            <a:off x="6249923" y="2148840"/>
            <a:ext cx="2466594" cy="1225296"/>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87083" y="2295144"/>
            <a:ext cx="274320" cy="274320"/>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7083" y="2304288"/>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3</a:t>
            </a:r>
          </a:p>
        </p:txBody>
      </p:sp>
      <p:sp>
        <p:nvSpPr>
          <p:cNvPr id="22" name="TextBox 21"/>
          <p:cNvSpPr txBox="1"/>
          <p:nvPr/>
        </p:nvSpPr>
        <p:spPr>
          <a:xfrm>
            <a:off x="6734555" y="2295144"/>
            <a:ext cx="1872234" cy="365760"/>
          </a:xfrm>
          <a:prstGeom prst="rect">
            <a:avLst/>
          </a:prstGeom>
          <a:noFill/>
        </p:spPr>
        <p:txBody>
          <a:bodyPr wrap="square" lIns="18288" rIns="18288" tIns="18288" bIns="18288" anchor="t">
            <a:spAutoFit/>
          </a:bodyPr>
          <a:lstStyle/>
          <a:p>
            <a:pPr algn="l">
              <a:spcAft>
                <a:spcPts val="0"/>
              </a:spcAft>
            </a:pPr>
            <a:r>
              <a:rPr sz="1200" b="1" i="0">
                <a:solidFill>
                  <a:srgbClr val="15364A"/>
                </a:solidFill>
                <a:latin typeface="Aptos"/>
              </a:rPr>
              <a:t>Registration review</a:t>
            </a:r>
          </a:p>
        </p:txBody>
      </p:sp>
      <p:sp>
        <p:nvSpPr>
          <p:cNvPr id="23" name="TextBox 22"/>
          <p:cNvSpPr txBox="1"/>
          <p:nvPr/>
        </p:nvSpPr>
        <p:spPr>
          <a:xfrm>
            <a:off x="6414515" y="2724912"/>
            <a:ext cx="2146553"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Manual or approved
service review</a:t>
            </a:r>
          </a:p>
        </p:txBody>
      </p:sp>
      <p:cxnSp>
        <p:nvCxnSpPr>
          <p:cNvPr id="24" name="Connector 23"/>
          <p:cNvCxnSpPr/>
          <p:nvPr/>
        </p:nvCxnSpPr>
        <p:spPr>
          <a:xfrm>
            <a:off x="8753093" y="2761488"/>
            <a:ext cx="219457" cy="0"/>
          </a:xfrm>
          <a:prstGeom prst="line">
            <a:avLst/>
          </a:prstGeom>
          <a:ln w="17780">
            <a:solidFill>
              <a:srgbClr val="26A99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881110" y="2633472"/>
            <a:ext cx="182880" cy="256032"/>
          </a:xfrm>
          <a:prstGeom prst="rect">
            <a:avLst/>
          </a:prstGeom>
          <a:noFill/>
        </p:spPr>
        <p:txBody>
          <a:bodyPr wrap="square" lIns="18288" rIns="18288" tIns="18288" bIns="18288" anchor="t">
            <a:spAutoFit/>
          </a:bodyPr>
          <a:lstStyle/>
          <a:p>
            <a:pPr algn="ctr">
              <a:spcAft>
                <a:spcPts val="0"/>
              </a:spcAft>
            </a:pPr>
            <a:r>
              <a:rPr sz="1600" b="1" i="0">
                <a:solidFill>
                  <a:srgbClr val="26A99A"/>
                </a:solidFill>
                <a:latin typeface="Aptos"/>
              </a:rPr>
              <a:t>›</a:t>
            </a:r>
          </a:p>
        </p:txBody>
      </p:sp>
      <p:sp>
        <p:nvSpPr>
          <p:cNvPr id="26" name="Rounded Rectangle 25"/>
          <p:cNvSpPr/>
          <p:nvPr/>
        </p:nvSpPr>
        <p:spPr>
          <a:xfrm>
            <a:off x="9009126" y="2148840"/>
            <a:ext cx="2466594" cy="1225296"/>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46286" y="2295144"/>
            <a:ext cx="274320" cy="274320"/>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6286" y="2304288"/>
            <a:ext cx="274320" cy="18288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4</a:t>
            </a:r>
          </a:p>
        </p:txBody>
      </p:sp>
      <p:sp>
        <p:nvSpPr>
          <p:cNvPr id="29" name="TextBox 28"/>
          <p:cNvSpPr txBox="1"/>
          <p:nvPr/>
        </p:nvSpPr>
        <p:spPr>
          <a:xfrm>
            <a:off x="9493757" y="2295144"/>
            <a:ext cx="1872234" cy="365760"/>
          </a:xfrm>
          <a:prstGeom prst="rect">
            <a:avLst/>
          </a:prstGeom>
          <a:noFill/>
        </p:spPr>
        <p:txBody>
          <a:bodyPr wrap="square" lIns="18288" rIns="18288" tIns="18288" bIns="18288" anchor="t">
            <a:spAutoFit/>
          </a:bodyPr>
          <a:lstStyle/>
          <a:p>
            <a:pPr algn="l">
              <a:spcAft>
                <a:spcPts val="0"/>
              </a:spcAft>
            </a:pPr>
            <a:r>
              <a:rPr sz="1200" b="1" i="0">
                <a:solidFill>
                  <a:srgbClr val="15364A"/>
                </a:solidFill>
                <a:latin typeface="Aptos"/>
              </a:rPr>
              <a:t>Outcome shared</a:t>
            </a:r>
          </a:p>
        </p:txBody>
      </p:sp>
      <p:sp>
        <p:nvSpPr>
          <p:cNvPr id="30" name="TextBox 29"/>
          <p:cNvSpPr txBox="1"/>
          <p:nvPr/>
        </p:nvSpPr>
        <p:spPr>
          <a:xfrm>
            <a:off x="9173717" y="2724912"/>
            <a:ext cx="2146553" cy="365760"/>
          </a:xfrm>
          <a:prstGeom prst="rect">
            <a:avLst/>
          </a:prstGeom>
          <a:noFill/>
        </p:spPr>
        <p:txBody>
          <a:bodyPr wrap="square" lIns="18288" rIns="18288" tIns="18288" bIns="18288" anchor="t">
            <a:spAutoFit/>
          </a:bodyPr>
          <a:lstStyle/>
          <a:p>
            <a:pPr algn="l">
              <a:spcAft>
                <a:spcPts val="0"/>
              </a:spcAft>
            </a:pPr>
            <a:r>
              <a:rPr sz="950" b="0" i="0">
                <a:solidFill>
                  <a:srgbClr val="607889"/>
                </a:solidFill>
                <a:latin typeface="Aptos"/>
              </a:rPr>
              <a:t>Approved, more info
needed or declined</a:t>
            </a:r>
          </a:p>
        </p:txBody>
      </p:sp>
      <p:sp>
        <p:nvSpPr>
          <p:cNvPr id="31" name="Rounded Rectangle 30"/>
          <p:cNvSpPr/>
          <p:nvPr/>
        </p:nvSpPr>
        <p:spPr>
          <a:xfrm>
            <a:off x="749808" y="4160520"/>
            <a:ext cx="3419856" cy="132588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9808" y="4160520"/>
            <a:ext cx="64008" cy="1325880"/>
          </a:xfrm>
          <a:prstGeom prst="rect">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0976" y="4315968"/>
            <a:ext cx="3035808" cy="292608"/>
          </a:xfrm>
          <a:prstGeom prst="rect">
            <a:avLst/>
          </a:prstGeom>
          <a:noFill/>
        </p:spPr>
        <p:txBody>
          <a:bodyPr wrap="square" lIns="18288" rIns="18288" tIns="18288" bIns="18288" anchor="t">
            <a:spAutoFit/>
          </a:bodyPr>
          <a:lstStyle/>
          <a:p>
            <a:pPr algn="l">
              <a:spcAft>
                <a:spcPts val="0"/>
              </a:spcAft>
            </a:pPr>
            <a:r>
              <a:rPr sz="1300" b="1" i="0">
                <a:solidFill>
                  <a:srgbClr val="15364A"/>
                </a:solidFill>
                <a:latin typeface="Aptos"/>
              </a:rPr>
              <a:t>Status timeline</a:t>
            </a:r>
          </a:p>
        </p:txBody>
      </p:sp>
      <p:sp>
        <p:nvSpPr>
          <p:cNvPr id="34" name="TextBox 33"/>
          <p:cNvSpPr txBox="1"/>
          <p:nvPr/>
        </p:nvSpPr>
        <p:spPr>
          <a:xfrm>
            <a:off x="950976" y="4690872"/>
            <a:ext cx="3035808" cy="667512"/>
          </a:xfrm>
          <a:prstGeom prst="rect">
            <a:avLst/>
          </a:prstGeom>
          <a:noFill/>
        </p:spPr>
        <p:txBody>
          <a:bodyPr wrap="square" lIns="18288" rIns="18288" tIns="18288" bIns="18288" anchor="t">
            <a:spAutoFit/>
          </a:bodyPr>
          <a:lstStyle/>
          <a:p>
            <a:pPr algn="l">
              <a:spcAft>
                <a:spcPts val="0"/>
              </a:spcAft>
            </a:pPr>
            <a:r>
              <a:rPr sz="1050" b="0" i="0">
                <a:solidFill>
                  <a:srgbClr val="607889"/>
                </a:solidFill>
                <a:latin typeface="Aptos"/>
              </a:rPr>
              <a:t>Completed, in review and upcoming stages; last-updated date; next expected action.</a:t>
            </a:r>
          </a:p>
        </p:txBody>
      </p:sp>
      <p:sp>
        <p:nvSpPr>
          <p:cNvPr id="35" name="Rounded Rectangle 34"/>
          <p:cNvSpPr/>
          <p:nvPr/>
        </p:nvSpPr>
        <p:spPr>
          <a:xfrm>
            <a:off x="4370832" y="4160520"/>
            <a:ext cx="3419856" cy="132588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70832" y="4160520"/>
            <a:ext cx="64008" cy="1325880"/>
          </a:xfrm>
          <a:prstGeom prst="rect">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0" y="4315968"/>
            <a:ext cx="3035808" cy="292608"/>
          </a:xfrm>
          <a:prstGeom prst="rect">
            <a:avLst/>
          </a:prstGeom>
          <a:noFill/>
        </p:spPr>
        <p:txBody>
          <a:bodyPr wrap="square" lIns="18288" rIns="18288" tIns="18288" bIns="18288" anchor="t">
            <a:spAutoFit/>
          </a:bodyPr>
          <a:lstStyle/>
          <a:p>
            <a:pPr algn="l">
              <a:spcAft>
                <a:spcPts val="0"/>
              </a:spcAft>
            </a:pPr>
            <a:r>
              <a:rPr sz="1300" b="1" i="0">
                <a:solidFill>
                  <a:srgbClr val="15364A"/>
                </a:solidFill>
                <a:latin typeface="Aptos"/>
              </a:rPr>
              <a:t>Doctor actions</a:t>
            </a:r>
          </a:p>
        </p:txBody>
      </p:sp>
      <p:sp>
        <p:nvSpPr>
          <p:cNvPr id="38" name="TextBox 37"/>
          <p:cNvSpPr txBox="1"/>
          <p:nvPr/>
        </p:nvSpPr>
        <p:spPr>
          <a:xfrm>
            <a:off x="4572000" y="4690872"/>
            <a:ext cx="3035808" cy="667512"/>
          </a:xfrm>
          <a:prstGeom prst="rect">
            <a:avLst/>
          </a:prstGeom>
          <a:noFill/>
        </p:spPr>
        <p:txBody>
          <a:bodyPr wrap="square" lIns="18288" rIns="18288" tIns="18288" bIns="18288" anchor="t">
            <a:spAutoFit/>
          </a:bodyPr>
          <a:lstStyle/>
          <a:p>
            <a:pPr algn="l">
              <a:spcAft>
                <a:spcPts val="0"/>
              </a:spcAft>
            </a:pPr>
            <a:r>
              <a:rPr sz="1050" b="0" i="0">
                <a:solidFill>
                  <a:srgbClr val="607889"/>
                </a:solidFill>
                <a:latin typeface="Aptos"/>
              </a:rPr>
              <a:t>Refresh status, correct missing information, re-upload requested evidence and contact support.</a:t>
            </a:r>
          </a:p>
        </p:txBody>
      </p:sp>
      <p:sp>
        <p:nvSpPr>
          <p:cNvPr id="39" name="Rounded Rectangle 38"/>
          <p:cNvSpPr/>
          <p:nvPr/>
        </p:nvSpPr>
        <p:spPr>
          <a:xfrm>
            <a:off x="7991856" y="4160520"/>
            <a:ext cx="3419856" cy="132588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91856" y="4160520"/>
            <a:ext cx="64008" cy="1325880"/>
          </a:xfrm>
          <a:prstGeom prst="rect">
            <a:avLst/>
          </a:prstGeom>
          <a:solidFill>
            <a:srgbClr val="E6A94E"/>
          </a:solidFill>
          <a:ln>
            <a:solidFill>
              <a:srgbClr val="E6A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93024" y="4315968"/>
            <a:ext cx="3035808" cy="292608"/>
          </a:xfrm>
          <a:prstGeom prst="rect">
            <a:avLst/>
          </a:prstGeom>
          <a:noFill/>
        </p:spPr>
        <p:txBody>
          <a:bodyPr wrap="square" lIns="18288" rIns="18288" tIns="18288" bIns="18288" anchor="t">
            <a:spAutoFit/>
          </a:bodyPr>
          <a:lstStyle/>
          <a:p>
            <a:pPr algn="l">
              <a:spcAft>
                <a:spcPts val="0"/>
              </a:spcAft>
            </a:pPr>
            <a:r>
              <a:rPr sz="1300" b="1" i="0">
                <a:solidFill>
                  <a:srgbClr val="15364A"/>
                </a:solidFill>
                <a:latin typeface="Aptos"/>
              </a:rPr>
              <a:t>Trust boundary</a:t>
            </a:r>
          </a:p>
        </p:txBody>
      </p:sp>
      <p:sp>
        <p:nvSpPr>
          <p:cNvPr id="42" name="TextBox 41"/>
          <p:cNvSpPr txBox="1"/>
          <p:nvPr/>
        </p:nvSpPr>
        <p:spPr>
          <a:xfrm>
            <a:off x="8193024" y="4690872"/>
            <a:ext cx="3035808" cy="667512"/>
          </a:xfrm>
          <a:prstGeom prst="rect">
            <a:avLst/>
          </a:prstGeom>
          <a:noFill/>
        </p:spPr>
        <p:txBody>
          <a:bodyPr wrap="square" lIns="18288" rIns="18288" tIns="18288" bIns="18288" anchor="t">
            <a:spAutoFit/>
          </a:bodyPr>
          <a:lstStyle/>
          <a:p>
            <a:pPr algn="l">
              <a:spcAft>
                <a:spcPts val="0"/>
              </a:spcAft>
            </a:pPr>
            <a:r>
              <a:rPr sz="1050" b="0" i="0">
                <a:solidFill>
                  <a:srgbClr val="607889"/>
                </a:solidFill>
                <a:latin typeface="Aptos"/>
              </a:rPr>
              <a:t>Approval badges and discoverability must only reflect a verified backend status.</a:t>
            </a:r>
          </a:p>
        </p:txBody>
      </p:sp>
      <p:cxnSp>
        <p:nvCxnSpPr>
          <p:cNvPr id="43" name="Connector 42"/>
          <p:cNvCxnSpPr/>
          <p:nvPr/>
        </p:nvCxnSpPr>
        <p:spPr>
          <a:xfrm>
            <a:off x="502920" y="6510528"/>
            <a:ext cx="11183112" cy="0"/>
          </a:xfrm>
          <a:prstGeom prst="line">
            <a:avLst/>
          </a:prstGeom>
          <a:ln w="8890">
            <a:solidFill>
              <a:srgbClr val="DCE7ED"/>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48640" y="6574536"/>
            <a:ext cx="6858000" cy="164592"/>
          </a:xfrm>
          <a:prstGeom prst="rect">
            <a:avLst/>
          </a:prstGeom>
          <a:noFill/>
        </p:spPr>
        <p:txBody>
          <a:bodyPr wrap="square" lIns="18288" rIns="18288" tIns="18288" bIns="18288" anchor="t">
            <a:spAutoFit/>
          </a:bodyPr>
          <a:lstStyle/>
          <a:p>
            <a:pPr algn="l">
              <a:spcAft>
                <a:spcPts val="0"/>
              </a:spcAft>
            </a:pPr>
            <a:r>
              <a:rPr sz="800" b="1" i="0">
                <a:solidFill>
                  <a:srgbClr val="607889"/>
                </a:solidFill>
                <a:latin typeface="Aptos"/>
              </a:rPr>
              <a:t>HEALTHCARE CONNECT  /  UI PLAN  •  WORKING DRAFT</a:t>
            </a:r>
          </a:p>
        </p:txBody>
      </p:sp>
      <p:sp>
        <p:nvSpPr>
          <p:cNvPr id="45" name="TextBox 44"/>
          <p:cNvSpPr txBox="1"/>
          <p:nvPr/>
        </p:nvSpPr>
        <p:spPr>
          <a:xfrm>
            <a:off x="10972800" y="6565392"/>
            <a:ext cx="594360" cy="182880"/>
          </a:xfrm>
          <a:prstGeom prst="rect">
            <a:avLst/>
          </a:prstGeom>
          <a:noFill/>
        </p:spPr>
        <p:txBody>
          <a:bodyPr wrap="square" lIns="18288" rIns="18288" tIns="18288" bIns="18288" anchor="t">
            <a:spAutoFit/>
          </a:bodyPr>
          <a:lstStyle/>
          <a:p>
            <a:pPr algn="r">
              <a:spcAft>
                <a:spcPts val="0"/>
              </a:spcAft>
            </a:pPr>
            <a:r>
              <a:rPr sz="900" b="1" i="0">
                <a:solidFill>
                  <a:srgbClr val="607889"/>
                </a:solidFill>
                <a:latin typeface="Apto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594360" y="384048"/>
            <a:ext cx="4114800" cy="201168"/>
          </a:xfrm>
          <a:prstGeom prst="rect">
            <a:avLst/>
          </a:prstGeom>
          <a:noFill/>
        </p:spPr>
        <p:txBody>
          <a:bodyPr wrap="square" lIns="18288" rIns="18288" tIns="18288" bIns="18288" anchor="t">
            <a:spAutoFit/>
          </a:bodyPr>
          <a:lstStyle/>
          <a:p>
            <a:pPr algn="l">
              <a:spcAft>
                <a:spcPts val="0"/>
              </a:spcAft>
            </a:pPr>
            <a:r>
              <a:rPr sz="900" b="1" i="0">
                <a:solidFill>
                  <a:srgbClr val="26A99A"/>
                </a:solidFill>
                <a:latin typeface="Aptos"/>
              </a:rPr>
              <a:t>09 / INFORMATION ARCHITECTURE</a:t>
            </a:r>
          </a:p>
        </p:txBody>
      </p:sp>
      <p:sp>
        <p:nvSpPr>
          <p:cNvPr id="3" name="TextBox 2"/>
          <p:cNvSpPr txBox="1"/>
          <p:nvPr/>
        </p:nvSpPr>
        <p:spPr>
          <a:xfrm>
            <a:off x="594360" y="658368"/>
            <a:ext cx="10972800" cy="475488"/>
          </a:xfrm>
          <a:prstGeom prst="rect">
            <a:avLst/>
          </a:prstGeom>
          <a:noFill/>
        </p:spPr>
        <p:txBody>
          <a:bodyPr wrap="square" lIns="18288" rIns="18288" tIns="18288" bIns="18288" anchor="t">
            <a:spAutoFit/>
          </a:bodyPr>
          <a:lstStyle/>
          <a:p>
            <a:pPr algn="l">
              <a:spcAft>
                <a:spcPts val="0"/>
              </a:spcAft>
            </a:pPr>
            <a:r>
              <a:rPr sz="2700" b="1" i="0">
                <a:solidFill>
                  <a:srgbClr val="15364A"/>
                </a:solidFill>
                <a:latin typeface="Aptos"/>
              </a:rPr>
              <a:t>Route families keep the experience easy to understand</a:t>
            </a:r>
          </a:p>
        </p:txBody>
      </p:sp>
      <p:sp>
        <p:nvSpPr>
          <p:cNvPr id="4" name="TextBox 3"/>
          <p:cNvSpPr txBox="1"/>
          <p:nvPr/>
        </p:nvSpPr>
        <p:spPr>
          <a:xfrm>
            <a:off x="612648" y="1207008"/>
            <a:ext cx="10789920" cy="365760"/>
          </a:xfrm>
          <a:prstGeom prst="rect">
            <a:avLst/>
          </a:prstGeom>
          <a:noFill/>
        </p:spPr>
        <p:txBody>
          <a:bodyPr wrap="square" lIns="18288" rIns="18288" tIns="18288" bIns="18288" anchor="t">
            <a:spAutoFit/>
          </a:bodyPr>
          <a:lstStyle/>
          <a:p>
            <a:pPr algn="l">
              <a:spcAft>
                <a:spcPts val="0"/>
              </a:spcAft>
            </a:pPr>
            <a:r>
              <a:rPr sz="1250" b="0" i="0">
                <a:solidFill>
                  <a:srgbClr val="607889"/>
                </a:solidFill>
                <a:latin typeface="Aptos"/>
              </a:rPr>
              <a:t>Twenty proposed primary screens/routes are grouped by audience and task; a route is not necessarily a separate page.</a:t>
            </a:r>
          </a:p>
        </p:txBody>
      </p:sp>
      <p:sp>
        <p:nvSpPr>
          <p:cNvPr id="5" name="Rounded Rectangle 4"/>
          <p:cNvSpPr/>
          <p:nvPr/>
        </p:nvSpPr>
        <p:spPr>
          <a:xfrm>
            <a:off x="694944" y="1828800"/>
            <a:ext cx="5212080" cy="1298448"/>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94944" y="1828800"/>
            <a:ext cx="64008" cy="1298448"/>
          </a:xfrm>
          <a:prstGeom prst="rect">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84248"/>
            <a:ext cx="4828032" cy="292608"/>
          </a:xfrm>
          <a:prstGeom prst="rect">
            <a:avLst/>
          </a:prstGeom>
          <a:noFill/>
        </p:spPr>
        <p:txBody>
          <a:bodyPr wrap="square" lIns="18288" rIns="18288" tIns="18288" bIns="18288" anchor="t">
            <a:spAutoFit/>
          </a:bodyPr>
          <a:lstStyle/>
          <a:p>
            <a:pPr algn="l">
              <a:spcAft>
                <a:spcPts val="0"/>
              </a:spcAft>
            </a:pPr>
            <a:r>
              <a:rPr sz="1500" b="1" i="0">
                <a:solidFill>
                  <a:srgbClr val="15364A"/>
                </a:solidFill>
                <a:latin typeface="Aptos"/>
              </a:rPr>
              <a:t>Public discovery</a:t>
            </a:r>
          </a:p>
        </p:txBody>
      </p:sp>
      <p:sp>
        <p:nvSpPr>
          <p:cNvPr id="8" name="TextBox 7"/>
          <p:cNvSpPr txBox="1"/>
          <p:nvPr/>
        </p:nvSpPr>
        <p:spPr>
          <a:xfrm>
            <a:off x="896112" y="2359152"/>
            <a:ext cx="4828032" cy="640080"/>
          </a:xfrm>
          <a:prstGeom prst="rect">
            <a:avLst/>
          </a:prstGeom>
          <a:noFill/>
        </p:spPr>
        <p:txBody>
          <a:bodyPr wrap="square" lIns="18288" rIns="18288" tIns="18288" bIns="18288" anchor="t">
            <a:spAutoFit/>
          </a:bodyPr>
          <a:lstStyle/>
          <a:p>
            <a:pPr algn="l">
              <a:spcAft>
                <a:spcPts val="0"/>
              </a:spcAft>
            </a:pPr>
            <a:r>
              <a:rPr sz="1100" b="0" i="0">
                <a:solidFill>
                  <a:srgbClr val="607889"/>
                </a:solidFill>
                <a:latin typeface="Aptos"/>
              </a:rPr>
              <a:t>Home  •  Search  •  Doctor profile
About  •  Policies</a:t>
            </a:r>
          </a:p>
        </p:txBody>
      </p:sp>
      <p:sp>
        <p:nvSpPr>
          <p:cNvPr id="9" name="Rounded Rectangle 8"/>
          <p:cNvSpPr/>
          <p:nvPr/>
        </p:nvSpPr>
        <p:spPr>
          <a:xfrm>
            <a:off x="6291072" y="1828800"/>
            <a:ext cx="5212080" cy="1298448"/>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91072" y="1828800"/>
            <a:ext cx="64008" cy="1298448"/>
          </a:xfrm>
          <a:prstGeom prst="rect">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984248"/>
            <a:ext cx="4828032" cy="292608"/>
          </a:xfrm>
          <a:prstGeom prst="rect">
            <a:avLst/>
          </a:prstGeom>
          <a:noFill/>
        </p:spPr>
        <p:txBody>
          <a:bodyPr wrap="square" lIns="18288" rIns="18288" tIns="18288" bIns="18288" anchor="t">
            <a:spAutoFit/>
          </a:bodyPr>
          <a:lstStyle/>
          <a:p>
            <a:pPr algn="l">
              <a:spcAft>
                <a:spcPts val="0"/>
              </a:spcAft>
            </a:pPr>
            <a:r>
              <a:rPr sz="1500" b="1" i="0">
                <a:solidFill>
                  <a:srgbClr val="15364A"/>
                </a:solidFill>
                <a:latin typeface="Aptos"/>
              </a:rPr>
              <a:t>Identity &amp; booking</a:t>
            </a:r>
          </a:p>
        </p:txBody>
      </p:sp>
      <p:sp>
        <p:nvSpPr>
          <p:cNvPr id="12" name="TextBox 11"/>
          <p:cNvSpPr txBox="1"/>
          <p:nvPr/>
        </p:nvSpPr>
        <p:spPr>
          <a:xfrm>
            <a:off x="6492240" y="2359152"/>
            <a:ext cx="4828032" cy="640080"/>
          </a:xfrm>
          <a:prstGeom prst="rect">
            <a:avLst/>
          </a:prstGeom>
          <a:noFill/>
        </p:spPr>
        <p:txBody>
          <a:bodyPr wrap="square" lIns="18288" rIns="18288" tIns="18288" bIns="18288" anchor="t">
            <a:spAutoFit/>
          </a:bodyPr>
          <a:lstStyle/>
          <a:p>
            <a:pPr algn="l">
              <a:spcAft>
                <a:spcPts val="0"/>
              </a:spcAft>
            </a:pPr>
            <a:r>
              <a:rPr sz="1100" b="0" i="0">
                <a:solidFill>
                  <a:srgbClr val="607889"/>
                </a:solidFill>
                <a:latin typeface="Aptos"/>
              </a:rPr>
              <a:t>Patient / Doctor sign-in  •  Sign-up
OTP  •  Password reset  •  Booking</a:t>
            </a:r>
          </a:p>
        </p:txBody>
      </p:sp>
      <p:sp>
        <p:nvSpPr>
          <p:cNvPr id="13" name="Rounded Rectangle 12"/>
          <p:cNvSpPr/>
          <p:nvPr/>
        </p:nvSpPr>
        <p:spPr>
          <a:xfrm>
            <a:off x="694944" y="3474720"/>
            <a:ext cx="5212080" cy="1298448"/>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4944" y="3474720"/>
            <a:ext cx="64008" cy="1298448"/>
          </a:xfrm>
          <a:prstGeom prst="rect">
            <a:avLst/>
          </a:prstGeom>
          <a:solidFill>
            <a:srgbClr val="E6A94E"/>
          </a:solidFill>
          <a:ln>
            <a:solidFill>
              <a:srgbClr val="E6A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630168"/>
            <a:ext cx="4828032" cy="292608"/>
          </a:xfrm>
          <a:prstGeom prst="rect">
            <a:avLst/>
          </a:prstGeom>
          <a:noFill/>
        </p:spPr>
        <p:txBody>
          <a:bodyPr wrap="square" lIns="18288" rIns="18288" tIns="18288" bIns="18288" anchor="t">
            <a:spAutoFit/>
          </a:bodyPr>
          <a:lstStyle/>
          <a:p>
            <a:pPr algn="l">
              <a:spcAft>
                <a:spcPts val="0"/>
              </a:spcAft>
            </a:pPr>
            <a:r>
              <a:rPr sz="1500" b="1" i="0">
                <a:solidFill>
                  <a:srgbClr val="15364A"/>
                </a:solidFill>
                <a:latin typeface="Aptos"/>
              </a:rPr>
              <a:t>Patient care</a:t>
            </a:r>
          </a:p>
        </p:txBody>
      </p:sp>
      <p:sp>
        <p:nvSpPr>
          <p:cNvPr id="16" name="TextBox 15"/>
          <p:cNvSpPr txBox="1"/>
          <p:nvPr/>
        </p:nvSpPr>
        <p:spPr>
          <a:xfrm>
            <a:off x="896112" y="4005072"/>
            <a:ext cx="4828032" cy="640080"/>
          </a:xfrm>
          <a:prstGeom prst="rect">
            <a:avLst/>
          </a:prstGeom>
          <a:noFill/>
        </p:spPr>
        <p:txBody>
          <a:bodyPr wrap="square" lIns="18288" rIns="18288" tIns="18288" bIns="18288" anchor="t">
            <a:spAutoFit/>
          </a:bodyPr>
          <a:lstStyle/>
          <a:p>
            <a:pPr algn="l">
              <a:spcAft>
                <a:spcPts val="0"/>
              </a:spcAft>
            </a:pPr>
            <a:r>
              <a:rPr sz="1100" b="0" i="0">
                <a:solidFill>
                  <a:srgbClr val="607889"/>
                </a:solidFill>
                <a:latin typeface="Aptos"/>
              </a:rPr>
              <a:t>Razorpay hand-off  •  Confirmation
Appointments</a:t>
            </a:r>
          </a:p>
        </p:txBody>
      </p:sp>
      <p:sp>
        <p:nvSpPr>
          <p:cNvPr id="17" name="Rounded Rectangle 16"/>
          <p:cNvSpPr/>
          <p:nvPr/>
        </p:nvSpPr>
        <p:spPr>
          <a:xfrm>
            <a:off x="6291072" y="3474720"/>
            <a:ext cx="5212080" cy="1298448"/>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91072" y="3474720"/>
            <a:ext cx="64008" cy="1298448"/>
          </a:xfrm>
          <a:prstGeom prst="rect">
            <a:avLst/>
          </a:prstGeom>
          <a:solidFill>
            <a:srgbClr val="D97768"/>
          </a:solidFill>
          <a:ln>
            <a:solidFill>
              <a:srgbClr val="D977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3630168"/>
            <a:ext cx="4828032" cy="292608"/>
          </a:xfrm>
          <a:prstGeom prst="rect">
            <a:avLst/>
          </a:prstGeom>
          <a:noFill/>
        </p:spPr>
        <p:txBody>
          <a:bodyPr wrap="square" lIns="18288" rIns="18288" tIns="18288" bIns="18288" anchor="t">
            <a:spAutoFit/>
          </a:bodyPr>
          <a:lstStyle/>
          <a:p>
            <a:pPr algn="l">
              <a:spcAft>
                <a:spcPts val="0"/>
              </a:spcAft>
            </a:pPr>
            <a:r>
              <a:rPr sz="1500" b="1" i="0">
                <a:solidFill>
                  <a:srgbClr val="15364A"/>
                </a:solidFill>
                <a:latin typeface="Aptos"/>
              </a:rPr>
              <a:t>Doctor workspace</a:t>
            </a:r>
          </a:p>
        </p:txBody>
      </p:sp>
      <p:sp>
        <p:nvSpPr>
          <p:cNvPr id="20" name="TextBox 19"/>
          <p:cNvSpPr txBox="1"/>
          <p:nvPr/>
        </p:nvSpPr>
        <p:spPr>
          <a:xfrm>
            <a:off x="6492240" y="4005072"/>
            <a:ext cx="4828032" cy="640080"/>
          </a:xfrm>
          <a:prstGeom prst="rect">
            <a:avLst/>
          </a:prstGeom>
          <a:noFill/>
        </p:spPr>
        <p:txBody>
          <a:bodyPr wrap="square" lIns="18288" rIns="18288" tIns="18288" bIns="18288" anchor="t">
            <a:spAutoFit/>
          </a:bodyPr>
          <a:lstStyle/>
          <a:p>
            <a:pPr algn="l">
              <a:spcAft>
                <a:spcPts val="0"/>
              </a:spcAft>
            </a:pPr>
            <a:r>
              <a:rPr sz="1100" b="0" i="0">
                <a:solidFill>
                  <a:srgbClr val="607889"/>
                </a:solidFill>
                <a:latin typeface="Aptos"/>
              </a:rPr>
              <a:t>Onboarding  •  Verification  •  Joining info
Dashboard  •  Availability  •  Edit profile</a:t>
            </a:r>
          </a:p>
        </p:txBody>
      </p:sp>
      <p:sp>
        <p:nvSpPr>
          <p:cNvPr id="21" name="Rounded Rectangle 20"/>
          <p:cNvSpPr/>
          <p:nvPr/>
        </p:nvSpPr>
        <p:spPr>
          <a:xfrm>
            <a:off x="731520" y="5394960"/>
            <a:ext cx="10698480" cy="594360"/>
          </a:xfrm>
          <a:prstGeom prst="roundRect">
            <a:avLst>
              <a:gd name="adj" fmla="val 8000"/>
            </a:avLst>
          </a:prstGeom>
          <a:solidFill>
            <a:srgbClr val="EEF5F9"/>
          </a:solidFill>
          <a:ln>
            <a:solidFill>
              <a:srgbClr val="EE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5559552"/>
            <a:ext cx="10332720" cy="228600"/>
          </a:xfrm>
          <a:prstGeom prst="rect">
            <a:avLst/>
          </a:prstGeom>
          <a:noFill/>
        </p:spPr>
        <p:txBody>
          <a:bodyPr wrap="square" lIns="18288" rIns="18288" tIns="18288" bIns="18288" anchor="t">
            <a:spAutoFit/>
          </a:bodyPr>
          <a:lstStyle/>
          <a:p>
            <a:pPr algn="l">
              <a:spcAft>
                <a:spcPts val="0"/>
              </a:spcAft>
            </a:pPr>
            <a:r>
              <a:rPr sz="1050" b="1" i="0">
                <a:solidFill>
                  <a:srgbClr val="15364A"/>
                </a:solidFill>
                <a:latin typeface="Aptos"/>
              </a:rPr>
              <a:t>20 proposed primary screens/routes • doctor sign-in is a role-specific view of shared sign-in • 404 is a shared recovery state, not part of the 20.</a:t>
            </a:r>
          </a:p>
        </p:txBody>
      </p:sp>
      <p:cxnSp>
        <p:nvCxnSpPr>
          <p:cNvPr id="23" name="Connector 22"/>
          <p:cNvCxnSpPr/>
          <p:nvPr/>
        </p:nvCxnSpPr>
        <p:spPr>
          <a:xfrm>
            <a:off x="502920" y="6510528"/>
            <a:ext cx="11183112" cy="0"/>
          </a:xfrm>
          <a:prstGeom prst="line">
            <a:avLst/>
          </a:prstGeom>
          <a:ln w="8890">
            <a:solidFill>
              <a:srgbClr val="DCE7ED"/>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8640" y="6574536"/>
            <a:ext cx="6858000" cy="164592"/>
          </a:xfrm>
          <a:prstGeom prst="rect">
            <a:avLst/>
          </a:prstGeom>
          <a:noFill/>
        </p:spPr>
        <p:txBody>
          <a:bodyPr wrap="square" lIns="18288" rIns="18288" tIns="18288" bIns="18288" anchor="t">
            <a:spAutoFit/>
          </a:bodyPr>
          <a:lstStyle/>
          <a:p>
            <a:pPr algn="l">
              <a:spcAft>
                <a:spcPts val="0"/>
              </a:spcAft>
            </a:pPr>
            <a:r>
              <a:rPr sz="800" b="1" i="0">
                <a:solidFill>
                  <a:srgbClr val="607889"/>
                </a:solidFill>
                <a:latin typeface="Aptos"/>
              </a:rPr>
              <a:t>HEALTHCARE CONNECT  /  UI PLAN  •  WORKING DRAFT</a:t>
            </a:r>
          </a:p>
        </p:txBody>
      </p:sp>
      <p:sp>
        <p:nvSpPr>
          <p:cNvPr id="25" name="TextBox 24"/>
          <p:cNvSpPr txBox="1"/>
          <p:nvPr/>
        </p:nvSpPr>
        <p:spPr>
          <a:xfrm>
            <a:off x="10972800" y="6565392"/>
            <a:ext cx="594360" cy="182880"/>
          </a:xfrm>
          <a:prstGeom prst="rect">
            <a:avLst/>
          </a:prstGeom>
          <a:noFill/>
        </p:spPr>
        <p:txBody>
          <a:bodyPr wrap="square" lIns="18288" rIns="18288" tIns="18288" bIns="18288" anchor="t">
            <a:spAutoFit/>
          </a:bodyPr>
          <a:lstStyle/>
          <a:p>
            <a:pPr algn="r">
              <a:spcAft>
                <a:spcPts val="0"/>
              </a:spcAft>
            </a:pPr>
            <a:r>
              <a:rPr sz="900" b="1" i="0">
                <a:solidFill>
                  <a:srgbClr val="607889"/>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594360" y="384048"/>
            <a:ext cx="4114800" cy="201168"/>
          </a:xfrm>
          <a:prstGeom prst="rect">
            <a:avLst/>
          </a:prstGeom>
          <a:noFill/>
        </p:spPr>
        <p:txBody>
          <a:bodyPr wrap="square" lIns="18288" rIns="18288" tIns="18288" bIns="18288" anchor="t">
            <a:spAutoFit/>
          </a:bodyPr>
          <a:lstStyle/>
          <a:p>
            <a:pPr algn="l">
              <a:spcAft>
                <a:spcPts val="0"/>
              </a:spcAft>
            </a:pPr>
            <a:r>
              <a:rPr sz="900" b="1" i="0">
                <a:solidFill>
                  <a:srgbClr val="26A99A"/>
                </a:solidFill>
                <a:latin typeface="Aptos"/>
              </a:rPr>
              <a:t>10 / PROPOSED PRIMARY SCREENS</a:t>
            </a:r>
          </a:p>
        </p:txBody>
      </p:sp>
      <p:sp>
        <p:nvSpPr>
          <p:cNvPr id="3" name="TextBox 2"/>
          <p:cNvSpPr txBox="1"/>
          <p:nvPr/>
        </p:nvSpPr>
        <p:spPr>
          <a:xfrm>
            <a:off x="594360" y="658368"/>
            <a:ext cx="10972800" cy="475488"/>
          </a:xfrm>
          <a:prstGeom prst="rect">
            <a:avLst/>
          </a:prstGeom>
          <a:noFill/>
        </p:spPr>
        <p:txBody>
          <a:bodyPr wrap="square" lIns="18288" rIns="18288" tIns="18288" bIns="18288" anchor="t">
            <a:spAutoFit/>
          </a:bodyPr>
          <a:lstStyle/>
          <a:p>
            <a:pPr algn="l">
              <a:spcAft>
                <a:spcPts val="0"/>
              </a:spcAft>
            </a:pPr>
            <a:r>
              <a:rPr sz="2700" b="1" i="0">
                <a:solidFill>
                  <a:srgbClr val="15364A"/>
                </a:solidFill>
                <a:latin typeface="Aptos"/>
              </a:rPr>
              <a:t>Twenty proposed primary screens/routes</a:t>
            </a:r>
          </a:p>
        </p:txBody>
      </p:sp>
      <p:sp>
        <p:nvSpPr>
          <p:cNvPr id="4" name="TextBox 3"/>
          <p:cNvSpPr txBox="1"/>
          <p:nvPr/>
        </p:nvSpPr>
        <p:spPr>
          <a:xfrm>
            <a:off x="612648" y="1207008"/>
            <a:ext cx="10789920" cy="365760"/>
          </a:xfrm>
          <a:prstGeom prst="rect">
            <a:avLst/>
          </a:prstGeom>
          <a:noFill/>
        </p:spPr>
        <p:txBody>
          <a:bodyPr wrap="square" lIns="18288" rIns="18288" tIns="18288" bIns="18288" anchor="t">
            <a:spAutoFit/>
          </a:bodyPr>
          <a:lstStyle/>
          <a:p>
            <a:pPr algn="l">
              <a:spcAft>
                <a:spcPts val="0"/>
              </a:spcAft>
            </a:pPr>
            <a:r>
              <a:rPr sz="1250" b="0" i="0">
                <a:solidFill>
                  <a:srgbClr val="607889"/>
                </a:solidFill>
                <a:latin typeface="Aptos"/>
              </a:rPr>
              <a:t>Working inventory mapped from the existing project. Confirm names, priorities and visual content against the proposal and reference image.</a:t>
            </a:r>
          </a:p>
        </p:txBody>
      </p:sp>
      <p:sp>
        <p:nvSpPr>
          <p:cNvPr id="5" name="Rounded Rectangle 4"/>
          <p:cNvSpPr/>
          <p:nvPr/>
        </p:nvSpPr>
        <p:spPr>
          <a:xfrm>
            <a:off x="621792" y="1700784"/>
            <a:ext cx="5376672" cy="100584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58952" y="1847088"/>
            <a:ext cx="356616" cy="356616"/>
          </a:xfrm>
          <a:prstGeom prst="ellipse">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933956"/>
            <a:ext cx="356616" cy="137160"/>
          </a:xfrm>
          <a:prstGeom prst="rect">
            <a:avLst/>
          </a:prstGeom>
          <a:noFill/>
        </p:spPr>
        <p:txBody>
          <a:bodyPr wrap="square" lIns="18288" rIns="18288" tIns="18288" bIns="18288" anchor="t">
            <a:spAutoFit/>
          </a:bodyPr>
          <a:lstStyle/>
          <a:p>
            <a:pPr algn="ctr">
              <a:spcAft>
                <a:spcPts val="0"/>
              </a:spcAft>
            </a:pPr>
            <a:r>
              <a:rPr sz="850" b="1" i="0">
                <a:solidFill>
                  <a:srgbClr val="FFFFFF"/>
                </a:solidFill>
                <a:latin typeface="Aptos"/>
              </a:rPr>
              <a:t>01</a:t>
            </a:r>
          </a:p>
        </p:txBody>
      </p:sp>
      <p:sp>
        <p:nvSpPr>
          <p:cNvPr id="8" name="TextBox 7"/>
          <p:cNvSpPr txBox="1"/>
          <p:nvPr/>
        </p:nvSpPr>
        <p:spPr>
          <a:xfrm>
            <a:off x="1216152" y="1810512"/>
            <a:ext cx="4526280" cy="228600"/>
          </a:xfrm>
          <a:prstGeom prst="rect">
            <a:avLst/>
          </a:prstGeom>
          <a:noFill/>
        </p:spPr>
        <p:txBody>
          <a:bodyPr wrap="square" lIns="18288" rIns="18288" tIns="18288" bIns="18288" anchor="t">
            <a:spAutoFit/>
          </a:bodyPr>
          <a:lstStyle/>
          <a:p>
            <a:pPr algn="l">
              <a:spcAft>
                <a:spcPts val="0"/>
              </a:spcAft>
            </a:pPr>
            <a:r>
              <a:rPr sz="1220" b="1" i="0">
                <a:solidFill>
                  <a:srgbClr val="15364A"/>
                </a:solidFill>
                <a:latin typeface="Aptos"/>
              </a:rPr>
              <a:t>Home</a:t>
            </a:r>
          </a:p>
        </p:txBody>
      </p:sp>
      <p:sp>
        <p:nvSpPr>
          <p:cNvPr id="9" name="TextBox 8"/>
          <p:cNvSpPr txBox="1"/>
          <p:nvPr/>
        </p:nvSpPr>
        <p:spPr>
          <a:xfrm>
            <a:off x="1216152" y="2057400"/>
            <a:ext cx="4553712" cy="164592"/>
          </a:xfrm>
          <a:prstGeom prst="rect">
            <a:avLst/>
          </a:prstGeom>
          <a:noFill/>
        </p:spPr>
        <p:txBody>
          <a:bodyPr wrap="square" lIns="18288" rIns="18288" tIns="18288" bIns="18288" anchor="t">
            <a:spAutoFit/>
          </a:bodyPr>
          <a:lstStyle/>
          <a:p>
            <a:pPr algn="l">
              <a:spcAft>
                <a:spcPts val="0"/>
              </a:spcAft>
            </a:pPr>
            <a:r>
              <a:rPr sz="819" b="1" i="0">
                <a:solidFill>
                  <a:srgbClr val="26A99A"/>
                </a:solidFill>
                <a:latin typeface="Aptos"/>
              </a:rPr>
              <a:t>/</a:t>
            </a:r>
          </a:p>
        </p:txBody>
      </p:sp>
      <p:sp>
        <p:nvSpPr>
          <p:cNvPr id="10" name="TextBox 9"/>
          <p:cNvSpPr txBox="1"/>
          <p:nvPr/>
        </p:nvSpPr>
        <p:spPr>
          <a:xfrm>
            <a:off x="777240" y="2267712"/>
            <a:ext cx="5029200" cy="192024"/>
          </a:xfrm>
          <a:prstGeom prst="rect">
            <a:avLst/>
          </a:prstGeom>
          <a:noFill/>
        </p:spPr>
        <p:txBody>
          <a:bodyPr wrap="square" lIns="18288" rIns="18288" tIns="18288" bIns="18288" anchor="t">
            <a:spAutoFit/>
          </a:bodyPr>
          <a:lstStyle/>
          <a:p>
            <a:pPr algn="l">
              <a:spcAft>
                <a:spcPts val="0"/>
              </a:spcAft>
            </a:pPr>
            <a:r>
              <a:rPr sz="850" b="0" i="0">
                <a:solidFill>
                  <a:srgbClr val="203B4B"/>
                </a:solidFill>
                <a:latin typeface="Aptos"/>
              </a:rPr>
              <a:t>Introduce the service and guide people into doctor discovery or doctor registration.</a:t>
            </a:r>
          </a:p>
        </p:txBody>
      </p:sp>
      <p:sp>
        <p:nvSpPr>
          <p:cNvPr id="11" name="TextBox 10"/>
          <p:cNvSpPr txBox="1"/>
          <p:nvPr/>
        </p:nvSpPr>
        <p:spPr>
          <a:xfrm>
            <a:off x="777240" y="2478024"/>
            <a:ext cx="5029200" cy="182880"/>
          </a:xfrm>
          <a:prstGeom prst="rect">
            <a:avLst/>
          </a:prstGeom>
          <a:noFill/>
        </p:spPr>
        <p:txBody>
          <a:bodyPr wrap="square" lIns="18288" rIns="18288" tIns="18288" bIns="18288" anchor="t">
            <a:spAutoFit/>
          </a:bodyPr>
          <a:lstStyle/>
          <a:p>
            <a:pPr algn="l">
              <a:spcAft>
                <a:spcPts val="0"/>
              </a:spcAft>
            </a:pPr>
            <a:r>
              <a:rPr sz="770" b="0" i="0">
                <a:solidFill>
                  <a:srgbClr val="607889"/>
                </a:solidFill>
                <a:latin typeface="Aptos"/>
              </a:rPr>
              <a:t>KEY UI  Care promise • search entry • service choices • featured doctors • join as a doctor</a:t>
            </a:r>
          </a:p>
        </p:txBody>
      </p:sp>
      <p:sp>
        <p:nvSpPr>
          <p:cNvPr id="12" name="Rounded Rectangle 11"/>
          <p:cNvSpPr/>
          <p:nvPr/>
        </p:nvSpPr>
        <p:spPr>
          <a:xfrm>
            <a:off x="6236207" y="1700784"/>
            <a:ext cx="5376672" cy="100584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73368" y="1847088"/>
            <a:ext cx="356616" cy="356616"/>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1933956"/>
            <a:ext cx="356616" cy="137160"/>
          </a:xfrm>
          <a:prstGeom prst="rect">
            <a:avLst/>
          </a:prstGeom>
          <a:noFill/>
        </p:spPr>
        <p:txBody>
          <a:bodyPr wrap="square" lIns="18288" rIns="18288" tIns="18288" bIns="18288" anchor="t">
            <a:spAutoFit/>
          </a:bodyPr>
          <a:lstStyle/>
          <a:p>
            <a:pPr algn="ctr">
              <a:spcAft>
                <a:spcPts val="0"/>
              </a:spcAft>
            </a:pPr>
            <a:r>
              <a:rPr sz="850" b="1" i="0">
                <a:solidFill>
                  <a:srgbClr val="FFFFFF"/>
                </a:solidFill>
                <a:latin typeface="Aptos"/>
              </a:rPr>
              <a:t>02</a:t>
            </a:r>
          </a:p>
        </p:txBody>
      </p:sp>
      <p:sp>
        <p:nvSpPr>
          <p:cNvPr id="15" name="TextBox 14"/>
          <p:cNvSpPr txBox="1"/>
          <p:nvPr/>
        </p:nvSpPr>
        <p:spPr>
          <a:xfrm>
            <a:off x="6830568" y="1810512"/>
            <a:ext cx="4526280" cy="228600"/>
          </a:xfrm>
          <a:prstGeom prst="rect">
            <a:avLst/>
          </a:prstGeom>
          <a:noFill/>
        </p:spPr>
        <p:txBody>
          <a:bodyPr wrap="square" lIns="18288" rIns="18288" tIns="18288" bIns="18288" anchor="t">
            <a:spAutoFit/>
          </a:bodyPr>
          <a:lstStyle/>
          <a:p>
            <a:pPr algn="l">
              <a:spcAft>
                <a:spcPts val="0"/>
              </a:spcAft>
            </a:pPr>
            <a:r>
              <a:rPr sz="1220" b="1" i="0">
                <a:solidFill>
                  <a:srgbClr val="15364A"/>
                </a:solidFill>
                <a:latin typeface="Aptos"/>
              </a:rPr>
              <a:t>Doctor search</a:t>
            </a:r>
          </a:p>
        </p:txBody>
      </p:sp>
      <p:sp>
        <p:nvSpPr>
          <p:cNvPr id="16" name="TextBox 15"/>
          <p:cNvSpPr txBox="1"/>
          <p:nvPr/>
        </p:nvSpPr>
        <p:spPr>
          <a:xfrm>
            <a:off x="6830568" y="2057400"/>
            <a:ext cx="4553712" cy="164592"/>
          </a:xfrm>
          <a:prstGeom prst="rect">
            <a:avLst/>
          </a:prstGeom>
          <a:noFill/>
        </p:spPr>
        <p:txBody>
          <a:bodyPr wrap="square" lIns="18288" rIns="18288" tIns="18288" bIns="18288" anchor="t">
            <a:spAutoFit/>
          </a:bodyPr>
          <a:lstStyle/>
          <a:p>
            <a:pPr algn="l">
              <a:spcAft>
                <a:spcPts val="0"/>
              </a:spcAft>
            </a:pPr>
            <a:r>
              <a:rPr sz="819" b="1" i="0">
                <a:solidFill>
                  <a:srgbClr val="26A99A"/>
                </a:solidFill>
                <a:latin typeface="Aptos"/>
              </a:rPr>
              <a:t>/search</a:t>
            </a:r>
          </a:p>
        </p:txBody>
      </p:sp>
      <p:sp>
        <p:nvSpPr>
          <p:cNvPr id="17" name="TextBox 16"/>
          <p:cNvSpPr txBox="1"/>
          <p:nvPr/>
        </p:nvSpPr>
        <p:spPr>
          <a:xfrm>
            <a:off x="6391655" y="2267712"/>
            <a:ext cx="5029200" cy="192024"/>
          </a:xfrm>
          <a:prstGeom prst="rect">
            <a:avLst/>
          </a:prstGeom>
          <a:noFill/>
        </p:spPr>
        <p:txBody>
          <a:bodyPr wrap="square" lIns="18288" rIns="18288" tIns="18288" bIns="18288" anchor="t">
            <a:spAutoFit/>
          </a:bodyPr>
          <a:lstStyle/>
          <a:p>
            <a:pPr algn="l">
              <a:spcAft>
                <a:spcPts val="0"/>
              </a:spcAft>
            </a:pPr>
            <a:r>
              <a:rPr sz="850" b="0" i="0">
                <a:solidFill>
                  <a:srgbClr val="203B4B"/>
                </a:solidFill>
                <a:latin typeface="Aptos"/>
              </a:rPr>
              <a:t>Help visitors find suitable doctors and compare options.</a:t>
            </a:r>
          </a:p>
        </p:txBody>
      </p:sp>
      <p:sp>
        <p:nvSpPr>
          <p:cNvPr id="18" name="TextBox 17"/>
          <p:cNvSpPr txBox="1"/>
          <p:nvPr/>
        </p:nvSpPr>
        <p:spPr>
          <a:xfrm>
            <a:off x="6391655" y="2478024"/>
            <a:ext cx="5029200" cy="182880"/>
          </a:xfrm>
          <a:prstGeom prst="rect">
            <a:avLst/>
          </a:prstGeom>
          <a:noFill/>
        </p:spPr>
        <p:txBody>
          <a:bodyPr wrap="square" lIns="18288" rIns="18288" tIns="18288" bIns="18288" anchor="t">
            <a:spAutoFit/>
          </a:bodyPr>
          <a:lstStyle/>
          <a:p>
            <a:pPr algn="l">
              <a:spcAft>
                <a:spcPts val="0"/>
              </a:spcAft>
            </a:pPr>
            <a:r>
              <a:rPr sz="770" b="0" i="0">
                <a:solidFill>
                  <a:srgbClr val="607889"/>
                </a:solidFill>
                <a:latin typeface="Aptos"/>
              </a:rPr>
              <a:t>KEY UI  Search by name/specialty/location • specialty filter • results • loading, no-result and error feedback</a:t>
            </a:r>
          </a:p>
        </p:txBody>
      </p:sp>
      <p:sp>
        <p:nvSpPr>
          <p:cNvPr id="19" name="Rounded Rectangle 18"/>
          <p:cNvSpPr/>
          <p:nvPr/>
        </p:nvSpPr>
        <p:spPr>
          <a:xfrm>
            <a:off x="621792" y="2834640"/>
            <a:ext cx="5376672" cy="100584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58952" y="2980944"/>
            <a:ext cx="356616" cy="356616"/>
          </a:xfrm>
          <a:prstGeom prst="ellipse">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3067812"/>
            <a:ext cx="356616" cy="137160"/>
          </a:xfrm>
          <a:prstGeom prst="rect">
            <a:avLst/>
          </a:prstGeom>
          <a:noFill/>
        </p:spPr>
        <p:txBody>
          <a:bodyPr wrap="square" lIns="18288" rIns="18288" tIns="18288" bIns="18288" anchor="t">
            <a:spAutoFit/>
          </a:bodyPr>
          <a:lstStyle/>
          <a:p>
            <a:pPr algn="ctr">
              <a:spcAft>
                <a:spcPts val="0"/>
              </a:spcAft>
            </a:pPr>
            <a:r>
              <a:rPr sz="850" b="1" i="0">
                <a:solidFill>
                  <a:srgbClr val="FFFFFF"/>
                </a:solidFill>
                <a:latin typeface="Aptos"/>
              </a:rPr>
              <a:t>03</a:t>
            </a:r>
          </a:p>
        </p:txBody>
      </p:sp>
      <p:sp>
        <p:nvSpPr>
          <p:cNvPr id="22" name="TextBox 21"/>
          <p:cNvSpPr txBox="1"/>
          <p:nvPr/>
        </p:nvSpPr>
        <p:spPr>
          <a:xfrm>
            <a:off x="1216152" y="2944368"/>
            <a:ext cx="4526280" cy="228600"/>
          </a:xfrm>
          <a:prstGeom prst="rect">
            <a:avLst/>
          </a:prstGeom>
          <a:noFill/>
        </p:spPr>
        <p:txBody>
          <a:bodyPr wrap="square" lIns="18288" rIns="18288" tIns="18288" bIns="18288" anchor="t">
            <a:spAutoFit/>
          </a:bodyPr>
          <a:lstStyle/>
          <a:p>
            <a:pPr algn="l">
              <a:spcAft>
                <a:spcPts val="0"/>
              </a:spcAft>
            </a:pPr>
            <a:r>
              <a:rPr sz="1220" b="1" i="0">
                <a:solidFill>
                  <a:srgbClr val="15364A"/>
                </a:solidFill>
                <a:latin typeface="Aptos"/>
              </a:rPr>
              <a:t>Doctor profile</a:t>
            </a:r>
          </a:p>
        </p:txBody>
      </p:sp>
      <p:sp>
        <p:nvSpPr>
          <p:cNvPr id="23" name="TextBox 22"/>
          <p:cNvSpPr txBox="1"/>
          <p:nvPr/>
        </p:nvSpPr>
        <p:spPr>
          <a:xfrm>
            <a:off x="1216152" y="3191256"/>
            <a:ext cx="4553712" cy="164592"/>
          </a:xfrm>
          <a:prstGeom prst="rect">
            <a:avLst/>
          </a:prstGeom>
          <a:noFill/>
        </p:spPr>
        <p:txBody>
          <a:bodyPr wrap="square" lIns="18288" rIns="18288" tIns="18288" bIns="18288" anchor="t">
            <a:spAutoFit/>
          </a:bodyPr>
          <a:lstStyle/>
          <a:p>
            <a:pPr algn="l">
              <a:spcAft>
                <a:spcPts val="0"/>
              </a:spcAft>
            </a:pPr>
            <a:r>
              <a:rPr sz="819" b="1" i="0">
                <a:solidFill>
                  <a:srgbClr val="26A99A"/>
                </a:solidFill>
                <a:latin typeface="Aptos"/>
              </a:rPr>
              <a:t>/doctors/:doctorId</a:t>
            </a:r>
          </a:p>
        </p:txBody>
      </p:sp>
      <p:sp>
        <p:nvSpPr>
          <p:cNvPr id="24" name="TextBox 23"/>
          <p:cNvSpPr txBox="1"/>
          <p:nvPr/>
        </p:nvSpPr>
        <p:spPr>
          <a:xfrm>
            <a:off x="777240" y="3401568"/>
            <a:ext cx="5029200" cy="192024"/>
          </a:xfrm>
          <a:prstGeom prst="rect">
            <a:avLst/>
          </a:prstGeom>
          <a:noFill/>
        </p:spPr>
        <p:txBody>
          <a:bodyPr wrap="square" lIns="18288" rIns="18288" tIns="18288" bIns="18288" anchor="t">
            <a:spAutoFit/>
          </a:bodyPr>
          <a:lstStyle/>
          <a:p>
            <a:pPr algn="l">
              <a:spcAft>
                <a:spcPts val="0"/>
              </a:spcAft>
            </a:pPr>
            <a:r>
              <a:rPr sz="850" b="0" i="0">
                <a:solidFill>
                  <a:srgbClr val="203B4B"/>
                </a:solidFill>
                <a:latin typeface="Aptos"/>
              </a:rPr>
              <a:t>Support an informed choice before starting a booking.</a:t>
            </a:r>
          </a:p>
        </p:txBody>
      </p:sp>
      <p:sp>
        <p:nvSpPr>
          <p:cNvPr id="25" name="TextBox 24"/>
          <p:cNvSpPr txBox="1"/>
          <p:nvPr/>
        </p:nvSpPr>
        <p:spPr>
          <a:xfrm>
            <a:off x="777240" y="3611880"/>
            <a:ext cx="5029200" cy="182880"/>
          </a:xfrm>
          <a:prstGeom prst="rect">
            <a:avLst/>
          </a:prstGeom>
          <a:noFill/>
        </p:spPr>
        <p:txBody>
          <a:bodyPr wrap="square" lIns="18288" rIns="18288" tIns="18288" bIns="18288" anchor="t">
            <a:spAutoFit/>
          </a:bodyPr>
          <a:lstStyle/>
          <a:p>
            <a:pPr algn="l">
              <a:spcAft>
                <a:spcPts val="0"/>
              </a:spcAft>
            </a:pPr>
            <a:r>
              <a:rPr sz="770" b="0" i="0">
                <a:solidFill>
                  <a:srgbClr val="607889"/>
                </a:solidFill>
                <a:latin typeface="Aptos"/>
              </a:rPr>
              <a:t>KEY UI  Verified status • credentials • experience • rating • services/fee • location • availability • book CTA</a:t>
            </a:r>
          </a:p>
        </p:txBody>
      </p:sp>
      <p:sp>
        <p:nvSpPr>
          <p:cNvPr id="26" name="Rounded Rectangle 25"/>
          <p:cNvSpPr/>
          <p:nvPr/>
        </p:nvSpPr>
        <p:spPr>
          <a:xfrm>
            <a:off x="6236207" y="2834640"/>
            <a:ext cx="5376672" cy="100584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3368" y="2980944"/>
            <a:ext cx="356616" cy="356616"/>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3368" y="3067812"/>
            <a:ext cx="356616" cy="137160"/>
          </a:xfrm>
          <a:prstGeom prst="rect">
            <a:avLst/>
          </a:prstGeom>
          <a:noFill/>
        </p:spPr>
        <p:txBody>
          <a:bodyPr wrap="square" lIns="18288" rIns="18288" tIns="18288" bIns="18288" anchor="t">
            <a:spAutoFit/>
          </a:bodyPr>
          <a:lstStyle/>
          <a:p>
            <a:pPr algn="ctr">
              <a:spcAft>
                <a:spcPts val="0"/>
              </a:spcAft>
            </a:pPr>
            <a:r>
              <a:rPr sz="850" b="1" i="0">
                <a:solidFill>
                  <a:srgbClr val="FFFFFF"/>
                </a:solidFill>
                <a:latin typeface="Aptos"/>
              </a:rPr>
              <a:t>04</a:t>
            </a:r>
          </a:p>
        </p:txBody>
      </p:sp>
      <p:sp>
        <p:nvSpPr>
          <p:cNvPr id="29" name="TextBox 28"/>
          <p:cNvSpPr txBox="1"/>
          <p:nvPr/>
        </p:nvSpPr>
        <p:spPr>
          <a:xfrm>
            <a:off x="6830568" y="2944368"/>
            <a:ext cx="4526280" cy="228600"/>
          </a:xfrm>
          <a:prstGeom prst="rect">
            <a:avLst/>
          </a:prstGeom>
          <a:noFill/>
        </p:spPr>
        <p:txBody>
          <a:bodyPr wrap="square" lIns="18288" rIns="18288" tIns="18288" bIns="18288" anchor="t">
            <a:spAutoFit/>
          </a:bodyPr>
          <a:lstStyle/>
          <a:p>
            <a:pPr algn="l">
              <a:spcAft>
                <a:spcPts val="0"/>
              </a:spcAft>
            </a:pPr>
            <a:r>
              <a:rPr sz="1220" b="1" i="0">
                <a:solidFill>
                  <a:srgbClr val="15364A"/>
                </a:solidFill>
                <a:latin typeface="Aptos"/>
              </a:rPr>
              <a:t>About / support</a:t>
            </a:r>
          </a:p>
        </p:txBody>
      </p:sp>
      <p:sp>
        <p:nvSpPr>
          <p:cNvPr id="30" name="TextBox 29"/>
          <p:cNvSpPr txBox="1"/>
          <p:nvPr/>
        </p:nvSpPr>
        <p:spPr>
          <a:xfrm>
            <a:off x="6830568" y="3191256"/>
            <a:ext cx="4553712" cy="164592"/>
          </a:xfrm>
          <a:prstGeom prst="rect">
            <a:avLst/>
          </a:prstGeom>
          <a:noFill/>
        </p:spPr>
        <p:txBody>
          <a:bodyPr wrap="square" lIns="18288" rIns="18288" tIns="18288" bIns="18288" anchor="t">
            <a:spAutoFit/>
          </a:bodyPr>
          <a:lstStyle/>
          <a:p>
            <a:pPr algn="l">
              <a:spcAft>
                <a:spcPts val="0"/>
              </a:spcAft>
            </a:pPr>
            <a:r>
              <a:rPr sz="819" b="1" i="0">
                <a:solidFill>
                  <a:srgbClr val="26A99A"/>
                </a:solidFill>
                <a:latin typeface="Aptos"/>
              </a:rPr>
              <a:t>/about</a:t>
            </a:r>
          </a:p>
        </p:txBody>
      </p:sp>
      <p:sp>
        <p:nvSpPr>
          <p:cNvPr id="31" name="TextBox 30"/>
          <p:cNvSpPr txBox="1"/>
          <p:nvPr/>
        </p:nvSpPr>
        <p:spPr>
          <a:xfrm>
            <a:off x="6391655" y="3401568"/>
            <a:ext cx="5029200" cy="192024"/>
          </a:xfrm>
          <a:prstGeom prst="rect">
            <a:avLst/>
          </a:prstGeom>
          <a:noFill/>
        </p:spPr>
        <p:txBody>
          <a:bodyPr wrap="square" lIns="18288" rIns="18288" tIns="18288" bIns="18288" anchor="t">
            <a:spAutoFit/>
          </a:bodyPr>
          <a:lstStyle/>
          <a:p>
            <a:pPr algn="l">
              <a:spcAft>
                <a:spcPts val="0"/>
              </a:spcAft>
            </a:pPr>
            <a:r>
              <a:rPr sz="850" b="0" i="0">
                <a:solidFill>
                  <a:srgbClr val="203B4B"/>
                </a:solidFill>
                <a:latin typeface="Aptos"/>
              </a:rPr>
              <a:t>Explain the service and give visitors a route to help.</a:t>
            </a:r>
          </a:p>
        </p:txBody>
      </p:sp>
      <p:sp>
        <p:nvSpPr>
          <p:cNvPr id="32" name="TextBox 31"/>
          <p:cNvSpPr txBox="1"/>
          <p:nvPr/>
        </p:nvSpPr>
        <p:spPr>
          <a:xfrm>
            <a:off x="6391655" y="3611880"/>
            <a:ext cx="5029200" cy="182880"/>
          </a:xfrm>
          <a:prstGeom prst="rect">
            <a:avLst/>
          </a:prstGeom>
          <a:noFill/>
        </p:spPr>
        <p:txBody>
          <a:bodyPr wrap="square" lIns="18288" rIns="18288" tIns="18288" bIns="18288" anchor="t">
            <a:spAutoFit/>
          </a:bodyPr>
          <a:lstStyle/>
          <a:p>
            <a:pPr algn="l">
              <a:spcAft>
                <a:spcPts val="0"/>
              </a:spcAft>
            </a:pPr>
            <a:r>
              <a:rPr sz="770" b="0" i="0">
                <a:solidFill>
                  <a:srgbClr val="607889"/>
                </a:solidFill>
                <a:latin typeface="Aptos"/>
              </a:rPr>
              <a:t>KEY UI  Service overview • trust cues • contact/support route • pathways for patients and doctors</a:t>
            </a:r>
          </a:p>
        </p:txBody>
      </p:sp>
      <p:sp>
        <p:nvSpPr>
          <p:cNvPr id="33" name="Rounded Rectangle 32"/>
          <p:cNvSpPr/>
          <p:nvPr/>
        </p:nvSpPr>
        <p:spPr>
          <a:xfrm>
            <a:off x="621792" y="3968496"/>
            <a:ext cx="5376672" cy="100584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58952" y="4114800"/>
            <a:ext cx="356616" cy="356616"/>
          </a:xfrm>
          <a:prstGeom prst="ellipse">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8952" y="4201668"/>
            <a:ext cx="356616" cy="137160"/>
          </a:xfrm>
          <a:prstGeom prst="rect">
            <a:avLst/>
          </a:prstGeom>
          <a:noFill/>
        </p:spPr>
        <p:txBody>
          <a:bodyPr wrap="square" lIns="18288" rIns="18288" tIns="18288" bIns="18288" anchor="t">
            <a:spAutoFit/>
          </a:bodyPr>
          <a:lstStyle/>
          <a:p>
            <a:pPr algn="ctr">
              <a:spcAft>
                <a:spcPts val="0"/>
              </a:spcAft>
            </a:pPr>
            <a:r>
              <a:rPr sz="850" b="1" i="0">
                <a:solidFill>
                  <a:srgbClr val="FFFFFF"/>
                </a:solidFill>
                <a:latin typeface="Aptos"/>
              </a:rPr>
              <a:t>05</a:t>
            </a:r>
          </a:p>
        </p:txBody>
      </p:sp>
      <p:sp>
        <p:nvSpPr>
          <p:cNvPr id="36" name="TextBox 35"/>
          <p:cNvSpPr txBox="1"/>
          <p:nvPr/>
        </p:nvSpPr>
        <p:spPr>
          <a:xfrm>
            <a:off x="1216152" y="4078224"/>
            <a:ext cx="4526280" cy="228600"/>
          </a:xfrm>
          <a:prstGeom prst="rect">
            <a:avLst/>
          </a:prstGeom>
          <a:noFill/>
        </p:spPr>
        <p:txBody>
          <a:bodyPr wrap="square" lIns="18288" rIns="18288" tIns="18288" bIns="18288" anchor="t">
            <a:spAutoFit/>
          </a:bodyPr>
          <a:lstStyle/>
          <a:p>
            <a:pPr algn="l">
              <a:spcAft>
                <a:spcPts val="0"/>
              </a:spcAft>
            </a:pPr>
            <a:r>
              <a:rPr sz="1220" b="1" i="0">
                <a:solidFill>
                  <a:srgbClr val="15364A"/>
                </a:solidFill>
                <a:latin typeface="Aptos"/>
              </a:rPr>
              <a:t>Policies</a:t>
            </a:r>
          </a:p>
        </p:txBody>
      </p:sp>
      <p:sp>
        <p:nvSpPr>
          <p:cNvPr id="37" name="TextBox 36"/>
          <p:cNvSpPr txBox="1"/>
          <p:nvPr/>
        </p:nvSpPr>
        <p:spPr>
          <a:xfrm>
            <a:off x="1216152" y="4325112"/>
            <a:ext cx="4553712" cy="164592"/>
          </a:xfrm>
          <a:prstGeom prst="rect">
            <a:avLst/>
          </a:prstGeom>
          <a:noFill/>
        </p:spPr>
        <p:txBody>
          <a:bodyPr wrap="square" lIns="18288" rIns="18288" tIns="18288" bIns="18288" anchor="t">
            <a:spAutoFit/>
          </a:bodyPr>
          <a:lstStyle/>
          <a:p>
            <a:pPr algn="l">
              <a:spcAft>
                <a:spcPts val="0"/>
              </a:spcAft>
            </a:pPr>
            <a:r>
              <a:rPr sz="819" b="1" i="0">
                <a:solidFill>
                  <a:srgbClr val="26A99A"/>
                </a:solidFill>
                <a:latin typeface="Aptos"/>
              </a:rPr>
              <a:t>/policies</a:t>
            </a:r>
          </a:p>
        </p:txBody>
      </p:sp>
      <p:sp>
        <p:nvSpPr>
          <p:cNvPr id="38" name="TextBox 37"/>
          <p:cNvSpPr txBox="1"/>
          <p:nvPr/>
        </p:nvSpPr>
        <p:spPr>
          <a:xfrm>
            <a:off x="777240" y="4535424"/>
            <a:ext cx="5029200" cy="192024"/>
          </a:xfrm>
          <a:prstGeom prst="rect">
            <a:avLst/>
          </a:prstGeom>
          <a:noFill/>
        </p:spPr>
        <p:txBody>
          <a:bodyPr wrap="square" lIns="18288" rIns="18288" tIns="18288" bIns="18288" anchor="t">
            <a:spAutoFit/>
          </a:bodyPr>
          <a:lstStyle/>
          <a:p>
            <a:pPr algn="l">
              <a:spcAft>
                <a:spcPts val="0"/>
              </a:spcAft>
            </a:pPr>
            <a:r>
              <a:rPr sz="850" b="0" i="0">
                <a:solidFill>
                  <a:srgbClr val="203B4B"/>
                </a:solidFill>
                <a:latin typeface="Aptos"/>
              </a:rPr>
              <a:t>Make service, privacy and terms information discoverable.</a:t>
            </a:r>
          </a:p>
        </p:txBody>
      </p:sp>
      <p:sp>
        <p:nvSpPr>
          <p:cNvPr id="39" name="TextBox 38"/>
          <p:cNvSpPr txBox="1"/>
          <p:nvPr/>
        </p:nvSpPr>
        <p:spPr>
          <a:xfrm>
            <a:off x="777240" y="4745736"/>
            <a:ext cx="5029200" cy="182880"/>
          </a:xfrm>
          <a:prstGeom prst="rect">
            <a:avLst/>
          </a:prstGeom>
          <a:noFill/>
        </p:spPr>
        <p:txBody>
          <a:bodyPr wrap="square" lIns="18288" rIns="18288" tIns="18288" bIns="18288" anchor="t">
            <a:spAutoFit/>
          </a:bodyPr>
          <a:lstStyle/>
          <a:p>
            <a:pPr algn="l">
              <a:spcAft>
                <a:spcPts val="0"/>
              </a:spcAft>
            </a:pPr>
            <a:r>
              <a:rPr sz="770" b="0" i="0">
                <a:solidFill>
                  <a:srgbClr val="607889"/>
                </a:solidFill>
                <a:latin typeface="Aptos"/>
              </a:rPr>
              <a:t>KEY UI  Terms • privacy • booking/cancellation policy links and readable content hierarchy</a:t>
            </a:r>
          </a:p>
        </p:txBody>
      </p:sp>
      <p:cxnSp>
        <p:nvCxnSpPr>
          <p:cNvPr id="40" name="Connector 39"/>
          <p:cNvCxnSpPr/>
          <p:nvPr/>
        </p:nvCxnSpPr>
        <p:spPr>
          <a:xfrm>
            <a:off x="502920" y="6510528"/>
            <a:ext cx="11183112" cy="0"/>
          </a:xfrm>
          <a:prstGeom prst="line">
            <a:avLst/>
          </a:prstGeom>
          <a:ln w="8890">
            <a:solidFill>
              <a:srgbClr val="DCE7ED"/>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48640" y="6574536"/>
            <a:ext cx="6858000" cy="164592"/>
          </a:xfrm>
          <a:prstGeom prst="rect">
            <a:avLst/>
          </a:prstGeom>
          <a:noFill/>
        </p:spPr>
        <p:txBody>
          <a:bodyPr wrap="square" lIns="18288" rIns="18288" tIns="18288" bIns="18288" anchor="t">
            <a:spAutoFit/>
          </a:bodyPr>
          <a:lstStyle/>
          <a:p>
            <a:pPr algn="l">
              <a:spcAft>
                <a:spcPts val="0"/>
              </a:spcAft>
            </a:pPr>
            <a:r>
              <a:rPr sz="800" b="1" i="0">
                <a:solidFill>
                  <a:srgbClr val="607889"/>
                </a:solidFill>
                <a:latin typeface="Aptos"/>
              </a:rPr>
              <a:t>HEALTHCARE CONNECT  /  UI PLAN  •  WORKING DRAFT</a:t>
            </a:r>
          </a:p>
        </p:txBody>
      </p:sp>
      <p:sp>
        <p:nvSpPr>
          <p:cNvPr id="42" name="TextBox 41"/>
          <p:cNvSpPr txBox="1"/>
          <p:nvPr/>
        </p:nvSpPr>
        <p:spPr>
          <a:xfrm>
            <a:off x="10972800" y="6565392"/>
            <a:ext cx="594360" cy="182880"/>
          </a:xfrm>
          <a:prstGeom prst="rect">
            <a:avLst/>
          </a:prstGeom>
          <a:noFill/>
        </p:spPr>
        <p:txBody>
          <a:bodyPr wrap="square" lIns="18288" rIns="18288" tIns="18288" bIns="18288" anchor="t">
            <a:spAutoFit/>
          </a:bodyPr>
          <a:lstStyle/>
          <a:p>
            <a:pPr algn="r">
              <a:spcAft>
                <a:spcPts val="0"/>
              </a:spcAft>
            </a:pPr>
            <a:r>
              <a:rPr sz="900" b="1" i="0">
                <a:solidFill>
                  <a:srgbClr val="607889"/>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594360" y="384048"/>
            <a:ext cx="4114800" cy="201168"/>
          </a:xfrm>
          <a:prstGeom prst="rect">
            <a:avLst/>
          </a:prstGeom>
          <a:noFill/>
        </p:spPr>
        <p:txBody>
          <a:bodyPr wrap="square" lIns="18288" rIns="18288" tIns="18288" bIns="18288" anchor="t">
            <a:spAutoFit/>
          </a:bodyPr>
          <a:lstStyle/>
          <a:p>
            <a:pPr algn="l">
              <a:spcAft>
                <a:spcPts val="0"/>
              </a:spcAft>
            </a:pPr>
            <a:r>
              <a:rPr sz="900" b="1" i="0">
                <a:solidFill>
                  <a:srgbClr val="26A99A"/>
                </a:solidFill>
                <a:latin typeface="Aptos"/>
              </a:rPr>
              <a:t>10 / PROPOSED PRIMARY SCREENS</a:t>
            </a:r>
          </a:p>
        </p:txBody>
      </p:sp>
      <p:sp>
        <p:nvSpPr>
          <p:cNvPr id="3" name="TextBox 2"/>
          <p:cNvSpPr txBox="1"/>
          <p:nvPr/>
        </p:nvSpPr>
        <p:spPr>
          <a:xfrm>
            <a:off x="594360" y="658368"/>
            <a:ext cx="10972800" cy="475488"/>
          </a:xfrm>
          <a:prstGeom prst="rect">
            <a:avLst/>
          </a:prstGeom>
          <a:noFill/>
        </p:spPr>
        <p:txBody>
          <a:bodyPr wrap="square" lIns="18288" rIns="18288" tIns="18288" bIns="18288" anchor="t">
            <a:spAutoFit/>
          </a:bodyPr>
          <a:lstStyle/>
          <a:p>
            <a:pPr algn="l">
              <a:spcAft>
                <a:spcPts val="0"/>
              </a:spcAft>
            </a:pPr>
            <a:r>
              <a:rPr sz="2700" b="1" i="0">
                <a:solidFill>
                  <a:srgbClr val="15364A"/>
                </a:solidFill>
                <a:latin typeface="Aptos"/>
              </a:rPr>
              <a:t>Twenty proposed primary screens/routes</a:t>
            </a:r>
          </a:p>
        </p:txBody>
      </p:sp>
      <p:sp>
        <p:nvSpPr>
          <p:cNvPr id="4" name="TextBox 3"/>
          <p:cNvSpPr txBox="1"/>
          <p:nvPr/>
        </p:nvSpPr>
        <p:spPr>
          <a:xfrm>
            <a:off x="612648" y="1207008"/>
            <a:ext cx="10789920" cy="365760"/>
          </a:xfrm>
          <a:prstGeom prst="rect">
            <a:avLst/>
          </a:prstGeom>
          <a:noFill/>
        </p:spPr>
        <p:txBody>
          <a:bodyPr wrap="square" lIns="18288" rIns="18288" tIns="18288" bIns="18288" anchor="t">
            <a:spAutoFit/>
          </a:bodyPr>
          <a:lstStyle/>
          <a:p>
            <a:pPr algn="l">
              <a:spcAft>
                <a:spcPts val="0"/>
              </a:spcAft>
            </a:pPr>
            <a:r>
              <a:rPr sz="1250" b="0" i="0">
                <a:solidFill>
                  <a:srgbClr val="607889"/>
                </a:solidFill>
                <a:latin typeface="Aptos"/>
              </a:rPr>
              <a:t>Working inventory mapped from the existing project. Confirm names, priorities and visual content against the proposal and reference image.</a:t>
            </a:r>
          </a:p>
        </p:txBody>
      </p:sp>
      <p:sp>
        <p:nvSpPr>
          <p:cNvPr id="5" name="Rounded Rectangle 4"/>
          <p:cNvSpPr/>
          <p:nvPr/>
        </p:nvSpPr>
        <p:spPr>
          <a:xfrm>
            <a:off x="621792" y="1700784"/>
            <a:ext cx="5376672" cy="100584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58952" y="1847088"/>
            <a:ext cx="356616" cy="356616"/>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933956"/>
            <a:ext cx="356616" cy="137160"/>
          </a:xfrm>
          <a:prstGeom prst="rect">
            <a:avLst/>
          </a:prstGeom>
          <a:noFill/>
        </p:spPr>
        <p:txBody>
          <a:bodyPr wrap="square" lIns="18288" rIns="18288" tIns="18288" bIns="18288" anchor="t">
            <a:spAutoFit/>
          </a:bodyPr>
          <a:lstStyle/>
          <a:p>
            <a:pPr algn="ctr">
              <a:spcAft>
                <a:spcPts val="0"/>
              </a:spcAft>
            </a:pPr>
            <a:r>
              <a:rPr sz="850" b="1" i="0">
                <a:solidFill>
                  <a:srgbClr val="FFFFFF"/>
                </a:solidFill>
                <a:latin typeface="Aptos"/>
              </a:rPr>
              <a:t>06</a:t>
            </a:r>
          </a:p>
        </p:txBody>
      </p:sp>
      <p:sp>
        <p:nvSpPr>
          <p:cNvPr id="8" name="TextBox 7"/>
          <p:cNvSpPr txBox="1"/>
          <p:nvPr/>
        </p:nvSpPr>
        <p:spPr>
          <a:xfrm>
            <a:off x="1216152" y="1810512"/>
            <a:ext cx="4526280" cy="228600"/>
          </a:xfrm>
          <a:prstGeom prst="rect">
            <a:avLst/>
          </a:prstGeom>
          <a:noFill/>
        </p:spPr>
        <p:txBody>
          <a:bodyPr wrap="square" lIns="18288" rIns="18288" tIns="18288" bIns="18288" anchor="t">
            <a:spAutoFit/>
          </a:bodyPr>
          <a:lstStyle/>
          <a:p>
            <a:pPr algn="l">
              <a:spcAft>
                <a:spcPts val="0"/>
              </a:spcAft>
            </a:pPr>
            <a:r>
              <a:rPr sz="1220" b="1" i="0">
                <a:solidFill>
                  <a:srgbClr val="15364A"/>
                </a:solidFill>
                <a:latin typeface="Aptos"/>
              </a:rPr>
              <a:t>Patient sign-in</a:t>
            </a:r>
          </a:p>
        </p:txBody>
      </p:sp>
      <p:sp>
        <p:nvSpPr>
          <p:cNvPr id="9" name="TextBox 8"/>
          <p:cNvSpPr txBox="1"/>
          <p:nvPr/>
        </p:nvSpPr>
        <p:spPr>
          <a:xfrm>
            <a:off x="1216152" y="2057400"/>
            <a:ext cx="4553712" cy="164592"/>
          </a:xfrm>
          <a:prstGeom prst="rect">
            <a:avLst/>
          </a:prstGeom>
          <a:noFill/>
        </p:spPr>
        <p:txBody>
          <a:bodyPr wrap="square" lIns="18288" rIns="18288" tIns="18288" bIns="18288" anchor="t">
            <a:spAutoFit/>
          </a:bodyPr>
          <a:lstStyle/>
          <a:p>
            <a:pPr algn="l">
              <a:spcAft>
                <a:spcPts val="0"/>
              </a:spcAft>
            </a:pPr>
            <a:r>
              <a:rPr sz="819" b="1" i="0">
                <a:solidFill>
                  <a:srgbClr val="26A99A"/>
                </a:solidFill>
                <a:latin typeface="Aptos"/>
              </a:rPr>
              <a:t>/login</a:t>
            </a:r>
          </a:p>
        </p:txBody>
      </p:sp>
      <p:sp>
        <p:nvSpPr>
          <p:cNvPr id="10" name="TextBox 9"/>
          <p:cNvSpPr txBox="1"/>
          <p:nvPr/>
        </p:nvSpPr>
        <p:spPr>
          <a:xfrm>
            <a:off x="777240" y="2267712"/>
            <a:ext cx="5029200" cy="192024"/>
          </a:xfrm>
          <a:prstGeom prst="rect">
            <a:avLst/>
          </a:prstGeom>
          <a:noFill/>
        </p:spPr>
        <p:txBody>
          <a:bodyPr wrap="square" lIns="18288" rIns="18288" tIns="18288" bIns="18288" anchor="t">
            <a:spAutoFit/>
          </a:bodyPr>
          <a:lstStyle/>
          <a:p>
            <a:pPr algn="l">
              <a:spcAft>
                <a:spcPts val="0"/>
              </a:spcAft>
            </a:pPr>
            <a:r>
              <a:rPr sz="850" b="0" i="0">
                <a:solidFill>
                  <a:srgbClr val="203B4B"/>
                </a:solidFill>
                <a:latin typeface="Aptos"/>
              </a:rPr>
              <a:t>Return a patient to protected booking and appointment services.</a:t>
            </a:r>
          </a:p>
        </p:txBody>
      </p:sp>
      <p:sp>
        <p:nvSpPr>
          <p:cNvPr id="11" name="TextBox 10"/>
          <p:cNvSpPr txBox="1"/>
          <p:nvPr/>
        </p:nvSpPr>
        <p:spPr>
          <a:xfrm>
            <a:off x="777240" y="2478024"/>
            <a:ext cx="5029200" cy="182880"/>
          </a:xfrm>
          <a:prstGeom prst="rect">
            <a:avLst/>
          </a:prstGeom>
          <a:noFill/>
        </p:spPr>
        <p:txBody>
          <a:bodyPr wrap="square" lIns="18288" rIns="18288" tIns="18288" bIns="18288" anchor="t">
            <a:spAutoFit/>
          </a:bodyPr>
          <a:lstStyle/>
          <a:p>
            <a:pPr algn="l">
              <a:spcAft>
                <a:spcPts val="0"/>
              </a:spcAft>
            </a:pPr>
            <a:r>
              <a:rPr sz="770" b="0" i="0">
                <a:solidFill>
                  <a:srgbClr val="607889"/>
                </a:solidFill>
                <a:latin typeface="Aptos"/>
              </a:rPr>
              <a:t>KEY UI  Email/password • remember option • reset link • validation/loading/error • create-account link</a:t>
            </a:r>
          </a:p>
        </p:txBody>
      </p:sp>
      <p:sp>
        <p:nvSpPr>
          <p:cNvPr id="12" name="Rounded Rectangle 11"/>
          <p:cNvSpPr/>
          <p:nvPr/>
        </p:nvSpPr>
        <p:spPr>
          <a:xfrm>
            <a:off x="6236207" y="1700784"/>
            <a:ext cx="5376672" cy="100584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73368" y="1847088"/>
            <a:ext cx="356616" cy="356616"/>
          </a:xfrm>
          <a:prstGeom prst="ellipse">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1933956"/>
            <a:ext cx="356616" cy="137160"/>
          </a:xfrm>
          <a:prstGeom prst="rect">
            <a:avLst/>
          </a:prstGeom>
          <a:noFill/>
        </p:spPr>
        <p:txBody>
          <a:bodyPr wrap="square" lIns="18288" rIns="18288" tIns="18288" bIns="18288" anchor="t">
            <a:spAutoFit/>
          </a:bodyPr>
          <a:lstStyle/>
          <a:p>
            <a:pPr algn="ctr">
              <a:spcAft>
                <a:spcPts val="0"/>
              </a:spcAft>
            </a:pPr>
            <a:r>
              <a:rPr sz="850" b="1" i="0">
                <a:solidFill>
                  <a:srgbClr val="FFFFFF"/>
                </a:solidFill>
                <a:latin typeface="Aptos"/>
              </a:rPr>
              <a:t>07</a:t>
            </a:r>
          </a:p>
        </p:txBody>
      </p:sp>
      <p:sp>
        <p:nvSpPr>
          <p:cNvPr id="15" name="TextBox 14"/>
          <p:cNvSpPr txBox="1"/>
          <p:nvPr/>
        </p:nvSpPr>
        <p:spPr>
          <a:xfrm>
            <a:off x="6830568" y="1810512"/>
            <a:ext cx="4526280" cy="228600"/>
          </a:xfrm>
          <a:prstGeom prst="rect">
            <a:avLst/>
          </a:prstGeom>
          <a:noFill/>
        </p:spPr>
        <p:txBody>
          <a:bodyPr wrap="square" lIns="18288" rIns="18288" tIns="18288" bIns="18288" anchor="t">
            <a:spAutoFit/>
          </a:bodyPr>
          <a:lstStyle/>
          <a:p>
            <a:pPr algn="l">
              <a:spcAft>
                <a:spcPts val="0"/>
              </a:spcAft>
            </a:pPr>
            <a:r>
              <a:rPr sz="1220" b="1" i="0">
                <a:solidFill>
                  <a:srgbClr val="15364A"/>
                </a:solidFill>
                <a:latin typeface="Aptos"/>
              </a:rPr>
              <a:t>Patient sign-up</a:t>
            </a:r>
          </a:p>
        </p:txBody>
      </p:sp>
      <p:sp>
        <p:nvSpPr>
          <p:cNvPr id="16" name="TextBox 15"/>
          <p:cNvSpPr txBox="1"/>
          <p:nvPr/>
        </p:nvSpPr>
        <p:spPr>
          <a:xfrm>
            <a:off x="6830568" y="2057400"/>
            <a:ext cx="4553712" cy="164592"/>
          </a:xfrm>
          <a:prstGeom prst="rect">
            <a:avLst/>
          </a:prstGeom>
          <a:noFill/>
        </p:spPr>
        <p:txBody>
          <a:bodyPr wrap="square" lIns="18288" rIns="18288" tIns="18288" bIns="18288" anchor="t">
            <a:spAutoFit/>
          </a:bodyPr>
          <a:lstStyle/>
          <a:p>
            <a:pPr algn="l">
              <a:spcAft>
                <a:spcPts val="0"/>
              </a:spcAft>
            </a:pPr>
            <a:r>
              <a:rPr sz="819" b="1" i="0">
                <a:solidFill>
                  <a:srgbClr val="26A99A"/>
                </a:solidFill>
                <a:latin typeface="Aptos"/>
              </a:rPr>
              <a:t>/signup</a:t>
            </a:r>
          </a:p>
        </p:txBody>
      </p:sp>
      <p:sp>
        <p:nvSpPr>
          <p:cNvPr id="17" name="TextBox 16"/>
          <p:cNvSpPr txBox="1"/>
          <p:nvPr/>
        </p:nvSpPr>
        <p:spPr>
          <a:xfrm>
            <a:off x="6391655" y="2267712"/>
            <a:ext cx="5029200" cy="192024"/>
          </a:xfrm>
          <a:prstGeom prst="rect">
            <a:avLst/>
          </a:prstGeom>
          <a:noFill/>
        </p:spPr>
        <p:txBody>
          <a:bodyPr wrap="square" lIns="18288" rIns="18288" tIns="18288" bIns="18288" anchor="t">
            <a:spAutoFit/>
          </a:bodyPr>
          <a:lstStyle/>
          <a:p>
            <a:pPr algn="l">
              <a:spcAft>
                <a:spcPts val="0"/>
              </a:spcAft>
            </a:pPr>
            <a:r>
              <a:rPr sz="850" b="0" i="0">
                <a:solidFill>
                  <a:srgbClr val="203B4B"/>
                </a:solidFill>
                <a:latin typeface="Aptos"/>
              </a:rPr>
              <a:t>Create a patient account with clear consent and field guidance.</a:t>
            </a:r>
          </a:p>
        </p:txBody>
      </p:sp>
      <p:sp>
        <p:nvSpPr>
          <p:cNvPr id="18" name="TextBox 17"/>
          <p:cNvSpPr txBox="1"/>
          <p:nvPr/>
        </p:nvSpPr>
        <p:spPr>
          <a:xfrm>
            <a:off x="6391655" y="2478024"/>
            <a:ext cx="5029200" cy="182880"/>
          </a:xfrm>
          <a:prstGeom prst="rect">
            <a:avLst/>
          </a:prstGeom>
          <a:noFill/>
        </p:spPr>
        <p:txBody>
          <a:bodyPr wrap="square" lIns="18288" rIns="18288" tIns="18288" bIns="18288" anchor="t">
            <a:spAutoFit/>
          </a:bodyPr>
          <a:lstStyle/>
          <a:p>
            <a:pPr algn="l">
              <a:spcAft>
                <a:spcPts val="0"/>
              </a:spcAft>
            </a:pPr>
            <a:r>
              <a:rPr sz="770" b="0" i="0">
                <a:solidFill>
                  <a:srgbClr val="607889"/>
                </a:solidFill>
                <a:latin typeface="Aptos"/>
              </a:rPr>
              <a:t>KEY UI  Name • email • phone • password/confirmation • terms consent • inline validation</a:t>
            </a:r>
          </a:p>
        </p:txBody>
      </p:sp>
      <p:sp>
        <p:nvSpPr>
          <p:cNvPr id="19" name="Rounded Rectangle 18"/>
          <p:cNvSpPr/>
          <p:nvPr/>
        </p:nvSpPr>
        <p:spPr>
          <a:xfrm>
            <a:off x="621792" y="2834640"/>
            <a:ext cx="5376672" cy="100584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58952" y="2980944"/>
            <a:ext cx="356616" cy="356616"/>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3067812"/>
            <a:ext cx="356616" cy="137160"/>
          </a:xfrm>
          <a:prstGeom prst="rect">
            <a:avLst/>
          </a:prstGeom>
          <a:noFill/>
        </p:spPr>
        <p:txBody>
          <a:bodyPr wrap="square" lIns="18288" rIns="18288" tIns="18288" bIns="18288" anchor="t">
            <a:spAutoFit/>
          </a:bodyPr>
          <a:lstStyle/>
          <a:p>
            <a:pPr algn="ctr">
              <a:spcAft>
                <a:spcPts val="0"/>
              </a:spcAft>
            </a:pPr>
            <a:r>
              <a:rPr sz="850" b="1" i="0">
                <a:solidFill>
                  <a:srgbClr val="FFFFFF"/>
                </a:solidFill>
                <a:latin typeface="Aptos"/>
              </a:rPr>
              <a:t>08</a:t>
            </a:r>
          </a:p>
        </p:txBody>
      </p:sp>
      <p:sp>
        <p:nvSpPr>
          <p:cNvPr id="22" name="TextBox 21"/>
          <p:cNvSpPr txBox="1"/>
          <p:nvPr/>
        </p:nvSpPr>
        <p:spPr>
          <a:xfrm>
            <a:off x="1216152" y="2944368"/>
            <a:ext cx="4526280" cy="228600"/>
          </a:xfrm>
          <a:prstGeom prst="rect">
            <a:avLst/>
          </a:prstGeom>
          <a:noFill/>
        </p:spPr>
        <p:txBody>
          <a:bodyPr wrap="square" lIns="18288" rIns="18288" tIns="18288" bIns="18288" anchor="t">
            <a:spAutoFit/>
          </a:bodyPr>
          <a:lstStyle/>
          <a:p>
            <a:pPr algn="l">
              <a:spcAft>
                <a:spcPts val="0"/>
              </a:spcAft>
            </a:pPr>
            <a:r>
              <a:rPr sz="1220" b="1" i="0">
                <a:solidFill>
                  <a:srgbClr val="15364A"/>
                </a:solidFill>
                <a:latin typeface="Aptos"/>
              </a:rPr>
              <a:t>Email verification</a:t>
            </a:r>
          </a:p>
        </p:txBody>
      </p:sp>
      <p:sp>
        <p:nvSpPr>
          <p:cNvPr id="23" name="TextBox 22"/>
          <p:cNvSpPr txBox="1"/>
          <p:nvPr/>
        </p:nvSpPr>
        <p:spPr>
          <a:xfrm>
            <a:off x="1216152" y="3191256"/>
            <a:ext cx="4553712" cy="164592"/>
          </a:xfrm>
          <a:prstGeom prst="rect">
            <a:avLst/>
          </a:prstGeom>
          <a:noFill/>
        </p:spPr>
        <p:txBody>
          <a:bodyPr wrap="square" lIns="18288" rIns="18288" tIns="18288" bIns="18288" anchor="t">
            <a:spAutoFit/>
          </a:bodyPr>
          <a:lstStyle/>
          <a:p>
            <a:pPr algn="l">
              <a:spcAft>
                <a:spcPts val="0"/>
              </a:spcAft>
            </a:pPr>
            <a:r>
              <a:rPr sz="819" b="1" i="0">
                <a:solidFill>
                  <a:srgbClr val="26A99A"/>
                </a:solidFill>
                <a:latin typeface="Aptos"/>
              </a:rPr>
              <a:t>/verify-otp</a:t>
            </a:r>
          </a:p>
        </p:txBody>
      </p:sp>
      <p:sp>
        <p:nvSpPr>
          <p:cNvPr id="24" name="TextBox 23"/>
          <p:cNvSpPr txBox="1"/>
          <p:nvPr/>
        </p:nvSpPr>
        <p:spPr>
          <a:xfrm>
            <a:off x="777240" y="3401568"/>
            <a:ext cx="5029200" cy="192024"/>
          </a:xfrm>
          <a:prstGeom prst="rect">
            <a:avLst/>
          </a:prstGeom>
          <a:noFill/>
        </p:spPr>
        <p:txBody>
          <a:bodyPr wrap="square" lIns="18288" rIns="18288" tIns="18288" bIns="18288" anchor="t">
            <a:spAutoFit/>
          </a:bodyPr>
          <a:lstStyle/>
          <a:p>
            <a:pPr algn="l">
              <a:spcAft>
                <a:spcPts val="0"/>
              </a:spcAft>
            </a:pPr>
            <a:r>
              <a:rPr sz="850" b="0" i="0">
                <a:solidFill>
                  <a:srgbClr val="203B4B"/>
                </a:solidFill>
                <a:latin typeface="Aptos"/>
              </a:rPr>
              <a:t>Confirm the account contact before proceeding.</a:t>
            </a:r>
          </a:p>
        </p:txBody>
      </p:sp>
      <p:sp>
        <p:nvSpPr>
          <p:cNvPr id="25" name="TextBox 24"/>
          <p:cNvSpPr txBox="1"/>
          <p:nvPr/>
        </p:nvSpPr>
        <p:spPr>
          <a:xfrm>
            <a:off x="777240" y="3611880"/>
            <a:ext cx="5029200" cy="182880"/>
          </a:xfrm>
          <a:prstGeom prst="rect">
            <a:avLst/>
          </a:prstGeom>
          <a:noFill/>
        </p:spPr>
        <p:txBody>
          <a:bodyPr wrap="square" lIns="18288" rIns="18288" tIns="18288" bIns="18288" anchor="t">
            <a:spAutoFit/>
          </a:bodyPr>
          <a:lstStyle/>
          <a:p>
            <a:pPr algn="l">
              <a:spcAft>
                <a:spcPts val="0"/>
              </a:spcAft>
            </a:pPr>
            <a:r>
              <a:rPr sz="770" b="0" i="0">
                <a:solidFill>
                  <a:srgbClr val="607889"/>
                </a:solidFill>
                <a:latin typeface="Aptos"/>
              </a:rPr>
              <a:t>KEY UI  Six-digit code • resend • attempt feedback • success state • continue to patient area</a:t>
            </a:r>
          </a:p>
        </p:txBody>
      </p:sp>
      <p:sp>
        <p:nvSpPr>
          <p:cNvPr id="26" name="Rounded Rectangle 25"/>
          <p:cNvSpPr/>
          <p:nvPr/>
        </p:nvSpPr>
        <p:spPr>
          <a:xfrm>
            <a:off x="6236207" y="2834640"/>
            <a:ext cx="5376672" cy="100584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3368" y="2980944"/>
            <a:ext cx="356616" cy="356616"/>
          </a:xfrm>
          <a:prstGeom prst="ellipse">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3368" y="3067812"/>
            <a:ext cx="356616" cy="137160"/>
          </a:xfrm>
          <a:prstGeom prst="rect">
            <a:avLst/>
          </a:prstGeom>
          <a:noFill/>
        </p:spPr>
        <p:txBody>
          <a:bodyPr wrap="square" lIns="18288" rIns="18288" tIns="18288" bIns="18288" anchor="t">
            <a:spAutoFit/>
          </a:bodyPr>
          <a:lstStyle/>
          <a:p>
            <a:pPr algn="ctr">
              <a:spcAft>
                <a:spcPts val="0"/>
              </a:spcAft>
            </a:pPr>
            <a:r>
              <a:rPr sz="850" b="1" i="0">
                <a:solidFill>
                  <a:srgbClr val="FFFFFF"/>
                </a:solidFill>
                <a:latin typeface="Aptos"/>
              </a:rPr>
              <a:t>09</a:t>
            </a:r>
          </a:p>
        </p:txBody>
      </p:sp>
      <p:sp>
        <p:nvSpPr>
          <p:cNvPr id="29" name="TextBox 28"/>
          <p:cNvSpPr txBox="1"/>
          <p:nvPr/>
        </p:nvSpPr>
        <p:spPr>
          <a:xfrm>
            <a:off x="6830568" y="2944368"/>
            <a:ext cx="4526280" cy="228600"/>
          </a:xfrm>
          <a:prstGeom prst="rect">
            <a:avLst/>
          </a:prstGeom>
          <a:noFill/>
        </p:spPr>
        <p:txBody>
          <a:bodyPr wrap="square" lIns="18288" rIns="18288" tIns="18288" bIns="18288" anchor="t">
            <a:spAutoFit/>
          </a:bodyPr>
          <a:lstStyle/>
          <a:p>
            <a:pPr algn="l">
              <a:spcAft>
                <a:spcPts val="0"/>
              </a:spcAft>
            </a:pPr>
            <a:r>
              <a:rPr sz="1220" b="1" i="0">
                <a:solidFill>
                  <a:srgbClr val="15364A"/>
                </a:solidFill>
                <a:latin typeface="Aptos"/>
              </a:rPr>
              <a:t>Password reset</a:t>
            </a:r>
          </a:p>
        </p:txBody>
      </p:sp>
      <p:sp>
        <p:nvSpPr>
          <p:cNvPr id="30" name="TextBox 29"/>
          <p:cNvSpPr txBox="1"/>
          <p:nvPr/>
        </p:nvSpPr>
        <p:spPr>
          <a:xfrm>
            <a:off x="6830568" y="3191256"/>
            <a:ext cx="4553712" cy="164592"/>
          </a:xfrm>
          <a:prstGeom prst="rect">
            <a:avLst/>
          </a:prstGeom>
          <a:noFill/>
        </p:spPr>
        <p:txBody>
          <a:bodyPr wrap="square" lIns="18288" rIns="18288" tIns="18288" bIns="18288" anchor="t">
            <a:spAutoFit/>
          </a:bodyPr>
          <a:lstStyle/>
          <a:p>
            <a:pPr algn="l">
              <a:spcAft>
                <a:spcPts val="0"/>
              </a:spcAft>
            </a:pPr>
            <a:r>
              <a:rPr sz="819" b="1" i="0">
                <a:solidFill>
                  <a:srgbClr val="26A99A"/>
                </a:solidFill>
                <a:latin typeface="Aptos"/>
              </a:rPr>
              <a:t>/reset-password</a:t>
            </a:r>
          </a:p>
        </p:txBody>
      </p:sp>
      <p:sp>
        <p:nvSpPr>
          <p:cNvPr id="31" name="TextBox 30"/>
          <p:cNvSpPr txBox="1"/>
          <p:nvPr/>
        </p:nvSpPr>
        <p:spPr>
          <a:xfrm>
            <a:off x="6391655" y="3401568"/>
            <a:ext cx="5029200" cy="192024"/>
          </a:xfrm>
          <a:prstGeom prst="rect">
            <a:avLst/>
          </a:prstGeom>
          <a:noFill/>
        </p:spPr>
        <p:txBody>
          <a:bodyPr wrap="square" lIns="18288" rIns="18288" tIns="18288" bIns="18288" anchor="t">
            <a:spAutoFit/>
          </a:bodyPr>
          <a:lstStyle/>
          <a:p>
            <a:pPr algn="l">
              <a:spcAft>
                <a:spcPts val="0"/>
              </a:spcAft>
            </a:pPr>
            <a:r>
              <a:rPr sz="850" b="0" i="0">
                <a:solidFill>
                  <a:srgbClr val="203B4B"/>
                </a:solidFill>
                <a:latin typeface="Aptos"/>
              </a:rPr>
              <a:t>Help an existing user safely regain access.</a:t>
            </a:r>
          </a:p>
        </p:txBody>
      </p:sp>
      <p:sp>
        <p:nvSpPr>
          <p:cNvPr id="32" name="TextBox 31"/>
          <p:cNvSpPr txBox="1"/>
          <p:nvPr/>
        </p:nvSpPr>
        <p:spPr>
          <a:xfrm>
            <a:off x="6391655" y="3611880"/>
            <a:ext cx="5029200" cy="182880"/>
          </a:xfrm>
          <a:prstGeom prst="rect">
            <a:avLst/>
          </a:prstGeom>
          <a:noFill/>
        </p:spPr>
        <p:txBody>
          <a:bodyPr wrap="square" lIns="18288" rIns="18288" tIns="18288" bIns="18288" anchor="t">
            <a:spAutoFit/>
          </a:bodyPr>
          <a:lstStyle/>
          <a:p>
            <a:pPr algn="l">
              <a:spcAft>
                <a:spcPts val="0"/>
              </a:spcAft>
            </a:pPr>
            <a:r>
              <a:rPr sz="770" b="0" i="0">
                <a:solidFill>
                  <a:srgbClr val="607889"/>
                </a:solidFill>
                <a:latin typeface="Aptos"/>
              </a:rPr>
              <a:t>KEY UI  Email entry • neutral sent confirmation • return to sign-in</a:t>
            </a:r>
          </a:p>
        </p:txBody>
      </p:sp>
      <p:sp>
        <p:nvSpPr>
          <p:cNvPr id="33" name="Rounded Rectangle 32"/>
          <p:cNvSpPr/>
          <p:nvPr/>
        </p:nvSpPr>
        <p:spPr>
          <a:xfrm>
            <a:off x="621792" y="3968496"/>
            <a:ext cx="5376672" cy="100584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58952" y="4114800"/>
            <a:ext cx="356616" cy="356616"/>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8952" y="4201668"/>
            <a:ext cx="356616" cy="137160"/>
          </a:xfrm>
          <a:prstGeom prst="rect">
            <a:avLst/>
          </a:prstGeom>
          <a:noFill/>
        </p:spPr>
        <p:txBody>
          <a:bodyPr wrap="square" lIns="18288" rIns="18288" tIns="18288" bIns="18288" anchor="t">
            <a:spAutoFit/>
          </a:bodyPr>
          <a:lstStyle/>
          <a:p>
            <a:pPr algn="ctr">
              <a:spcAft>
                <a:spcPts val="0"/>
              </a:spcAft>
            </a:pPr>
            <a:r>
              <a:rPr sz="850" b="1" i="0">
                <a:solidFill>
                  <a:srgbClr val="FFFFFF"/>
                </a:solidFill>
                <a:latin typeface="Aptos"/>
              </a:rPr>
              <a:t>10</a:t>
            </a:r>
          </a:p>
        </p:txBody>
      </p:sp>
      <p:sp>
        <p:nvSpPr>
          <p:cNvPr id="36" name="TextBox 35"/>
          <p:cNvSpPr txBox="1"/>
          <p:nvPr/>
        </p:nvSpPr>
        <p:spPr>
          <a:xfrm>
            <a:off x="1216152" y="4078224"/>
            <a:ext cx="4526280" cy="228600"/>
          </a:xfrm>
          <a:prstGeom prst="rect">
            <a:avLst/>
          </a:prstGeom>
          <a:noFill/>
        </p:spPr>
        <p:txBody>
          <a:bodyPr wrap="square" lIns="18288" rIns="18288" tIns="18288" bIns="18288" anchor="t">
            <a:spAutoFit/>
          </a:bodyPr>
          <a:lstStyle/>
          <a:p>
            <a:pPr algn="l">
              <a:spcAft>
                <a:spcPts val="0"/>
              </a:spcAft>
            </a:pPr>
            <a:r>
              <a:rPr sz="1220" b="1" i="0">
                <a:solidFill>
                  <a:srgbClr val="15364A"/>
                </a:solidFill>
                <a:latin typeface="Aptos"/>
              </a:rPr>
              <a:t>Doctor sign-in</a:t>
            </a:r>
          </a:p>
        </p:txBody>
      </p:sp>
      <p:sp>
        <p:nvSpPr>
          <p:cNvPr id="37" name="TextBox 36"/>
          <p:cNvSpPr txBox="1"/>
          <p:nvPr/>
        </p:nvSpPr>
        <p:spPr>
          <a:xfrm>
            <a:off x="1216152" y="4325112"/>
            <a:ext cx="4553712" cy="164592"/>
          </a:xfrm>
          <a:prstGeom prst="rect">
            <a:avLst/>
          </a:prstGeom>
          <a:noFill/>
        </p:spPr>
        <p:txBody>
          <a:bodyPr wrap="square" lIns="18288" rIns="18288" tIns="18288" bIns="18288" anchor="t">
            <a:spAutoFit/>
          </a:bodyPr>
          <a:lstStyle/>
          <a:p>
            <a:pPr algn="l">
              <a:spcAft>
                <a:spcPts val="0"/>
              </a:spcAft>
            </a:pPr>
            <a:r>
              <a:rPr sz="819" b="1" i="0">
                <a:solidFill>
                  <a:srgbClr val="26A99A"/>
                </a:solidFill>
                <a:latin typeface="Aptos"/>
              </a:rPr>
              <a:t>/login?role=doctor</a:t>
            </a:r>
          </a:p>
        </p:txBody>
      </p:sp>
      <p:sp>
        <p:nvSpPr>
          <p:cNvPr id="38" name="TextBox 37"/>
          <p:cNvSpPr txBox="1"/>
          <p:nvPr/>
        </p:nvSpPr>
        <p:spPr>
          <a:xfrm>
            <a:off x="777240" y="4535424"/>
            <a:ext cx="5029200" cy="192024"/>
          </a:xfrm>
          <a:prstGeom prst="rect">
            <a:avLst/>
          </a:prstGeom>
          <a:noFill/>
        </p:spPr>
        <p:txBody>
          <a:bodyPr wrap="square" lIns="18288" rIns="18288" tIns="18288" bIns="18288" anchor="t">
            <a:spAutoFit/>
          </a:bodyPr>
          <a:lstStyle/>
          <a:p>
            <a:pPr algn="l">
              <a:spcAft>
                <a:spcPts val="0"/>
              </a:spcAft>
            </a:pPr>
            <a:r>
              <a:rPr sz="850" b="0" i="0">
                <a:solidFill>
                  <a:srgbClr val="203B4B"/>
                </a:solidFill>
                <a:latin typeface="Aptos"/>
              </a:rPr>
              <a:t>Give doctors a distinct entry context into the same shared sign-in UI.</a:t>
            </a:r>
          </a:p>
        </p:txBody>
      </p:sp>
      <p:sp>
        <p:nvSpPr>
          <p:cNvPr id="39" name="TextBox 38"/>
          <p:cNvSpPr txBox="1"/>
          <p:nvPr/>
        </p:nvSpPr>
        <p:spPr>
          <a:xfrm>
            <a:off x="777240" y="4745736"/>
            <a:ext cx="5029200" cy="182880"/>
          </a:xfrm>
          <a:prstGeom prst="rect">
            <a:avLst/>
          </a:prstGeom>
          <a:noFill/>
        </p:spPr>
        <p:txBody>
          <a:bodyPr wrap="square" lIns="18288" rIns="18288" tIns="18288" bIns="18288" anchor="t">
            <a:spAutoFit/>
          </a:bodyPr>
          <a:lstStyle/>
          <a:p>
            <a:pPr algn="l">
              <a:spcAft>
                <a:spcPts val="0"/>
              </a:spcAft>
            </a:pPr>
            <a:r>
              <a:rPr sz="770" b="0" i="0">
                <a:solidFill>
                  <a:srgbClr val="607889"/>
                </a:solidFill>
                <a:latin typeface="Aptos"/>
              </a:rPr>
              <a:t>KEY UI  Doctor-selected role • credentials • recovery • protected doctor destination</a:t>
            </a:r>
          </a:p>
        </p:txBody>
      </p:sp>
      <p:cxnSp>
        <p:nvCxnSpPr>
          <p:cNvPr id="40" name="Connector 39"/>
          <p:cNvCxnSpPr/>
          <p:nvPr/>
        </p:nvCxnSpPr>
        <p:spPr>
          <a:xfrm>
            <a:off x="502920" y="6510528"/>
            <a:ext cx="11183112" cy="0"/>
          </a:xfrm>
          <a:prstGeom prst="line">
            <a:avLst/>
          </a:prstGeom>
          <a:ln w="8890">
            <a:solidFill>
              <a:srgbClr val="DCE7ED"/>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48640" y="6574536"/>
            <a:ext cx="6858000" cy="164592"/>
          </a:xfrm>
          <a:prstGeom prst="rect">
            <a:avLst/>
          </a:prstGeom>
          <a:noFill/>
        </p:spPr>
        <p:txBody>
          <a:bodyPr wrap="square" lIns="18288" rIns="18288" tIns="18288" bIns="18288" anchor="t">
            <a:spAutoFit/>
          </a:bodyPr>
          <a:lstStyle/>
          <a:p>
            <a:pPr algn="l">
              <a:spcAft>
                <a:spcPts val="0"/>
              </a:spcAft>
            </a:pPr>
            <a:r>
              <a:rPr sz="800" b="1" i="0">
                <a:solidFill>
                  <a:srgbClr val="607889"/>
                </a:solidFill>
                <a:latin typeface="Aptos"/>
              </a:rPr>
              <a:t>HEALTHCARE CONNECT  /  UI PLAN  •  WORKING DRAFT</a:t>
            </a:r>
          </a:p>
        </p:txBody>
      </p:sp>
      <p:sp>
        <p:nvSpPr>
          <p:cNvPr id="42" name="TextBox 41"/>
          <p:cNvSpPr txBox="1"/>
          <p:nvPr/>
        </p:nvSpPr>
        <p:spPr>
          <a:xfrm>
            <a:off x="10972800" y="6565392"/>
            <a:ext cx="594360" cy="182880"/>
          </a:xfrm>
          <a:prstGeom prst="rect">
            <a:avLst/>
          </a:prstGeom>
          <a:noFill/>
        </p:spPr>
        <p:txBody>
          <a:bodyPr wrap="square" lIns="18288" rIns="18288" tIns="18288" bIns="18288" anchor="t">
            <a:spAutoFit/>
          </a:bodyPr>
          <a:lstStyle/>
          <a:p>
            <a:pPr algn="r">
              <a:spcAft>
                <a:spcPts val="0"/>
              </a:spcAft>
            </a:pPr>
            <a:r>
              <a:rPr sz="900" b="1" i="0">
                <a:solidFill>
                  <a:srgbClr val="607889"/>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594360" y="384048"/>
            <a:ext cx="4114800" cy="201168"/>
          </a:xfrm>
          <a:prstGeom prst="rect">
            <a:avLst/>
          </a:prstGeom>
          <a:noFill/>
        </p:spPr>
        <p:txBody>
          <a:bodyPr wrap="square" lIns="18288" rIns="18288" tIns="18288" bIns="18288" anchor="t">
            <a:spAutoFit/>
          </a:bodyPr>
          <a:lstStyle/>
          <a:p>
            <a:pPr algn="l">
              <a:spcAft>
                <a:spcPts val="0"/>
              </a:spcAft>
            </a:pPr>
            <a:r>
              <a:rPr sz="900" b="1" i="0">
                <a:solidFill>
                  <a:srgbClr val="26A99A"/>
                </a:solidFill>
                <a:latin typeface="Aptos"/>
              </a:rPr>
              <a:t>10 / PROPOSED PRIMARY SCREENS</a:t>
            </a:r>
          </a:p>
        </p:txBody>
      </p:sp>
      <p:sp>
        <p:nvSpPr>
          <p:cNvPr id="3" name="TextBox 2"/>
          <p:cNvSpPr txBox="1"/>
          <p:nvPr/>
        </p:nvSpPr>
        <p:spPr>
          <a:xfrm>
            <a:off x="594360" y="658368"/>
            <a:ext cx="10972800" cy="475488"/>
          </a:xfrm>
          <a:prstGeom prst="rect">
            <a:avLst/>
          </a:prstGeom>
          <a:noFill/>
        </p:spPr>
        <p:txBody>
          <a:bodyPr wrap="square" lIns="18288" rIns="18288" tIns="18288" bIns="18288" anchor="t">
            <a:spAutoFit/>
          </a:bodyPr>
          <a:lstStyle/>
          <a:p>
            <a:pPr algn="l">
              <a:spcAft>
                <a:spcPts val="0"/>
              </a:spcAft>
            </a:pPr>
            <a:r>
              <a:rPr sz="2700" b="1" i="0">
                <a:solidFill>
                  <a:srgbClr val="15364A"/>
                </a:solidFill>
                <a:latin typeface="Aptos"/>
              </a:rPr>
              <a:t>Twenty proposed primary screens/routes</a:t>
            </a:r>
          </a:p>
        </p:txBody>
      </p:sp>
      <p:sp>
        <p:nvSpPr>
          <p:cNvPr id="4" name="TextBox 3"/>
          <p:cNvSpPr txBox="1"/>
          <p:nvPr/>
        </p:nvSpPr>
        <p:spPr>
          <a:xfrm>
            <a:off x="612648" y="1207008"/>
            <a:ext cx="10789920" cy="365760"/>
          </a:xfrm>
          <a:prstGeom prst="rect">
            <a:avLst/>
          </a:prstGeom>
          <a:noFill/>
        </p:spPr>
        <p:txBody>
          <a:bodyPr wrap="square" lIns="18288" rIns="18288" tIns="18288" bIns="18288" anchor="t">
            <a:spAutoFit/>
          </a:bodyPr>
          <a:lstStyle/>
          <a:p>
            <a:pPr algn="l">
              <a:spcAft>
                <a:spcPts val="0"/>
              </a:spcAft>
            </a:pPr>
            <a:r>
              <a:rPr sz="1250" b="0" i="0">
                <a:solidFill>
                  <a:srgbClr val="607889"/>
                </a:solidFill>
                <a:latin typeface="Aptos"/>
              </a:rPr>
              <a:t>Working inventory mapped from the existing project. Confirm names, priorities and visual content against the proposal and reference image.</a:t>
            </a:r>
          </a:p>
        </p:txBody>
      </p:sp>
      <p:sp>
        <p:nvSpPr>
          <p:cNvPr id="5" name="Rounded Rectangle 4"/>
          <p:cNvSpPr/>
          <p:nvPr/>
        </p:nvSpPr>
        <p:spPr>
          <a:xfrm>
            <a:off x="621792" y="1700784"/>
            <a:ext cx="5376672" cy="100584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58952" y="1847088"/>
            <a:ext cx="356616" cy="356616"/>
          </a:xfrm>
          <a:prstGeom prst="ellipse">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933956"/>
            <a:ext cx="356616" cy="137160"/>
          </a:xfrm>
          <a:prstGeom prst="rect">
            <a:avLst/>
          </a:prstGeom>
          <a:noFill/>
        </p:spPr>
        <p:txBody>
          <a:bodyPr wrap="square" lIns="18288" rIns="18288" tIns="18288" bIns="18288" anchor="t">
            <a:spAutoFit/>
          </a:bodyPr>
          <a:lstStyle/>
          <a:p>
            <a:pPr algn="ctr">
              <a:spcAft>
                <a:spcPts val="0"/>
              </a:spcAft>
            </a:pPr>
            <a:r>
              <a:rPr sz="850" b="1" i="0">
                <a:solidFill>
                  <a:srgbClr val="FFFFFF"/>
                </a:solidFill>
                <a:latin typeface="Aptos"/>
              </a:rPr>
              <a:t>11</a:t>
            </a:r>
          </a:p>
        </p:txBody>
      </p:sp>
      <p:sp>
        <p:nvSpPr>
          <p:cNvPr id="8" name="TextBox 7"/>
          <p:cNvSpPr txBox="1"/>
          <p:nvPr/>
        </p:nvSpPr>
        <p:spPr>
          <a:xfrm>
            <a:off x="1216152" y="1810512"/>
            <a:ext cx="4526280" cy="228600"/>
          </a:xfrm>
          <a:prstGeom prst="rect">
            <a:avLst/>
          </a:prstGeom>
          <a:noFill/>
        </p:spPr>
        <p:txBody>
          <a:bodyPr wrap="square" lIns="18288" rIns="18288" tIns="18288" bIns="18288" anchor="t">
            <a:spAutoFit/>
          </a:bodyPr>
          <a:lstStyle/>
          <a:p>
            <a:pPr algn="l">
              <a:spcAft>
                <a:spcPts val="0"/>
              </a:spcAft>
            </a:pPr>
            <a:r>
              <a:rPr sz="1220" b="1" i="0">
                <a:solidFill>
                  <a:srgbClr val="15364A"/>
                </a:solidFill>
                <a:latin typeface="Aptos"/>
              </a:rPr>
              <a:t>Booking (multi-step)</a:t>
            </a:r>
          </a:p>
        </p:txBody>
      </p:sp>
      <p:sp>
        <p:nvSpPr>
          <p:cNvPr id="9" name="TextBox 8"/>
          <p:cNvSpPr txBox="1"/>
          <p:nvPr/>
        </p:nvSpPr>
        <p:spPr>
          <a:xfrm>
            <a:off x="1216152" y="2057400"/>
            <a:ext cx="4553712" cy="164592"/>
          </a:xfrm>
          <a:prstGeom prst="rect">
            <a:avLst/>
          </a:prstGeom>
          <a:noFill/>
        </p:spPr>
        <p:txBody>
          <a:bodyPr wrap="square" lIns="18288" rIns="18288" tIns="18288" bIns="18288" anchor="t">
            <a:spAutoFit/>
          </a:bodyPr>
          <a:lstStyle/>
          <a:p>
            <a:pPr algn="l">
              <a:spcAft>
                <a:spcPts val="0"/>
              </a:spcAft>
            </a:pPr>
            <a:r>
              <a:rPr sz="819" b="1" i="0">
                <a:solidFill>
                  <a:srgbClr val="26A99A"/>
                </a:solidFill>
                <a:latin typeface="Aptos"/>
              </a:rPr>
              <a:t>/booking/:doctorId</a:t>
            </a:r>
          </a:p>
        </p:txBody>
      </p:sp>
      <p:sp>
        <p:nvSpPr>
          <p:cNvPr id="10" name="TextBox 9"/>
          <p:cNvSpPr txBox="1"/>
          <p:nvPr/>
        </p:nvSpPr>
        <p:spPr>
          <a:xfrm>
            <a:off x="777240" y="2267712"/>
            <a:ext cx="5029200" cy="192024"/>
          </a:xfrm>
          <a:prstGeom prst="rect">
            <a:avLst/>
          </a:prstGeom>
          <a:noFill/>
        </p:spPr>
        <p:txBody>
          <a:bodyPr wrap="square" lIns="18288" rIns="18288" tIns="18288" bIns="18288" anchor="t">
            <a:spAutoFit/>
          </a:bodyPr>
          <a:lstStyle/>
          <a:p>
            <a:pPr algn="l">
              <a:spcAft>
                <a:spcPts val="0"/>
              </a:spcAft>
            </a:pPr>
            <a:r>
              <a:rPr sz="850" b="0" i="0">
                <a:solidFill>
                  <a:srgbClr val="203B4B"/>
                </a:solidFill>
                <a:latin typeface="Aptos"/>
              </a:rPr>
              <a:t>Collect appointment choices progressively without losing the draft.</a:t>
            </a:r>
          </a:p>
        </p:txBody>
      </p:sp>
      <p:sp>
        <p:nvSpPr>
          <p:cNvPr id="11" name="TextBox 10"/>
          <p:cNvSpPr txBox="1"/>
          <p:nvPr/>
        </p:nvSpPr>
        <p:spPr>
          <a:xfrm>
            <a:off x="777240" y="2478024"/>
            <a:ext cx="5029200" cy="182880"/>
          </a:xfrm>
          <a:prstGeom prst="rect">
            <a:avLst/>
          </a:prstGeom>
          <a:noFill/>
        </p:spPr>
        <p:txBody>
          <a:bodyPr wrap="square" lIns="18288" rIns="18288" tIns="18288" bIns="18288" anchor="t">
            <a:spAutoFit/>
          </a:bodyPr>
          <a:lstStyle/>
          <a:p>
            <a:pPr algn="l">
              <a:spcAft>
                <a:spcPts val="0"/>
              </a:spcAft>
            </a:pPr>
            <a:r>
              <a:rPr sz="770" b="0" i="0">
                <a:solidFill>
                  <a:srgbClr val="607889"/>
                </a:solidFill>
                <a:latin typeface="Aptos"/>
              </a:rPr>
              <a:t>KEY UI  Visit type • date/slot • patient/contact details • optional note • review • step progress</a:t>
            </a:r>
          </a:p>
        </p:txBody>
      </p:sp>
      <p:sp>
        <p:nvSpPr>
          <p:cNvPr id="12" name="Rounded Rectangle 11"/>
          <p:cNvSpPr/>
          <p:nvPr/>
        </p:nvSpPr>
        <p:spPr>
          <a:xfrm>
            <a:off x="6236207" y="1700784"/>
            <a:ext cx="5376672" cy="100584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73368" y="1847088"/>
            <a:ext cx="356616" cy="356616"/>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1933956"/>
            <a:ext cx="356616" cy="137160"/>
          </a:xfrm>
          <a:prstGeom prst="rect">
            <a:avLst/>
          </a:prstGeom>
          <a:noFill/>
        </p:spPr>
        <p:txBody>
          <a:bodyPr wrap="square" lIns="18288" rIns="18288" tIns="18288" bIns="18288" anchor="t">
            <a:spAutoFit/>
          </a:bodyPr>
          <a:lstStyle/>
          <a:p>
            <a:pPr algn="ctr">
              <a:spcAft>
                <a:spcPts val="0"/>
              </a:spcAft>
            </a:pPr>
            <a:r>
              <a:rPr sz="850" b="1" i="0">
                <a:solidFill>
                  <a:srgbClr val="FFFFFF"/>
                </a:solidFill>
                <a:latin typeface="Aptos"/>
              </a:rPr>
              <a:t>12</a:t>
            </a:r>
          </a:p>
        </p:txBody>
      </p:sp>
      <p:sp>
        <p:nvSpPr>
          <p:cNvPr id="15" name="TextBox 14"/>
          <p:cNvSpPr txBox="1"/>
          <p:nvPr/>
        </p:nvSpPr>
        <p:spPr>
          <a:xfrm>
            <a:off x="6830568" y="1810512"/>
            <a:ext cx="4526280" cy="228600"/>
          </a:xfrm>
          <a:prstGeom prst="rect">
            <a:avLst/>
          </a:prstGeom>
          <a:noFill/>
        </p:spPr>
        <p:txBody>
          <a:bodyPr wrap="square" lIns="18288" rIns="18288" tIns="18288" bIns="18288" anchor="t">
            <a:spAutoFit/>
          </a:bodyPr>
          <a:lstStyle/>
          <a:p>
            <a:pPr algn="l">
              <a:spcAft>
                <a:spcPts val="0"/>
              </a:spcAft>
            </a:pPr>
            <a:r>
              <a:rPr sz="1220" b="1" i="0">
                <a:solidFill>
                  <a:srgbClr val="15364A"/>
                </a:solidFill>
                <a:latin typeface="Aptos"/>
              </a:rPr>
              <a:t>Razorpay checkout</a:t>
            </a:r>
          </a:p>
        </p:txBody>
      </p:sp>
      <p:sp>
        <p:nvSpPr>
          <p:cNvPr id="16" name="TextBox 15"/>
          <p:cNvSpPr txBox="1"/>
          <p:nvPr/>
        </p:nvSpPr>
        <p:spPr>
          <a:xfrm>
            <a:off x="6830568" y="2057400"/>
            <a:ext cx="4553712" cy="164592"/>
          </a:xfrm>
          <a:prstGeom prst="rect">
            <a:avLst/>
          </a:prstGeom>
          <a:noFill/>
        </p:spPr>
        <p:txBody>
          <a:bodyPr wrap="square" lIns="18288" rIns="18288" tIns="18288" bIns="18288" anchor="t">
            <a:spAutoFit/>
          </a:bodyPr>
          <a:lstStyle/>
          <a:p>
            <a:pPr algn="l">
              <a:spcAft>
                <a:spcPts val="0"/>
              </a:spcAft>
            </a:pPr>
            <a:r>
              <a:rPr sz="819" b="1" i="0">
                <a:solidFill>
                  <a:srgbClr val="26A99A"/>
                </a:solidFill>
                <a:latin typeface="Aptos"/>
              </a:rPr>
              <a:t>/payment → gateway</a:t>
            </a:r>
          </a:p>
        </p:txBody>
      </p:sp>
      <p:sp>
        <p:nvSpPr>
          <p:cNvPr id="17" name="TextBox 16"/>
          <p:cNvSpPr txBox="1"/>
          <p:nvPr/>
        </p:nvSpPr>
        <p:spPr>
          <a:xfrm>
            <a:off x="6391655" y="2267712"/>
            <a:ext cx="5029200" cy="192024"/>
          </a:xfrm>
          <a:prstGeom prst="rect">
            <a:avLst/>
          </a:prstGeom>
          <a:noFill/>
        </p:spPr>
        <p:txBody>
          <a:bodyPr wrap="square" lIns="18288" rIns="18288" tIns="18288" bIns="18288" anchor="t">
            <a:spAutoFit/>
          </a:bodyPr>
          <a:lstStyle/>
          <a:p>
            <a:pPr algn="l">
              <a:spcAft>
                <a:spcPts val="0"/>
              </a:spcAft>
            </a:pPr>
            <a:r>
              <a:rPr sz="850" b="0" i="0">
                <a:solidFill>
                  <a:srgbClr val="203B4B"/>
                </a:solidFill>
                <a:latin typeface="Aptos"/>
              </a:rPr>
              <a:t>Collect payment for the reviewed patient appointment.</a:t>
            </a:r>
          </a:p>
        </p:txBody>
      </p:sp>
      <p:sp>
        <p:nvSpPr>
          <p:cNvPr id="18" name="TextBox 17"/>
          <p:cNvSpPr txBox="1"/>
          <p:nvPr/>
        </p:nvSpPr>
        <p:spPr>
          <a:xfrm>
            <a:off x="6391655" y="2478024"/>
            <a:ext cx="5029200" cy="182880"/>
          </a:xfrm>
          <a:prstGeom prst="rect">
            <a:avLst/>
          </a:prstGeom>
          <a:noFill/>
        </p:spPr>
        <p:txBody>
          <a:bodyPr wrap="square" lIns="18288" rIns="18288" tIns="18288" bIns="18288" anchor="t">
            <a:spAutoFit/>
          </a:bodyPr>
          <a:lstStyle/>
          <a:p>
            <a:pPr algn="l">
              <a:spcAft>
                <a:spcPts val="0"/>
              </a:spcAft>
            </a:pPr>
            <a:r>
              <a:rPr sz="770" b="0" i="0">
                <a:solidFill>
                  <a:srgbClr val="607889"/>
                </a:solidFill>
                <a:latin typeface="Aptos"/>
              </a:rPr>
              <a:t>KEY UI  Appointment summary • total • gateway hand-off • processing / success / failure return</a:t>
            </a:r>
          </a:p>
        </p:txBody>
      </p:sp>
      <p:sp>
        <p:nvSpPr>
          <p:cNvPr id="19" name="Rounded Rectangle 18"/>
          <p:cNvSpPr/>
          <p:nvPr/>
        </p:nvSpPr>
        <p:spPr>
          <a:xfrm>
            <a:off x="621792" y="2834640"/>
            <a:ext cx="5376672" cy="100584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58952" y="2980944"/>
            <a:ext cx="356616" cy="356616"/>
          </a:xfrm>
          <a:prstGeom prst="ellipse">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3067812"/>
            <a:ext cx="356616" cy="137160"/>
          </a:xfrm>
          <a:prstGeom prst="rect">
            <a:avLst/>
          </a:prstGeom>
          <a:noFill/>
        </p:spPr>
        <p:txBody>
          <a:bodyPr wrap="square" lIns="18288" rIns="18288" tIns="18288" bIns="18288" anchor="t">
            <a:spAutoFit/>
          </a:bodyPr>
          <a:lstStyle/>
          <a:p>
            <a:pPr algn="ctr">
              <a:spcAft>
                <a:spcPts val="0"/>
              </a:spcAft>
            </a:pPr>
            <a:r>
              <a:rPr sz="850" b="1" i="0">
                <a:solidFill>
                  <a:srgbClr val="FFFFFF"/>
                </a:solidFill>
                <a:latin typeface="Aptos"/>
              </a:rPr>
              <a:t>13</a:t>
            </a:r>
          </a:p>
        </p:txBody>
      </p:sp>
      <p:sp>
        <p:nvSpPr>
          <p:cNvPr id="22" name="TextBox 21"/>
          <p:cNvSpPr txBox="1"/>
          <p:nvPr/>
        </p:nvSpPr>
        <p:spPr>
          <a:xfrm>
            <a:off x="1216152" y="2944368"/>
            <a:ext cx="4526280" cy="228600"/>
          </a:xfrm>
          <a:prstGeom prst="rect">
            <a:avLst/>
          </a:prstGeom>
          <a:noFill/>
        </p:spPr>
        <p:txBody>
          <a:bodyPr wrap="square" lIns="18288" rIns="18288" tIns="18288" bIns="18288" anchor="t">
            <a:spAutoFit/>
          </a:bodyPr>
          <a:lstStyle/>
          <a:p>
            <a:pPr algn="l">
              <a:spcAft>
                <a:spcPts val="0"/>
              </a:spcAft>
            </a:pPr>
            <a:r>
              <a:rPr sz="1220" b="1" i="0">
                <a:solidFill>
                  <a:srgbClr val="15364A"/>
                </a:solidFill>
                <a:latin typeface="Aptos"/>
              </a:rPr>
              <a:t>Booking confirmation</a:t>
            </a:r>
          </a:p>
        </p:txBody>
      </p:sp>
      <p:sp>
        <p:nvSpPr>
          <p:cNvPr id="23" name="TextBox 22"/>
          <p:cNvSpPr txBox="1"/>
          <p:nvPr/>
        </p:nvSpPr>
        <p:spPr>
          <a:xfrm>
            <a:off x="1216152" y="3191256"/>
            <a:ext cx="4553712" cy="164592"/>
          </a:xfrm>
          <a:prstGeom prst="rect">
            <a:avLst/>
          </a:prstGeom>
          <a:noFill/>
        </p:spPr>
        <p:txBody>
          <a:bodyPr wrap="square" lIns="18288" rIns="18288" tIns="18288" bIns="18288" anchor="t">
            <a:spAutoFit/>
          </a:bodyPr>
          <a:lstStyle/>
          <a:p>
            <a:pPr algn="l">
              <a:spcAft>
                <a:spcPts val="0"/>
              </a:spcAft>
            </a:pPr>
            <a:r>
              <a:rPr sz="819" b="1" i="0">
                <a:solidFill>
                  <a:srgbClr val="26A99A"/>
                </a:solidFill>
                <a:latin typeface="Aptos"/>
              </a:rPr>
              <a:t>/booking/confirmation</a:t>
            </a:r>
          </a:p>
        </p:txBody>
      </p:sp>
      <p:sp>
        <p:nvSpPr>
          <p:cNvPr id="24" name="TextBox 23"/>
          <p:cNvSpPr txBox="1"/>
          <p:nvPr/>
        </p:nvSpPr>
        <p:spPr>
          <a:xfrm>
            <a:off x="777240" y="3401568"/>
            <a:ext cx="5029200" cy="192024"/>
          </a:xfrm>
          <a:prstGeom prst="rect">
            <a:avLst/>
          </a:prstGeom>
          <a:noFill/>
        </p:spPr>
        <p:txBody>
          <a:bodyPr wrap="square" lIns="18288" rIns="18288" tIns="18288" bIns="18288" anchor="t">
            <a:spAutoFit/>
          </a:bodyPr>
          <a:lstStyle/>
          <a:p>
            <a:pPr algn="l">
              <a:spcAft>
                <a:spcPts val="0"/>
              </a:spcAft>
            </a:pPr>
            <a:r>
              <a:rPr sz="850" b="0" i="0">
                <a:solidFill>
                  <a:srgbClr val="203B4B"/>
                </a:solidFill>
                <a:latin typeface="Aptos"/>
              </a:rPr>
              <a:t>Reassure the patient that the booking is recorded.</a:t>
            </a:r>
          </a:p>
        </p:txBody>
      </p:sp>
      <p:sp>
        <p:nvSpPr>
          <p:cNvPr id="25" name="TextBox 24"/>
          <p:cNvSpPr txBox="1"/>
          <p:nvPr/>
        </p:nvSpPr>
        <p:spPr>
          <a:xfrm>
            <a:off x="777240" y="3611880"/>
            <a:ext cx="5029200" cy="182880"/>
          </a:xfrm>
          <a:prstGeom prst="rect">
            <a:avLst/>
          </a:prstGeom>
          <a:noFill/>
        </p:spPr>
        <p:txBody>
          <a:bodyPr wrap="square" lIns="18288" rIns="18288" tIns="18288" bIns="18288" anchor="t">
            <a:spAutoFit/>
          </a:bodyPr>
          <a:lstStyle/>
          <a:p>
            <a:pPr algn="l">
              <a:spcAft>
                <a:spcPts val="0"/>
              </a:spcAft>
            </a:pPr>
            <a:r>
              <a:rPr sz="770" b="0" i="0">
                <a:solidFill>
                  <a:srgbClr val="607889"/>
                </a:solidFill>
                <a:latin typeface="Aptos"/>
              </a:rPr>
              <a:t>KEY UI  Confirmed status • doctor • visit type • date/time • location/instructions • reference</a:t>
            </a:r>
          </a:p>
        </p:txBody>
      </p:sp>
      <p:sp>
        <p:nvSpPr>
          <p:cNvPr id="26" name="Rounded Rectangle 25"/>
          <p:cNvSpPr/>
          <p:nvPr/>
        </p:nvSpPr>
        <p:spPr>
          <a:xfrm>
            <a:off x="6236207" y="2834640"/>
            <a:ext cx="5376672" cy="100584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3368" y="2980944"/>
            <a:ext cx="356616" cy="356616"/>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3368" y="3067812"/>
            <a:ext cx="356616" cy="137160"/>
          </a:xfrm>
          <a:prstGeom prst="rect">
            <a:avLst/>
          </a:prstGeom>
          <a:noFill/>
        </p:spPr>
        <p:txBody>
          <a:bodyPr wrap="square" lIns="18288" rIns="18288" tIns="18288" bIns="18288" anchor="t">
            <a:spAutoFit/>
          </a:bodyPr>
          <a:lstStyle/>
          <a:p>
            <a:pPr algn="ctr">
              <a:spcAft>
                <a:spcPts val="0"/>
              </a:spcAft>
            </a:pPr>
            <a:r>
              <a:rPr sz="850" b="1" i="0">
                <a:solidFill>
                  <a:srgbClr val="FFFFFF"/>
                </a:solidFill>
                <a:latin typeface="Aptos"/>
              </a:rPr>
              <a:t>14</a:t>
            </a:r>
          </a:p>
        </p:txBody>
      </p:sp>
      <p:sp>
        <p:nvSpPr>
          <p:cNvPr id="29" name="TextBox 28"/>
          <p:cNvSpPr txBox="1"/>
          <p:nvPr/>
        </p:nvSpPr>
        <p:spPr>
          <a:xfrm>
            <a:off x="6830568" y="2944368"/>
            <a:ext cx="4526280" cy="228600"/>
          </a:xfrm>
          <a:prstGeom prst="rect">
            <a:avLst/>
          </a:prstGeom>
          <a:noFill/>
        </p:spPr>
        <p:txBody>
          <a:bodyPr wrap="square" lIns="18288" rIns="18288" tIns="18288" bIns="18288" anchor="t">
            <a:spAutoFit/>
          </a:bodyPr>
          <a:lstStyle/>
          <a:p>
            <a:pPr algn="l">
              <a:spcAft>
                <a:spcPts val="0"/>
              </a:spcAft>
            </a:pPr>
            <a:r>
              <a:rPr sz="1220" b="1" i="0">
                <a:solidFill>
                  <a:srgbClr val="15364A"/>
                </a:solidFill>
                <a:latin typeface="Aptos"/>
              </a:rPr>
              <a:t>Patient appointments</a:t>
            </a:r>
          </a:p>
        </p:txBody>
      </p:sp>
      <p:sp>
        <p:nvSpPr>
          <p:cNvPr id="30" name="TextBox 29"/>
          <p:cNvSpPr txBox="1"/>
          <p:nvPr/>
        </p:nvSpPr>
        <p:spPr>
          <a:xfrm>
            <a:off x="6830568" y="3191256"/>
            <a:ext cx="4553712" cy="164592"/>
          </a:xfrm>
          <a:prstGeom prst="rect">
            <a:avLst/>
          </a:prstGeom>
          <a:noFill/>
        </p:spPr>
        <p:txBody>
          <a:bodyPr wrap="square" lIns="18288" rIns="18288" tIns="18288" bIns="18288" anchor="t">
            <a:spAutoFit/>
          </a:bodyPr>
          <a:lstStyle/>
          <a:p>
            <a:pPr algn="l">
              <a:spcAft>
                <a:spcPts val="0"/>
              </a:spcAft>
            </a:pPr>
            <a:r>
              <a:rPr sz="819" b="1" i="0">
                <a:solidFill>
                  <a:srgbClr val="26A99A"/>
                </a:solidFill>
                <a:latin typeface="Aptos"/>
              </a:rPr>
              <a:t>/appointments</a:t>
            </a:r>
          </a:p>
        </p:txBody>
      </p:sp>
      <p:sp>
        <p:nvSpPr>
          <p:cNvPr id="31" name="TextBox 30"/>
          <p:cNvSpPr txBox="1"/>
          <p:nvPr/>
        </p:nvSpPr>
        <p:spPr>
          <a:xfrm>
            <a:off x="6391655" y="3401568"/>
            <a:ext cx="5029200" cy="192024"/>
          </a:xfrm>
          <a:prstGeom prst="rect">
            <a:avLst/>
          </a:prstGeom>
          <a:noFill/>
        </p:spPr>
        <p:txBody>
          <a:bodyPr wrap="square" lIns="18288" rIns="18288" tIns="18288" bIns="18288" anchor="t">
            <a:spAutoFit/>
          </a:bodyPr>
          <a:lstStyle/>
          <a:p>
            <a:pPr algn="l">
              <a:spcAft>
                <a:spcPts val="0"/>
              </a:spcAft>
            </a:pPr>
            <a:r>
              <a:rPr sz="850" b="0" i="0">
                <a:solidFill>
                  <a:srgbClr val="203B4B"/>
                </a:solidFill>
                <a:latin typeface="Aptos"/>
              </a:rPr>
              <a:t>Let patients revisit upcoming and past care.</a:t>
            </a:r>
          </a:p>
        </p:txBody>
      </p:sp>
      <p:sp>
        <p:nvSpPr>
          <p:cNvPr id="32" name="TextBox 31"/>
          <p:cNvSpPr txBox="1"/>
          <p:nvPr/>
        </p:nvSpPr>
        <p:spPr>
          <a:xfrm>
            <a:off x="6391655" y="3611880"/>
            <a:ext cx="5029200" cy="182880"/>
          </a:xfrm>
          <a:prstGeom prst="rect">
            <a:avLst/>
          </a:prstGeom>
          <a:noFill/>
        </p:spPr>
        <p:txBody>
          <a:bodyPr wrap="square" lIns="18288" rIns="18288" tIns="18288" bIns="18288" anchor="t">
            <a:spAutoFit/>
          </a:bodyPr>
          <a:lstStyle/>
          <a:p>
            <a:pPr algn="l">
              <a:spcAft>
                <a:spcPts val="0"/>
              </a:spcAft>
            </a:pPr>
            <a:r>
              <a:rPr sz="770" b="0" i="0">
                <a:solidFill>
                  <a:srgbClr val="607889"/>
                </a:solidFill>
                <a:latin typeface="Aptos"/>
              </a:rPr>
              <a:t>KEY UI  Upcoming/past tabs • appointment cards • status • fee • empty/loading/error states</a:t>
            </a:r>
          </a:p>
        </p:txBody>
      </p:sp>
      <p:sp>
        <p:nvSpPr>
          <p:cNvPr id="33" name="Rounded Rectangle 32"/>
          <p:cNvSpPr/>
          <p:nvPr/>
        </p:nvSpPr>
        <p:spPr>
          <a:xfrm>
            <a:off x="621792" y="3968496"/>
            <a:ext cx="5376672" cy="100584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58952" y="4114800"/>
            <a:ext cx="356616" cy="356616"/>
          </a:xfrm>
          <a:prstGeom prst="ellipse">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8952" y="4201668"/>
            <a:ext cx="356616" cy="137160"/>
          </a:xfrm>
          <a:prstGeom prst="rect">
            <a:avLst/>
          </a:prstGeom>
          <a:noFill/>
        </p:spPr>
        <p:txBody>
          <a:bodyPr wrap="square" lIns="18288" rIns="18288" tIns="18288" bIns="18288" anchor="t">
            <a:spAutoFit/>
          </a:bodyPr>
          <a:lstStyle/>
          <a:p>
            <a:pPr algn="ctr">
              <a:spcAft>
                <a:spcPts val="0"/>
              </a:spcAft>
            </a:pPr>
            <a:r>
              <a:rPr sz="850" b="1" i="0">
                <a:solidFill>
                  <a:srgbClr val="FFFFFF"/>
                </a:solidFill>
                <a:latin typeface="Aptos"/>
              </a:rPr>
              <a:t>15</a:t>
            </a:r>
          </a:p>
        </p:txBody>
      </p:sp>
      <p:sp>
        <p:nvSpPr>
          <p:cNvPr id="36" name="TextBox 35"/>
          <p:cNvSpPr txBox="1"/>
          <p:nvPr/>
        </p:nvSpPr>
        <p:spPr>
          <a:xfrm>
            <a:off x="1216152" y="4078224"/>
            <a:ext cx="4526280" cy="228600"/>
          </a:xfrm>
          <a:prstGeom prst="rect">
            <a:avLst/>
          </a:prstGeom>
          <a:noFill/>
        </p:spPr>
        <p:txBody>
          <a:bodyPr wrap="square" lIns="18288" rIns="18288" tIns="18288" bIns="18288" anchor="t">
            <a:spAutoFit/>
          </a:bodyPr>
          <a:lstStyle/>
          <a:p>
            <a:pPr algn="l">
              <a:spcAft>
                <a:spcPts val="0"/>
              </a:spcAft>
            </a:pPr>
            <a:r>
              <a:rPr sz="1220" b="1" i="0">
                <a:solidFill>
                  <a:srgbClr val="15364A"/>
                </a:solidFill>
                <a:latin typeface="Aptos"/>
              </a:rPr>
              <a:t>Doctor onboarding (multi-step)</a:t>
            </a:r>
          </a:p>
        </p:txBody>
      </p:sp>
      <p:sp>
        <p:nvSpPr>
          <p:cNvPr id="37" name="TextBox 36"/>
          <p:cNvSpPr txBox="1"/>
          <p:nvPr/>
        </p:nvSpPr>
        <p:spPr>
          <a:xfrm>
            <a:off x="1216152" y="4325112"/>
            <a:ext cx="4553712" cy="164592"/>
          </a:xfrm>
          <a:prstGeom prst="rect">
            <a:avLst/>
          </a:prstGeom>
          <a:noFill/>
        </p:spPr>
        <p:txBody>
          <a:bodyPr wrap="square" lIns="18288" rIns="18288" tIns="18288" bIns="18288" anchor="t">
            <a:spAutoFit/>
          </a:bodyPr>
          <a:lstStyle/>
          <a:p>
            <a:pPr algn="l">
              <a:spcAft>
                <a:spcPts val="0"/>
              </a:spcAft>
            </a:pPr>
            <a:r>
              <a:rPr sz="819" b="1" i="0">
                <a:solidFill>
                  <a:srgbClr val="26A99A"/>
                </a:solidFill>
                <a:latin typeface="Aptos"/>
              </a:rPr>
              <a:t>/doctor/onboarding</a:t>
            </a:r>
          </a:p>
        </p:txBody>
      </p:sp>
      <p:sp>
        <p:nvSpPr>
          <p:cNvPr id="38" name="TextBox 37"/>
          <p:cNvSpPr txBox="1"/>
          <p:nvPr/>
        </p:nvSpPr>
        <p:spPr>
          <a:xfrm>
            <a:off x="777240" y="4535424"/>
            <a:ext cx="5029200" cy="192024"/>
          </a:xfrm>
          <a:prstGeom prst="rect">
            <a:avLst/>
          </a:prstGeom>
          <a:noFill/>
        </p:spPr>
        <p:txBody>
          <a:bodyPr wrap="square" lIns="18288" rIns="18288" tIns="18288" bIns="18288" anchor="t">
            <a:spAutoFit/>
          </a:bodyPr>
          <a:lstStyle/>
          <a:p>
            <a:pPr algn="l">
              <a:spcAft>
                <a:spcPts val="0"/>
              </a:spcAft>
            </a:pPr>
            <a:r>
              <a:rPr sz="850" b="0" i="0">
                <a:solidFill>
                  <a:srgbClr val="203B4B"/>
                </a:solidFill>
                <a:latin typeface="Aptos"/>
              </a:rPr>
              <a:t>Capture a doctor profile and verification information in stages.</a:t>
            </a:r>
          </a:p>
        </p:txBody>
      </p:sp>
      <p:sp>
        <p:nvSpPr>
          <p:cNvPr id="39" name="TextBox 38"/>
          <p:cNvSpPr txBox="1"/>
          <p:nvPr/>
        </p:nvSpPr>
        <p:spPr>
          <a:xfrm>
            <a:off x="777240" y="4745736"/>
            <a:ext cx="5029200" cy="182880"/>
          </a:xfrm>
          <a:prstGeom prst="rect">
            <a:avLst/>
          </a:prstGeom>
          <a:noFill/>
        </p:spPr>
        <p:txBody>
          <a:bodyPr wrap="square" lIns="18288" rIns="18288" tIns="18288" bIns="18288" anchor="t">
            <a:spAutoFit/>
          </a:bodyPr>
          <a:lstStyle/>
          <a:p>
            <a:pPr algn="l">
              <a:spcAft>
                <a:spcPts val="0"/>
              </a:spcAft>
            </a:pPr>
            <a:r>
              <a:rPr sz="770" b="0" i="0">
                <a:solidFill>
                  <a:srgbClr val="607889"/>
                </a:solidFill>
                <a:latin typeface="Aptos"/>
              </a:rPr>
              <a:t>KEY UI  Personal • professional • registration • document steps • progress • validation • submit success</a:t>
            </a:r>
          </a:p>
        </p:txBody>
      </p:sp>
      <p:cxnSp>
        <p:nvCxnSpPr>
          <p:cNvPr id="40" name="Connector 39"/>
          <p:cNvCxnSpPr/>
          <p:nvPr/>
        </p:nvCxnSpPr>
        <p:spPr>
          <a:xfrm>
            <a:off x="502920" y="6510528"/>
            <a:ext cx="11183112" cy="0"/>
          </a:xfrm>
          <a:prstGeom prst="line">
            <a:avLst/>
          </a:prstGeom>
          <a:ln w="8890">
            <a:solidFill>
              <a:srgbClr val="DCE7ED"/>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48640" y="6574536"/>
            <a:ext cx="6858000" cy="164592"/>
          </a:xfrm>
          <a:prstGeom prst="rect">
            <a:avLst/>
          </a:prstGeom>
          <a:noFill/>
        </p:spPr>
        <p:txBody>
          <a:bodyPr wrap="square" lIns="18288" rIns="18288" tIns="18288" bIns="18288" anchor="t">
            <a:spAutoFit/>
          </a:bodyPr>
          <a:lstStyle/>
          <a:p>
            <a:pPr algn="l">
              <a:spcAft>
                <a:spcPts val="0"/>
              </a:spcAft>
            </a:pPr>
            <a:r>
              <a:rPr sz="800" b="1" i="0">
                <a:solidFill>
                  <a:srgbClr val="607889"/>
                </a:solidFill>
                <a:latin typeface="Aptos"/>
              </a:rPr>
              <a:t>HEALTHCARE CONNECT  /  UI PLAN  •  WORKING DRAFT</a:t>
            </a:r>
          </a:p>
        </p:txBody>
      </p:sp>
      <p:sp>
        <p:nvSpPr>
          <p:cNvPr id="42" name="TextBox 41"/>
          <p:cNvSpPr txBox="1"/>
          <p:nvPr/>
        </p:nvSpPr>
        <p:spPr>
          <a:xfrm>
            <a:off x="10972800" y="6565392"/>
            <a:ext cx="594360" cy="182880"/>
          </a:xfrm>
          <a:prstGeom prst="rect">
            <a:avLst/>
          </a:prstGeom>
          <a:noFill/>
        </p:spPr>
        <p:txBody>
          <a:bodyPr wrap="square" lIns="18288" rIns="18288" tIns="18288" bIns="18288" anchor="t">
            <a:spAutoFit/>
          </a:bodyPr>
          <a:lstStyle/>
          <a:p>
            <a:pPr algn="r">
              <a:spcAft>
                <a:spcPts val="0"/>
              </a:spcAft>
            </a:pPr>
            <a:r>
              <a:rPr sz="900" b="1" i="0">
                <a:solidFill>
                  <a:srgbClr val="607889"/>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594360" y="384048"/>
            <a:ext cx="4114800" cy="201168"/>
          </a:xfrm>
          <a:prstGeom prst="rect">
            <a:avLst/>
          </a:prstGeom>
          <a:noFill/>
        </p:spPr>
        <p:txBody>
          <a:bodyPr wrap="square" lIns="18288" rIns="18288" tIns="18288" bIns="18288" anchor="t">
            <a:spAutoFit/>
          </a:bodyPr>
          <a:lstStyle/>
          <a:p>
            <a:pPr algn="l">
              <a:spcAft>
                <a:spcPts val="0"/>
              </a:spcAft>
            </a:pPr>
            <a:r>
              <a:rPr sz="900" b="1" i="0">
                <a:solidFill>
                  <a:srgbClr val="26A99A"/>
                </a:solidFill>
                <a:latin typeface="Aptos"/>
              </a:rPr>
              <a:t>10 / PROPOSED PRIMARY SCREENS</a:t>
            </a:r>
          </a:p>
        </p:txBody>
      </p:sp>
      <p:sp>
        <p:nvSpPr>
          <p:cNvPr id="3" name="TextBox 2"/>
          <p:cNvSpPr txBox="1"/>
          <p:nvPr/>
        </p:nvSpPr>
        <p:spPr>
          <a:xfrm>
            <a:off x="594360" y="658368"/>
            <a:ext cx="10972800" cy="475488"/>
          </a:xfrm>
          <a:prstGeom prst="rect">
            <a:avLst/>
          </a:prstGeom>
          <a:noFill/>
        </p:spPr>
        <p:txBody>
          <a:bodyPr wrap="square" lIns="18288" rIns="18288" tIns="18288" bIns="18288" anchor="t">
            <a:spAutoFit/>
          </a:bodyPr>
          <a:lstStyle/>
          <a:p>
            <a:pPr algn="l">
              <a:spcAft>
                <a:spcPts val="0"/>
              </a:spcAft>
            </a:pPr>
            <a:r>
              <a:rPr sz="2700" b="1" i="0">
                <a:solidFill>
                  <a:srgbClr val="15364A"/>
                </a:solidFill>
                <a:latin typeface="Aptos"/>
              </a:rPr>
              <a:t>Twenty proposed primary screens/routes</a:t>
            </a:r>
          </a:p>
        </p:txBody>
      </p:sp>
      <p:sp>
        <p:nvSpPr>
          <p:cNvPr id="4" name="TextBox 3"/>
          <p:cNvSpPr txBox="1"/>
          <p:nvPr/>
        </p:nvSpPr>
        <p:spPr>
          <a:xfrm>
            <a:off x="612648" y="1207008"/>
            <a:ext cx="10789920" cy="365760"/>
          </a:xfrm>
          <a:prstGeom prst="rect">
            <a:avLst/>
          </a:prstGeom>
          <a:noFill/>
        </p:spPr>
        <p:txBody>
          <a:bodyPr wrap="square" lIns="18288" rIns="18288" tIns="18288" bIns="18288" anchor="t">
            <a:spAutoFit/>
          </a:bodyPr>
          <a:lstStyle/>
          <a:p>
            <a:pPr algn="l">
              <a:spcAft>
                <a:spcPts val="0"/>
              </a:spcAft>
            </a:pPr>
            <a:r>
              <a:rPr sz="1250" b="0" i="0">
                <a:solidFill>
                  <a:srgbClr val="607889"/>
                </a:solidFill>
                <a:latin typeface="Aptos"/>
              </a:rPr>
              <a:t>Working inventory mapped from the existing project. Confirm names, priorities and visual content against the proposal and reference image.</a:t>
            </a:r>
          </a:p>
        </p:txBody>
      </p:sp>
      <p:sp>
        <p:nvSpPr>
          <p:cNvPr id="5" name="Rounded Rectangle 4"/>
          <p:cNvSpPr/>
          <p:nvPr/>
        </p:nvSpPr>
        <p:spPr>
          <a:xfrm>
            <a:off x="621792" y="1700784"/>
            <a:ext cx="5376672" cy="100584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58952" y="1847088"/>
            <a:ext cx="356616" cy="356616"/>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933956"/>
            <a:ext cx="356616" cy="137160"/>
          </a:xfrm>
          <a:prstGeom prst="rect">
            <a:avLst/>
          </a:prstGeom>
          <a:noFill/>
        </p:spPr>
        <p:txBody>
          <a:bodyPr wrap="square" lIns="18288" rIns="18288" tIns="18288" bIns="18288" anchor="t">
            <a:spAutoFit/>
          </a:bodyPr>
          <a:lstStyle/>
          <a:p>
            <a:pPr algn="ctr">
              <a:spcAft>
                <a:spcPts val="0"/>
              </a:spcAft>
            </a:pPr>
            <a:r>
              <a:rPr sz="850" b="1" i="0">
                <a:solidFill>
                  <a:srgbClr val="FFFFFF"/>
                </a:solidFill>
                <a:latin typeface="Aptos"/>
              </a:rPr>
              <a:t>16</a:t>
            </a:r>
          </a:p>
        </p:txBody>
      </p:sp>
      <p:sp>
        <p:nvSpPr>
          <p:cNvPr id="8" name="TextBox 7"/>
          <p:cNvSpPr txBox="1"/>
          <p:nvPr/>
        </p:nvSpPr>
        <p:spPr>
          <a:xfrm>
            <a:off x="1216152" y="1810512"/>
            <a:ext cx="4526280" cy="228600"/>
          </a:xfrm>
          <a:prstGeom prst="rect">
            <a:avLst/>
          </a:prstGeom>
          <a:noFill/>
        </p:spPr>
        <p:txBody>
          <a:bodyPr wrap="square" lIns="18288" rIns="18288" tIns="18288" bIns="18288" anchor="t">
            <a:spAutoFit/>
          </a:bodyPr>
          <a:lstStyle/>
          <a:p>
            <a:pPr algn="l">
              <a:spcAft>
                <a:spcPts val="0"/>
              </a:spcAft>
            </a:pPr>
            <a:r>
              <a:rPr sz="1220" b="1" i="0">
                <a:solidFill>
                  <a:srgbClr val="15364A"/>
                </a:solidFill>
                <a:latin typeface="Aptos"/>
              </a:rPr>
              <a:t>Verification status</a:t>
            </a:r>
          </a:p>
        </p:txBody>
      </p:sp>
      <p:sp>
        <p:nvSpPr>
          <p:cNvPr id="9" name="TextBox 8"/>
          <p:cNvSpPr txBox="1"/>
          <p:nvPr/>
        </p:nvSpPr>
        <p:spPr>
          <a:xfrm>
            <a:off x="1216152" y="2057400"/>
            <a:ext cx="4553712" cy="164592"/>
          </a:xfrm>
          <a:prstGeom prst="rect">
            <a:avLst/>
          </a:prstGeom>
          <a:noFill/>
        </p:spPr>
        <p:txBody>
          <a:bodyPr wrap="square" lIns="18288" rIns="18288" tIns="18288" bIns="18288" anchor="t">
            <a:spAutoFit/>
          </a:bodyPr>
          <a:lstStyle/>
          <a:p>
            <a:pPr algn="l">
              <a:spcAft>
                <a:spcPts val="0"/>
              </a:spcAft>
            </a:pPr>
            <a:r>
              <a:rPr sz="819" b="1" i="0">
                <a:solidFill>
                  <a:srgbClr val="26A99A"/>
                </a:solidFill>
                <a:latin typeface="Aptos"/>
              </a:rPr>
              <a:t>/doctor/verification</a:t>
            </a:r>
          </a:p>
        </p:txBody>
      </p:sp>
      <p:sp>
        <p:nvSpPr>
          <p:cNvPr id="10" name="TextBox 9"/>
          <p:cNvSpPr txBox="1"/>
          <p:nvPr/>
        </p:nvSpPr>
        <p:spPr>
          <a:xfrm>
            <a:off x="777240" y="2267712"/>
            <a:ext cx="5029200" cy="192024"/>
          </a:xfrm>
          <a:prstGeom prst="rect">
            <a:avLst/>
          </a:prstGeom>
          <a:noFill/>
        </p:spPr>
        <p:txBody>
          <a:bodyPr wrap="square" lIns="18288" rIns="18288" tIns="18288" bIns="18288" anchor="t">
            <a:spAutoFit/>
          </a:bodyPr>
          <a:lstStyle/>
          <a:p>
            <a:pPr algn="l">
              <a:spcAft>
                <a:spcPts val="0"/>
              </a:spcAft>
            </a:pPr>
            <a:r>
              <a:rPr sz="850" b="0" i="0">
                <a:solidFill>
                  <a:srgbClr val="203B4B"/>
                </a:solidFill>
                <a:latin typeface="Aptos"/>
              </a:rPr>
              <a:t>Explain where a submitted registration stands and what happens next.</a:t>
            </a:r>
          </a:p>
        </p:txBody>
      </p:sp>
      <p:sp>
        <p:nvSpPr>
          <p:cNvPr id="11" name="TextBox 10"/>
          <p:cNvSpPr txBox="1"/>
          <p:nvPr/>
        </p:nvSpPr>
        <p:spPr>
          <a:xfrm>
            <a:off x="777240" y="2478024"/>
            <a:ext cx="5029200" cy="182880"/>
          </a:xfrm>
          <a:prstGeom prst="rect">
            <a:avLst/>
          </a:prstGeom>
          <a:noFill/>
        </p:spPr>
        <p:txBody>
          <a:bodyPr wrap="square" lIns="18288" rIns="18288" tIns="18288" bIns="18288" anchor="t">
            <a:spAutoFit/>
          </a:bodyPr>
          <a:lstStyle/>
          <a:p>
            <a:pPr algn="l">
              <a:spcAft>
                <a:spcPts val="0"/>
              </a:spcAft>
            </a:pPr>
            <a:r>
              <a:rPr sz="770" b="0" i="0">
                <a:solidFill>
                  <a:srgbClr val="607889"/>
                </a:solidFill>
                <a:latin typeface="Aptos"/>
              </a:rPr>
              <a:t>KEY UI  Review badge • timeline • updated date • refresh • help and next action</a:t>
            </a:r>
          </a:p>
        </p:txBody>
      </p:sp>
      <p:sp>
        <p:nvSpPr>
          <p:cNvPr id="12" name="Rounded Rectangle 11"/>
          <p:cNvSpPr/>
          <p:nvPr/>
        </p:nvSpPr>
        <p:spPr>
          <a:xfrm>
            <a:off x="6236207" y="1700784"/>
            <a:ext cx="5376672" cy="100584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73368" y="1847088"/>
            <a:ext cx="356616" cy="356616"/>
          </a:xfrm>
          <a:prstGeom prst="ellipse">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1933956"/>
            <a:ext cx="356616" cy="137160"/>
          </a:xfrm>
          <a:prstGeom prst="rect">
            <a:avLst/>
          </a:prstGeom>
          <a:noFill/>
        </p:spPr>
        <p:txBody>
          <a:bodyPr wrap="square" lIns="18288" rIns="18288" tIns="18288" bIns="18288" anchor="t">
            <a:spAutoFit/>
          </a:bodyPr>
          <a:lstStyle/>
          <a:p>
            <a:pPr algn="ctr">
              <a:spcAft>
                <a:spcPts val="0"/>
              </a:spcAft>
            </a:pPr>
            <a:r>
              <a:rPr sz="850" b="1" i="0">
                <a:solidFill>
                  <a:srgbClr val="FFFFFF"/>
                </a:solidFill>
                <a:latin typeface="Aptos"/>
              </a:rPr>
              <a:t>17</a:t>
            </a:r>
          </a:p>
        </p:txBody>
      </p:sp>
      <p:sp>
        <p:nvSpPr>
          <p:cNvPr id="15" name="TextBox 14"/>
          <p:cNvSpPr txBox="1"/>
          <p:nvPr/>
        </p:nvSpPr>
        <p:spPr>
          <a:xfrm>
            <a:off x="6830568" y="1810512"/>
            <a:ext cx="4526280" cy="228600"/>
          </a:xfrm>
          <a:prstGeom prst="rect">
            <a:avLst/>
          </a:prstGeom>
          <a:noFill/>
        </p:spPr>
        <p:txBody>
          <a:bodyPr wrap="square" lIns="18288" rIns="18288" tIns="18288" bIns="18288" anchor="t">
            <a:spAutoFit/>
          </a:bodyPr>
          <a:lstStyle/>
          <a:p>
            <a:pPr algn="l">
              <a:spcAft>
                <a:spcPts val="0"/>
              </a:spcAft>
            </a:pPr>
            <a:r>
              <a:rPr sz="1220" b="1" i="0">
                <a:solidFill>
                  <a:srgbClr val="15364A"/>
                </a:solidFill>
                <a:latin typeface="Aptos"/>
              </a:rPr>
              <a:t>Joining-fee information</a:t>
            </a:r>
          </a:p>
        </p:txBody>
      </p:sp>
      <p:sp>
        <p:nvSpPr>
          <p:cNvPr id="16" name="TextBox 15"/>
          <p:cNvSpPr txBox="1"/>
          <p:nvPr/>
        </p:nvSpPr>
        <p:spPr>
          <a:xfrm>
            <a:off x="6830568" y="2057400"/>
            <a:ext cx="4553712" cy="164592"/>
          </a:xfrm>
          <a:prstGeom prst="rect">
            <a:avLst/>
          </a:prstGeom>
          <a:noFill/>
        </p:spPr>
        <p:txBody>
          <a:bodyPr wrap="square" lIns="18288" rIns="18288" tIns="18288" bIns="18288" anchor="t">
            <a:spAutoFit/>
          </a:bodyPr>
          <a:lstStyle/>
          <a:p>
            <a:pPr algn="l">
              <a:spcAft>
                <a:spcPts val="0"/>
              </a:spcAft>
            </a:pPr>
            <a:r>
              <a:rPr sz="819" b="1" i="0">
                <a:solidFill>
                  <a:srgbClr val="26A99A"/>
                </a:solidFill>
                <a:latin typeface="Aptos"/>
              </a:rPr>
              <a:t>/doctor/joining-fee</a:t>
            </a:r>
          </a:p>
        </p:txBody>
      </p:sp>
      <p:sp>
        <p:nvSpPr>
          <p:cNvPr id="17" name="TextBox 16"/>
          <p:cNvSpPr txBox="1"/>
          <p:nvPr/>
        </p:nvSpPr>
        <p:spPr>
          <a:xfrm>
            <a:off x="6391655" y="2267712"/>
            <a:ext cx="5029200" cy="192024"/>
          </a:xfrm>
          <a:prstGeom prst="rect">
            <a:avLst/>
          </a:prstGeom>
          <a:noFill/>
        </p:spPr>
        <p:txBody>
          <a:bodyPr wrap="square" lIns="18288" rIns="18288" tIns="18288" bIns="18288" anchor="t">
            <a:spAutoFit/>
          </a:bodyPr>
          <a:lstStyle/>
          <a:p>
            <a:pPr algn="l">
              <a:spcAft>
                <a:spcPts val="0"/>
              </a:spcAft>
            </a:pPr>
            <a:r>
              <a:rPr sz="850" b="0" i="0">
                <a:solidFill>
                  <a:srgbClr val="203B4B"/>
                </a:solidFill>
                <a:latin typeface="Aptos"/>
              </a:rPr>
              <a:t>Present confirmed activation/payment information to the doctor.</a:t>
            </a:r>
          </a:p>
        </p:txBody>
      </p:sp>
      <p:sp>
        <p:nvSpPr>
          <p:cNvPr id="18" name="TextBox 17"/>
          <p:cNvSpPr txBox="1"/>
          <p:nvPr/>
        </p:nvSpPr>
        <p:spPr>
          <a:xfrm>
            <a:off x="6391655" y="2478024"/>
            <a:ext cx="5029200" cy="182880"/>
          </a:xfrm>
          <a:prstGeom prst="rect">
            <a:avLst/>
          </a:prstGeom>
          <a:noFill/>
        </p:spPr>
        <p:txBody>
          <a:bodyPr wrap="square" lIns="18288" rIns="18288" tIns="18288" bIns="18288" anchor="t">
            <a:spAutoFit/>
          </a:bodyPr>
          <a:lstStyle/>
          <a:p>
            <a:pPr algn="l">
              <a:spcAft>
                <a:spcPts val="0"/>
              </a:spcAft>
            </a:pPr>
            <a:r>
              <a:rPr sz="770" b="0" i="0">
                <a:solidFill>
                  <a:srgbClr val="607889"/>
                </a:solidFill>
                <a:latin typeface="Aptos"/>
              </a:rPr>
              <a:t>KEY UI  Fee and terms only when approved • verification state • secure payment route if in scope</a:t>
            </a:r>
          </a:p>
        </p:txBody>
      </p:sp>
      <p:sp>
        <p:nvSpPr>
          <p:cNvPr id="19" name="Rounded Rectangle 18"/>
          <p:cNvSpPr/>
          <p:nvPr/>
        </p:nvSpPr>
        <p:spPr>
          <a:xfrm>
            <a:off x="621792" y="2834640"/>
            <a:ext cx="5376672" cy="100584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58952" y="2980944"/>
            <a:ext cx="356616" cy="356616"/>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3067812"/>
            <a:ext cx="356616" cy="137160"/>
          </a:xfrm>
          <a:prstGeom prst="rect">
            <a:avLst/>
          </a:prstGeom>
          <a:noFill/>
        </p:spPr>
        <p:txBody>
          <a:bodyPr wrap="square" lIns="18288" rIns="18288" tIns="18288" bIns="18288" anchor="t">
            <a:spAutoFit/>
          </a:bodyPr>
          <a:lstStyle/>
          <a:p>
            <a:pPr algn="ctr">
              <a:spcAft>
                <a:spcPts val="0"/>
              </a:spcAft>
            </a:pPr>
            <a:r>
              <a:rPr sz="850" b="1" i="0">
                <a:solidFill>
                  <a:srgbClr val="FFFFFF"/>
                </a:solidFill>
                <a:latin typeface="Aptos"/>
              </a:rPr>
              <a:t>18</a:t>
            </a:r>
          </a:p>
        </p:txBody>
      </p:sp>
      <p:sp>
        <p:nvSpPr>
          <p:cNvPr id="22" name="TextBox 21"/>
          <p:cNvSpPr txBox="1"/>
          <p:nvPr/>
        </p:nvSpPr>
        <p:spPr>
          <a:xfrm>
            <a:off x="1216152" y="2944368"/>
            <a:ext cx="4526280" cy="228600"/>
          </a:xfrm>
          <a:prstGeom prst="rect">
            <a:avLst/>
          </a:prstGeom>
          <a:noFill/>
        </p:spPr>
        <p:txBody>
          <a:bodyPr wrap="square" lIns="18288" rIns="18288" tIns="18288" bIns="18288" anchor="t">
            <a:spAutoFit/>
          </a:bodyPr>
          <a:lstStyle/>
          <a:p>
            <a:pPr algn="l">
              <a:spcAft>
                <a:spcPts val="0"/>
              </a:spcAft>
            </a:pPr>
            <a:r>
              <a:rPr sz="1220" b="1" i="0">
                <a:solidFill>
                  <a:srgbClr val="15364A"/>
                </a:solidFill>
                <a:latin typeface="Aptos"/>
              </a:rPr>
              <a:t>Doctor dashboard</a:t>
            </a:r>
          </a:p>
        </p:txBody>
      </p:sp>
      <p:sp>
        <p:nvSpPr>
          <p:cNvPr id="23" name="TextBox 22"/>
          <p:cNvSpPr txBox="1"/>
          <p:nvPr/>
        </p:nvSpPr>
        <p:spPr>
          <a:xfrm>
            <a:off x="1216152" y="3191256"/>
            <a:ext cx="4553712" cy="164592"/>
          </a:xfrm>
          <a:prstGeom prst="rect">
            <a:avLst/>
          </a:prstGeom>
          <a:noFill/>
        </p:spPr>
        <p:txBody>
          <a:bodyPr wrap="square" lIns="18288" rIns="18288" tIns="18288" bIns="18288" anchor="t">
            <a:spAutoFit/>
          </a:bodyPr>
          <a:lstStyle/>
          <a:p>
            <a:pPr algn="l">
              <a:spcAft>
                <a:spcPts val="0"/>
              </a:spcAft>
            </a:pPr>
            <a:r>
              <a:rPr sz="819" b="1" i="0">
                <a:solidFill>
                  <a:srgbClr val="26A99A"/>
                </a:solidFill>
                <a:latin typeface="Aptos"/>
              </a:rPr>
              <a:t>/doctor/dashboard</a:t>
            </a:r>
          </a:p>
        </p:txBody>
      </p:sp>
      <p:sp>
        <p:nvSpPr>
          <p:cNvPr id="24" name="TextBox 23"/>
          <p:cNvSpPr txBox="1"/>
          <p:nvPr/>
        </p:nvSpPr>
        <p:spPr>
          <a:xfrm>
            <a:off x="777240" y="3401568"/>
            <a:ext cx="5029200" cy="192024"/>
          </a:xfrm>
          <a:prstGeom prst="rect">
            <a:avLst/>
          </a:prstGeom>
          <a:noFill/>
        </p:spPr>
        <p:txBody>
          <a:bodyPr wrap="square" lIns="18288" rIns="18288" tIns="18288" bIns="18288" anchor="t">
            <a:spAutoFit/>
          </a:bodyPr>
          <a:lstStyle/>
          <a:p>
            <a:pPr algn="l">
              <a:spcAft>
                <a:spcPts val="0"/>
              </a:spcAft>
            </a:pPr>
            <a:r>
              <a:rPr sz="850" b="0" i="0">
                <a:solidFill>
                  <a:srgbClr val="203B4B"/>
                </a:solidFill>
                <a:latin typeface="Aptos"/>
              </a:rPr>
              <a:t>Provide a concise overview of a doctor's practice activity.</a:t>
            </a:r>
          </a:p>
        </p:txBody>
      </p:sp>
      <p:sp>
        <p:nvSpPr>
          <p:cNvPr id="25" name="TextBox 24"/>
          <p:cNvSpPr txBox="1"/>
          <p:nvPr/>
        </p:nvSpPr>
        <p:spPr>
          <a:xfrm>
            <a:off x="777240" y="3611880"/>
            <a:ext cx="5029200" cy="182880"/>
          </a:xfrm>
          <a:prstGeom prst="rect">
            <a:avLst/>
          </a:prstGeom>
          <a:noFill/>
        </p:spPr>
        <p:txBody>
          <a:bodyPr wrap="square" lIns="18288" rIns="18288" tIns="18288" bIns="18288" anchor="t">
            <a:spAutoFit/>
          </a:bodyPr>
          <a:lstStyle/>
          <a:p>
            <a:pPr algn="l">
              <a:spcAft>
                <a:spcPts val="0"/>
              </a:spcAft>
            </a:pPr>
            <a:r>
              <a:rPr sz="770" b="0" i="0">
                <a:solidFill>
                  <a:srgbClr val="607889"/>
                </a:solidFill>
                <a:latin typeface="Aptos"/>
              </a:rPr>
              <a:t>KEY UI  Appointment summary • key stats • profile completion • verification status • shortcuts</a:t>
            </a:r>
          </a:p>
        </p:txBody>
      </p:sp>
      <p:sp>
        <p:nvSpPr>
          <p:cNvPr id="26" name="Rounded Rectangle 25"/>
          <p:cNvSpPr/>
          <p:nvPr/>
        </p:nvSpPr>
        <p:spPr>
          <a:xfrm>
            <a:off x="6236207" y="2834640"/>
            <a:ext cx="5376672" cy="100584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3368" y="2980944"/>
            <a:ext cx="356616" cy="356616"/>
          </a:xfrm>
          <a:prstGeom prst="ellipse">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3368" y="3067812"/>
            <a:ext cx="356616" cy="137160"/>
          </a:xfrm>
          <a:prstGeom prst="rect">
            <a:avLst/>
          </a:prstGeom>
          <a:noFill/>
        </p:spPr>
        <p:txBody>
          <a:bodyPr wrap="square" lIns="18288" rIns="18288" tIns="18288" bIns="18288" anchor="t">
            <a:spAutoFit/>
          </a:bodyPr>
          <a:lstStyle/>
          <a:p>
            <a:pPr algn="ctr">
              <a:spcAft>
                <a:spcPts val="0"/>
              </a:spcAft>
            </a:pPr>
            <a:r>
              <a:rPr sz="850" b="1" i="0">
                <a:solidFill>
                  <a:srgbClr val="FFFFFF"/>
                </a:solidFill>
                <a:latin typeface="Aptos"/>
              </a:rPr>
              <a:t>19</a:t>
            </a:r>
          </a:p>
        </p:txBody>
      </p:sp>
      <p:sp>
        <p:nvSpPr>
          <p:cNvPr id="29" name="TextBox 28"/>
          <p:cNvSpPr txBox="1"/>
          <p:nvPr/>
        </p:nvSpPr>
        <p:spPr>
          <a:xfrm>
            <a:off x="6830568" y="2944368"/>
            <a:ext cx="4526280" cy="228600"/>
          </a:xfrm>
          <a:prstGeom prst="rect">
            <a:avLst/>
          </a:prstGeom>
          <a:noFill/>
        </p:spPr>
        <p:txBody>
          <a:bodyPr wrap="square" lIns="18288" rIns="18288" tIns="18288" bIns="18288" anchor="t">
            <a:spAutoFit/>
          </a:bodyPr>
          <a:lstStyle/>
          <a:p>
            <a:pPr algn="l">
              <a:spcAft>
                <a:spcPts val="0"/>
              </a:spcAft>
            </a:pPr>
            <a:r>
              <a:rPr sz="1220" b="1" i="0">
                <a:solidFill>
                  <a:srgbClr val="15364A"/>
                </a:solidFill>
                <a:latin typeface="Aptos"/>
              </a:rPr>
              <a:t>Availability management</a:t>
            </a:r>
          </a:p>
        </p:txBody>
      </p:sp>
      <p:sp>
        <p:nvSpPr>
          <p:cNvPr id="30" name="TextBox 29"/>
          <p:cNvSpPr txBox="1"/>
          <p:nvPr/>
        </p:nvSpPr>
        <p:spPr>
          <a:xfrm>
            <a:off x="6830568" y="3191256"/>
            <a:ext cx="4553712" cy="164592"/>
          </a:xfrm>
          <a:prstGeom prst="rect">
            <a:avLst/>
          </a:prstGeom>
          <a:noFill/>
        </p:spPr>
        <p:txBody>
          <a:bodyPr wrap="square" lIns="18288" rIns="18288" tIns="18288" bIns="18288" anchor="t">
            <a:spAutoFit/>
          </a:bodyPr>
          <a:lstStyle/>
          <a:p>
            <a:pPr algn="l">
              <a:spcAft>
                <a:spcPts val="0"/>
              </a:spcAft>
            </a:pPr>
            <a:r>
              <a:rPr sz="819" b="1" i="0">
                <a:solidFill>
                  <a:srgbClr val="26A99A"/>
                </a:solidFill>
                <a:latin typeface="Aptos"/>
              </a:rPr>
              <a:t>/doctor/availability</a:t>
            </a:r>
          </a:p>
        </p:txBody>
      </p:sp>
      <p:sp>
        <p:nvSpPr>
          <p:cNvPr id="31" name="TextBox 30"/>
          <p:cNvSpPr txBox="1"/>
          <p:nvPr/>
        </p:nvSpPr>
        <p:spPr>
          <a:xfrm>
            <a:off x="6391655" y="3401568"/>
            <a:ext cx="5029200" cy="192024"/>
          </a:xfrm>
          <a:prstGeom prst="rect">
            <a:avLst/>
          </a:prstGeom>
          <a:noFill/>
        </p:spPr>
        <p:txBody>
          <a:bodyPr wrap="square" lIns="18288" rIns="18288" tIns="18288" bIns="18288" anchor="t">
            <a:spAutoFit/>
          </a:bodyPr>
          <a:lstStyle/>
          <a:p>
            <a:pPr algn="l">
              <a:spcAft>
                <a:spcPts val="0"/>
              </a:spcAft>
            </a:pPr>
            <a:r>
              <a:rPr sz="850" b="0" i="0">
                <a:solidFill>
                  <a:srgbClr val="203B4B"/>
                </a:solidFill>
                <a:latin typeface="Aptos"/>
              </a:rPr>
              <a:t>Let a doctor manage working days and bookable time slots.</a:t>
            </a:r>
          </a:p>
        </p:txBody>
      </p:sp>
      <p:sp>
        <p:nvSpPr>
          <p:cNvPr id="32" name="TextBox 31"/>
          <p:cNvSpPr txBox="1"/>
          <p:nvPr/>
        </p:nvSpPr>
        <p:spPr>
          <a:xfrm>
            <a:off x="6391655" y="3611880"/>
            <a:ext cx="5029200" cy="182880"/>
          </a:xfrm>
          <a:prstGeom prst="rect">
            <a:avLst/>
          </a:prstGeom>
          <a:noFill/>
        </p:spPr>
        <p:txBody>
          <a:bodyPr wrap="square" lIns="18288" rIns="18288" tIns="18288" bIns="18288" anchor="t">
            <a:spAutoFit/>
          </a:bodyPr>
          <a:lstStyle/>
          <a:p>
            <a:pPr algn="l">
              <a:spcAft>
                <a:spcPts val="0"/>
              </a:spcAft>
            </a:pPr>
            <a:r>
              <a:rPr sz="770" b="0" i="0">
                <a:solidFill>
                  <a:srgbClr val="607889"/>
                </a:solidFill>
                <a:latin typeface="Aptos"/>
              </a:rPr>
              <a:t>KEY UI  Calendar • weekly schedule • time slots • save feedback • unavailable/validation states</a:t>
            </a:r>
          </a:p>
        </p:txBody>
      </p:sp>
      <p:sp>
        <p:nvSpPr>
          <p:cNvPr id="33" name="Rounded Rectangle 32"/>
          <p:cNvSpPr/>
          <p:nvPr/>
        </p:nvSpPr>
        <p:spPr>
          <a:xfrm>
            <a:off x="621792" y="3968496"/>
            <a:ext cx="5376672" cy="100584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58952" y="4114800"/>
            <a:ext cx="356616" cy="356616"/>
          </a:xfrm>
          <a:prstGeom prst="ellipse">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8952" y="4201668"/>
            <a:ext cx="356616" cy="137160"/>
          </a:xfrm>
          <a:prstGeom prst="rect">
            <a:avLst/>
          </a:prstGeom>
          <a:noFill/>
        </p:spPr>
        <p:txBody>
          <a:bodyPr wrap="square" lIns="18288" rIns="18288" tIns="18288" bIns="18288" anchor="t">
            <a:spAutoFit/>
          </a:bodyPr>
          <a:lstStyle/>
          <a:p>
            <a:pPr algn="ctr">
              <a:spcAft>
                <a:spcPts val="0"/>
              </a:spcAft>
            </a:pPr>
            <a:r>
              <a:rPr sz="850" b="1" i="0">
                <a:solidFill>
                  <a:srgbClr val="FFFFFF"/>
                </a:solidFill>
                <a:latin typeface="Aptos"/>
              </a:rPr>
              <a:t>20</a:t>
            </a:r>
          </a:p>
        </p:txBody>
      </p:sp>
      <p:sp>
        <p:nvSpPr>
          <p:cNvPr id="36" name="TextBox 35"/>
          <p:cNvSpPr txBox="1"/>
          <p:nvPr/>
        </p:nvSpPr>
        <p:spPr>
          <a:xfrm>
            <a:off x="1216152" y="4078224"/>
            <a:ext cx="4526280" cy="228600"/>
          </a:xfrm>
          <a:prstGeom prst="rect">
            <a:avLst/>
          </a:prstGeom>
          <a:noFill/>
        </p:spPr>
        <p:txBody>
          <a:bodyPr wrap="square" lIns="18288" rIns="18288" tIns="18288" bIns="18288" anchor="t">
            <a:spAutoFit/>
          </a:bodyPr>
          <a:lstStyle/>
          <a:p>
            <a:pPr algn="l">
              <a:spcAft>
                <a:spcPts val="0"/>
              </a:spcAft>
            </a:pPr>
            <a:r>
              <a:rPr sz="1220" b="1" i="0">
                <a:solidFill>
                  <a:srgbClr val="15364A"/>
                </a:solidFill>
                <a:latin typeface="Aptos"/>
              </a:rPr>
              <a:t>Doctor profile edit</a:t>
            </a:r>
          </a:p>
        </p:txBody>
      </p:sp>
      <p:sp>
        <p:nvSpPr>
          <p:cNvPr id="37" name="TextBox 36"/>
          <p:cNvSpPr txBox="1"/>
          <p:nvPr/>
        </p:nvSpPr>
        <p:spPr>
          <a:xfrm>
            <a:off x="1216152" y="4325112"/>
            <a:ext cx="4553712" cy="164592"/>
          </a:xfrm>
          <a:prstGeom prst="rect">
            <a:avLst/>
          </a:prstGeom>
          <a:noFill/>
        </p:spPr>
        <p:txBody>
          <a:bodyPr wrap="square" lIns="18288" rIns="18288" tIns="18288" bIns="18288" anchor="t">
            <a:spAutoFit/>
          </a:bodyPr>
          <a:lstStyle/>
          <a:p>
            <a:pPr algn="l">
              <a:spcAft>
                <a:spcPts val="0"/>
              </a:spcAft>
            </a:pPr>
            <a:r>
              <a:rPr sz="819" b="1" i="0">
                <a:solidFill>
                  <a:srgbClr val="26A99A"/>
                </a:solidFill>
                <a:latin typeface="Aptos"/>
              </a:rPr>
              <a:t>/doctor/profile/edit</a:t>
            </a:r>
          </a:p>
        </p:txBody>
      </p:sp>
      <p:sp>
        <p:nvSpPr>
          <p:cNvPr id="38" name="TextBox 37"/>
          <p:cNvSpPr txBox="1"/>
          <p:nvPr/>
        </p:nvSpPr>
        <p:spPr>
          <a:xfrm>
            <a:off x="777240" y="4535424"/>
            <a:ext cx="5029200" cy="192024"/>
          </a:xfrm>
          <a:prstGeom prst="rect">
            <a:avLst/>
          </a:prstGeom>
          <a:noFill/>
        </p:spPr>
        <p:txBody>
          <a:bodyPr wrap="square" lIns="18288" rIns="18288" tIns="18288" bIns="18288" anchor="t">
            <a:spAutoFit/>
          </a:bodyPr>
          <a:lstStyle/>
          <a:p>
            <a:pPr algn="l">
              <a:spcAft>
                <a:spcPts val="0"/>
              </a:spcAft>
            </a:pPr>
            <a:r>
              <a:rPr sz="850" b="0" i="0">
                <a:solidFill>
                  <a:srgbClr val="203B4B"/>
                </a:solidFill>
                <a:latin typeface="Aptos"/>
              </a:rPr>
              <a:t>Allow a doctor to maintain the public-facing practice profile.</a:t>
            </a:r>
          </a:p>
        </p:txBody>
      </p:sp>
      <p:sp>
        <p:nvSpPr>
          <p:cNvPr id="39" name="TextBox 38"/>
          <p:cNvSpPr txBox="1"/>
          <p:nvPr/>
        </p:nvSpPr>
        <p:spPr>
          <a:xfrm>
            <a:off x="777240" y="4745736"/>
            <a:ext cx="5029200" cy="182880"/>
          </a:xfrm>
          <a:prstGeom prst="rect">
            <a:avLst/>
          </a:prstGeom>
          <a:noFill/>
        </p:spPr>
        <p:txBody>
          <a:bodyPr wrap="square" lIns="18288" rIns="18288" tIns="18288" bIns="18288" anchor="t">
            <a:spAutoFit/>
          </a:bodyPr>
          <a:lstStyle/>
          <a:p>
            <a:pPr algn="l">
              <a:spcAft>
                <a:spcPts val="0"/>
              </a:spcAft>
            </a:pPr>
            <a:r>
              <a:rPr sz="770" b="0" i="0">
                <a:solidFill>
                  <a:srgbClr val="607889"/>
                </a:solidFill>
                <a:latin typeface="Aptos"/>
              </a:rPr>
              <a:t>KEY UI  Identity • credentials • specialty • services • practice details • save/cancel feedback</a:t>
            </a:r>
          </a:p>
        </p:txBody>
      </p:sp>
      <p:cxnSp>
        <p:nvCxnSpPr>
          <p:cNvPr id="40" name="Connector 39"/>
          <p:cNvCxnSpPr/>
          <p:nvPr/>
        </p:nvCxnSpPr>
        <p:spPr>
          <a:xfrm>
            <a:off x="502920" y="6510528"/>
            <a:ext cx="11183112" cy="0"/>
          </a:xfrm>
          <a:prstGeom prst="line">
            <a:avLst/>
          </a:prstGeom>
          <a:ln w="8890">
            <a:solidFill>
              <a:srgbClr val="DCE7ED"/>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48640" y="6574536"/>
            <a:ext cx="6858000" cy="164592"/>
          </a:xfrm>
          <a:prstGeom prst="rect">
            <a:avLst/>
          </a:prstGeom>
          <a:noFill/>
        </p:spPr>
        <p:txBody>
          <a:bodyPr wrap="square" lIns="18288" rIns="18288" tIns="18288" bIns="18288" anchor="t">
            <a:spAutoFit/>
          </a:bodyPr>
          <a:lstStyle/>
          <a:p>
            <a:pPr algn="l">
              <a:spcAft>
                <a:spcPts val="0"/>
              </a:spcAft>
            </a:pPr>
            <a:r>
              <a:rPr sz="800" b="1" i="0">
                <a:solidFill>
                  <a:srgbClr val="607889"/>
                </a:solidFill>
                <a:latin typeface="Aptos"/>
              </a:rPr>
              <a:t>HEALTHCARE CONNECT  /  UI PLAN  •  WORKING DRAFT</a:t>
            </a:r>
          </a:p>
        </p:txBody>
      </p:sp>
      <p:sp>
        <p:nvSpPr>
          <p:cNvPr id="42" name="TextBox 41"/>
          <p:cNvSpPr txBox="1"/>
          <p:nvPr/>
        </p:nvSpPr>
        <p:spPr>
          <a:xfrm>
            <a:off x="10972800" y="6565392"/>
            <a:ext cx="594360" cy="182880"/>
          </a:xfrm>
          <a:prstGeom prst="rect">
            <a:avLst/>
          </a:prstGeom>
          <a:noFill/>
        </p:spPr>
        <p:txBody>
          <a:bodyPr wrap="square" lIns="18288" rIns="18288" tIns="18288" bIns="18288" anchor="t">
            <a:spAutoFit/>
          </a:bodyPr>
          <a:lstStyle/>
          <a:p>
            <a:pPr algn="r">
              <a:spcAft>
                <a:spcPts val="0"/>
              </a:spcAft>
            </a:pPr>
            <a:r>
              <a:rPr sz="900" b="1" i="0">
                <a:solidFill>
                  <a:srgbClr val="607889"/>
                </a:solidFill>
                <a:latin typeface="Apto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594360" y="384048"/>
            <a:ext cx="4114800" cy="201168"/>
          </a:xfrm>
          <a:prstGeom prst="rect">
            <a:avLst/>
          </a:prstGeom>
          <a:noFill/>
        </p:spPr>
        <p:txBody>
          <a:bodyPr wrap="square" lIns="18288" rIns="18288" tIns="18288" bIns="18288" anchor="t">
            <a:spAutoFit/>
          </a:bodyPr>
          <a:lstStyle/>
          <a:p>
            <a:pPr algn="l">
              <a:spcAft>
                <a:spcPts val="0"/>
              </a:spcAft>
            </a:pPr>
            <a:r>
              <a:rPr sz="900" b="1" i="0">
                <a:solidFill>
                  <a:srgbClr val="26A99A"/>
                </a:solidFill>
                <a:latin typeface="Aptos"/>
              </a:rPr>
              <a:t>11 / INTERACTION STATES</a:t>
            </a:r>
          </a:p>
        </p:txBody>
      </p:sp>
      <p:sp>
        <p:nvSpPr>
          <p:cNvPr id="3" name="TextBox 2"/>
          <p:cNvSpPr txBox="1"/>
          <p:nvPr/>
        </p:nvSpPr>
        <p:spPr>
          <a:xfrm>
            <a:off x="594360" y="658368"/>
            <a:ext cx="10972800" cy="475488"/>
          </a:xfrm>
          <a:prstGeom prst="rect">
            <a:avLst/>
          </a:prstGeom>
          <a:noFill/>
        </p:spPr>
        <p:txBody>
          <a:bodyPr wrap="square" lIns="18288" rIns="18288" tIns="18288" bIns="18288" anchor="t">
            <a:spAutoFit/>
          </a:bodyPr>
          <a:lstStyle/>
          <a:p>
            <a:pPr algn="l">
              <a:spcAft>
                <a:spcPts val="0"/>
              </a:spcAft>
            </a:pPr>
            <a:r>
              <a:rPr sz="2700" b="1" i="0">
                <a:solidFill>
                  <a:srgbClr val="15364A"/>
                </a:solidFill>
                <a:latin typeface="Aptos"/>
              </a:rPr>
              <a:t>Design the moments around the happy path</a:t>
            </a:r>
          </a:p>
        </p:txBody>
      </p:sp>
      <p:sp>
        <p:nvSpPr>
          <p:cNvPr id="4" name="TextBox 3"/>
          <p:cNvSpPr txBox="1"/>
          <p:nvPr/>
        </p:nvSpPr>
        <p:spPr>
          <a:xfrm>
            <a:off x="612648" y="1207008"/>
            <a:ext cx="10789920" cy="365760"/>
          </a:xfrm>
          <a:prstGeom prst="rect">
            <a:avLst/>
          </a:prstGeom>
          <a:noFill/>
        </p:spPr>
        <p:txBody>
          <a:bodyPr wrap="square" lIns="18288" rIns="18288" tIns="18288" bIns="18288" anchor="t">
            <a:spAutoFit/>
          </a:bodyPr>
          <a:lstStyle/>
          <a:p>
            <a:pPr algn="l">
              <a:spcAft>
                <a:spcPts val="0"/>
              </a:spcAft>
            </a:pPr>
            <a:r>
              <a:rPr sz="1250" b="0" i="0">
                <a:solidFill>
                  <a:srgbClr val="607889"/>
                </a:solidFill>
                <a:latin typeface="Aptos"/>
              </a:rPr>
              <a:t>Every data-dependent screen needs feedback before, during and after a user action.</a:t>
            </a:r>
          </a:p>
        </p:txBody>
      </p:sp>
      <p:sp>
        <p:nvSpPr>
          <p:cNvPr id="5" name="Rounded Rectangle 4"/>
          <p:cNvSpPr/>
          <p:nvPr/>
        </p:nvSpPr>
        <p:spPr>
          <a:xfrm>
            <a:off x="658368" y="2011680"/>
            <a:ext cx="2103120" cy="210312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2011680"/>
            <a:ext cx="64008" cy="2103120"/>
          </a:xfrm>
          <a:prstGeom prst="rect">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2167128"/>
            <a:ext cx="1719072" cy="292608"/>
          </a:xfrm>
          <a:prstGeom prst="rect">
            <a:avLst/>
          </a:prstGeom>
          <a:noFill/>
        </p:spPr>
        <p:txBody>
          <a:bodyPr wrap="square" lIns="18288" rIns="18288" tIns="18288" bIns="18288" anchor="t">
            <a:spAutoFit/>
          </a:bodyPr>
          <a:lstStyle/>
          <a:p>
            <a:pPr algn="l">
              <a:spcAft>
                <a:spcPts val="0"/>
              </a:spcAft>
            </a:pPr>
            <a:r>
              <a:rPr sz="1400" b="1" i="0">
                <a:solidFill>
                  <a:srgbClr val="15364A"/>
                </a:solidFill>
                <a:latin typeface="Aptos"/>
              </a:rPr>
              <a:t>Loading</a:t>
            </a:r>
          </a:p>
        </p:txBody>
      </p:sp>
      <p:sp>
        <p:nvSpPr>
          <p:cNvPr id="8" name="TextBox 7"/>
          <p:cNvSpPr txBox="1"/>
          <p:nvPr/>
        </p:nvSpPr>
        <p:spPr>
          <a:xfrm>
            <a:off x="859536" y="2542032"/>
            <a:ext cx="1719072" cy="1444751"/>
          </a:xfrm>
          <a:prstGeom prst="rect">
            <a:avLst/>
          </a:prstGeom>
          <a:noFill/>
        </p:spPr>
        <p:txBody>
          <a:bodyPr wrap="square" lIns="18288" rIns="18288" tIns="18288" bIns="18288" anchor="t">
            <a:spAutoFit/>
          </a:bodyPr>
          <a:lstStyle/>
          <a:p>
            <a:pPr algn="l">
              <a:spcAft>
                <a:spcPts val="0"/>
              </a:spcAft>
            </a:pPr>
            <a:r>
              <a:rPr sz="1050" b="0" i="0">
                <a:solidFill>
                  <a:srgbClr val="607889"/>
                </a:solidFill>
                <a:latin typeface="Aptos"/>
              </a:rPr>
              <a:t>Skeletons or clear progress; prevent duplicate submit; keep context visible.</a:t>
            </a:r>
          </a:p>
        </p:txBody>
      </p:sp>
      <p:sp>
        <p:nvSpPr>
          <p:cNvPr id="9" name="Rounded Rectangle 8"/>
          <p:cNvSpPr/>
          <p:nvPr/>
        </p:nvSpPr>
        <p:spPr>
          <a:xfrm>
            <a:off x="2971800" y="2011680"/>
            <a:ext cx="2103120" cy="210312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71800" y="2011680"/>
            <a:ext cx="64008" cy="2103120"/>
          </a:xfrm>
          <a:prstGeom prst="rect">
            <a:avLst/>
          </a:prstGeom>
          <a:solidFill>
            <a:srgbClr val="E6A94E"/>
          </a:solidFill>
          <a:ln>
            <a:solidFill>
              <a:srgbClr val="E6A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72968" y="2167128"/>
            <a:ext cx="1719072" cy="292608"/>
          </a:xfrm>
          <a:prstGeom prst="rect">
            <a:avLst/>
          </a:prstGeom>
          <a:noFill/>
        </p:spPr>
        <p:txBody>
          <a:bodyPr wrap="square" lIns="18288" rIns="18288" tIns="18288" bIns="18288" anchor="t">
            <a:spAutoFit/>
          </a:bodyPr>
          <a:lstStyle/>
          <a:p>
            <a:pPr algn="l">
              <a:spcAft>
                <a:spcPts val="0"/>
              </a:spcAft>
            </a:pPr>
            <a:r>
              <a:rPr sz="1400" b="1" i="0">
                <a:solidFill>
                  <a:srgbClr val="15364A"/>
                </a:solidFill>
                <a:latin typeface="Aptos"/>
              </a:rPr>
              <a:t>Validation</a:t>
            </a:r>
          </a:p>
        </p:txBody>
      </p:sp>
      <p:sp>
        <p:nvSpPr>
          <p:cNvPr id="12" name="TextBox 11"/>
          <p:cNvSpPr txBox="1"/>
          <p:nvPr/>
        </p:nvSpPr>
        <p:spPr>
          <a:xfrm>
            <a:off x="3172968" y="2542032"/>
            <a:ext cx="1719072" cy="1444751"/>
          </a:xfrm>
          <a:prstGeom prst="rect">
            <a:avLst/>
          </a:prstGeom>
          <a:noFill/>
        </p:spPr>
        <p:txBody>
          <a:bodyPr wrap="square" lIns="18288" rIns="18288" tIns="18288" bIns="18288" anchor="t">
            <a:spAutoFit/>
          </a:bodyPr>
          <a:lstStyle/>
          <a:p>
            <a:pPr algn="l">
              <a:spcAft>
                <a:spcPts val="0"/>
              </a:spcAft>
            </a:pPr>
            <a:r>
              <a:rPr sz="1050" b="0" i="0">
                <a:solidFill>
                  <a:srgbClr val="607889"/>
                </a:solidFill>
                <a:latin typeface="Aptos"/>
              </a:rPr>
              <a:t>Field-level guidance, accessible error text and a clear next step.</a:t>
            </a:r>
          </a:p>
        </p:txBody>
      </p:sp>
      <p:sp>
        <p:nvSpPr>
          <p:cNvPr id="13" name="Rounded Rectangle 12"/>
          <p:cNvSpPr/>
          <p:nvPr/>
        </p:nvSpPr>
        <p:spPr>
          <a:xfrm>
            <a:off x="5285231" y="2011680"/>
            <a:ext cx="2103120" cy="210312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85231" y="2011680"/>
            <a:ext cx="64008" cy="2103120"/>
          </a:xfrm>
          <a:prstGeom prst="rect">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399" y="2167128"/>
            <a:ext cx="1719072" cy="292608"/>
          </a:xfrm>
          <a:prstGeom prst="rect">
            <a:avLst/>
          </a:prstGeom>
          <a:noFill/>
        </p:spPr>
        <p:txBody>
          <a:bodyPr wrap="square" lIns="18288" rIns="18288" tIns="18288" bIns="18288" anchor="t">
            <a:spAutoFit/>
          </a:bodyPr>
          <a:lstStyle/>
          <a:p>
            <a:pPr algn="l">
              <a:spcAft>
                <a:spcPts val="0"/>
              </a:spcAft>
            </a:pPr>
            <a:r>
              <a:rPr sz="1400" b="1" i="0">
                <a:solidFill>
                  <a:srgbClr val="15364A"/>
                </a:solidFill>
                <a:latin typeface="Aptos"/>
              </a:rPr>
              <a:t>Empty</a:t>
            </a:r>
          </a:p>
        </p:txBody>
      </p:sp>
      <p:sp>
        <p:nvSpPr>
          <p:cNvPr id="16" name="TextBox 15"/>
          <p:cNvSpPr txBox="1"/>
          <p:nvPr/>
        </p:nvSpPr>
        <p:spPr>
          <a:xfrm>
            <a:off x="5486399" y="2542032"/>
            <a:ext cx="1719072" cy="1444751"/>
          </a:xfrm>
          <a:prstGeom prst="rect">
            <a:avLst/>
          </a:prstGeom>
          <a:noFill/>
        </p:spPr>
        <p:txBody>
          <a:bodyPr wrap="square" lIns="18288" rIns="18288" tIns="18288" bIns="18288" anchor="t">
            <a:spAutoFit/>
          </a:bodyPr>
          <a:lstStyle/>
          <a:p>
            <a:pPr algn="l">
              <a:spcAft>
                <a:spcPts val="0"/>
              </a:spcAft>
            </a:pPr>
            <a:r>
              <a:rPr sz="1050" b="0" i="0">
                <a:solidFill>
                  <a:srgbClr val="607889"/>
                </a:solidFill>
                <a:latin typeface="Aptos"/>
              </a:rPr>
              <a:t>Explain why nothing is shown and offer a useful action (search again / book).</a:t>
            </a:r>
          </a:p>
        </p:txBody>
      </p:sp>
      <p:sp>
        <p:nvSpPr>
          <p:cNvPr id="17" name="Rounded Rectangle 16"/>
          <p:cNvSpPr/>
          <p:nvPr/>
        </p:nvSpPr>
        <p:spPr>
          <a:xfrm>
            <a:off x="7598664" y="2011680"/>
            <a:ext cx="2103120" cy="210312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598664" y="2011680"/>
            <a:ext cx="64008" cy="2103120"/>
          </a:xfrm>
          <a:prstGeom prst="rect">
            <a:avLst/>
          </a:prstGeom>
          <a:solidFill>
            <a:srgbClr val="4B9C74"/>
          </a:solidFill>
          <a:ln>
            <a:solidFill>
              <a:srgbClr val="4B9C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99832" y="2167128"/>
            <a:ext cx="1719072" cy="292608"/>
          </a:xfrm>
          <a:prstGeom prst="rect">
            <a:avLst/>
          </a:prstGeom>
          <a:noFill/>
        </p:spPr>
        <p:txBody>
          <a:bodyPr wrap="square" lIns="18288" rIns="18288" tIns="18288" bIns="18288" anchor="t">
            <a:spAutoFit/>
          </a:bodyPr>
          <a:lstStyle/>
          <a:p>
            <a:pPr algn="l">
              <a:spcAft>
                <a:spcPts val="0"/>
              </a:spcAft>
            </a:pPr>
            <a:r>
              <a:rPr sz="1400" b="1" i="0">
                <a:solidFill>
                  <a:srgbClr val="15364A"/>
                </a:solidFill>
                <a:latin typeface="Aptos"/>
              </a:rPr>
              <a:t>Success</a:t>
            </a:r>
          </a:p>
        </p:txBody>
      </p:sp>
      <p:sp>
        <p:nvSpPr>
          <p:cNvPr id="20" name="TextBox 19"/>
          <p:cNvSpPr txBox="1"/>
          <p:nvPr/>
        </p:nvSpPr>
        <p:spPr>
          <a:xfrm>
            <a:off x="7799832" y="2542032"/>
            <a:ext cx="1719072" cy="1444751"/>
          </a:xfrm>
          <a:prstGeom prst="rect">
            <a:avLst/>
          </a:prstGeom>
          <a:noFill/>
        </p:spPr>
        <p:txBody>
          <a:bodyPr wrap="square" lIns="18288" rIns="18288" tIns="18288" bIns="18288" anchor="t">
            <a:spAutoFit/>
          </a:bodyPr>
          <a:lstStyle/>
          <a:p>
            <a:pPr algn="l">
              <a:spcAft>
                <a:spcPts val="0"/>
              </a:spcAft>
            </a:pPr>
            <a:r>
              <a:rPr sz="1050" b="0" i="0">
                <a:solidFill>
                  <a:srgbClr val="607889"/>
                </a:solidFill>
                <a:latin typeface="Aptos"/>
              </a:rPr>
              <a:t>Confirm what happened, show a reference where relevant and link to next action.</a:t>
            </a:r>
          </a:p>
        </p:txBody>
      </p:sp>
      <p:sp>
        <p:nvSpPr>
          <p:cNvPr id="21" name="Rounded Rectangle 20"/>
          <p:cNvSpPr/>
          <p:nvPr/>
        </p:nvSpPr>
        <p:spPr>
          <a:xfrm>
            <a:off x="9912096" y="2011680"/>
            <a:ext cx="2103120" cy="210312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912096" y="2011680"/>
            <a:ext cx="64008" cy="2103120"/>
          </a:xfrm>
          <a:prstGeom prst="rect">
            <a:avLst/>
          </a:prstGeom>
          <a:solidFill>
            <a:srgbClr val="D97768"/>
          </a:solidFill>
          <a:ln>
            <a:solidFill>
              <a:srgbClr val="D977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13264" y="2167128"/>
            <a:ext cx="1719072" cy="292608"/>
          </a:xfrm>
          <a:prstGeom prst="rect">
            <a:avLst/>
          </a:prstGeom>
          <a:noFill/>
        </p:spPr>
        <p:txBody>
          <a:bodyPr wrap="square" lIns="18288" rIns="18288" tIns="18288" bIns="18288" anchor="t">
            <a:spAutoFit/>
          </a:bodyPr>
          <a:lstStyle/>
          <a:p>
            <a:pPr algn="l">
              <a:spcAft>
                <a:spcPts val="0"/>
              </a:spcAft>
            </a:pPr>
            <a:r>
              <a:rPr sz="1400" b="1" i="0">
                <a:solidFill>
                  <a:srgbClr val="15364A"/>
                </a:solidFill>
                <a:latin typeface="Aptos"/>
              </a:rPr>
              <a:t>Error</a:t>
            </a:r>
          </a:p>
        </p:txBody>
      </p:sp>
      <p:sp>
        <p:nvSpPr>
          <p:cNvPr id="24" name="TextBox 23"/>
          <p:cNvSpPr txBox="1"/>
          <p:nvPr/>
        </p:nvSpPr>
        <p:spPr>
          <a:xfrm>
            <a:off x="10113264" y="2542032"/>
            <a:ext cx="1719072" cy="1444751"/>
          </a:xfrm>
          <a:prstGeom prst="rect">
            <a:avLst/>
          </a:prstGeom>
          <a:noFill/>
        </p:spPr>
        <p:txBody>
          <a:bodyPr wrap="square" lIns="18288" rIns="18288" tIns="18288" bIns="18288" anchor="t">
            <a:spAutoFit/>
          </a:bodyPr>
          <a:lstStyle/>
          <a:p>
            <a:pPr algn="l">
              <a:spcAft>
                <a:spcPts val="0"/>
              </a:spcAft>
            </a:pPr>
            <a:r>
              <a:rPr sz="1050" b="0" i="0">
                <a:solidFill>
                  <a:srgbClr val="607889"/>
                </a:solidFill>
                <a:latin typeface="Aptos"/>
              </a:rPr>
              <a:t>Say what failed, preserve user input and offer retry or support.</a:t>
            </a:r>
          </a:p>
        </p:txBody>
      </p:sp>
      <p:sp>
        <p:nvSpPr>
          <p:cNvPr id="25" name="Rounded Rectangle 24"/>
          <p:cNvSpPr/>
          <p:nvPr/>
        </p:nvSpPr>
        <p:spPr>
          <a:xfrm>
            <a:off x="731520" y="4617720"/>
            <a:ext cx="10744200" cy="960120"/>
          </a:xfrm>
          <a:prstGeom prst="roundRect">
            <a:avLst>
              <a:gd name="adj" fmla="val 8000"/>
            </a:avLst>
          </a:prstGeom>
          <a:solidFill>
            <a:srgbClr val="EEF5F9"/>
          </a:solidFill>
          <a:ln>
            <a:solidFill>
              <a:srgbClr val="EE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4837176"/>
            <a:ext cx="10241280" cy="438912"/>
          </a:xfrm>
          <a:prstGeom prst="rect">
            <a:avLst/>
          </a:prstGeom>
          <a:noFill/>
        </p:spPr>
        <p:txBody>
          <a:bodyPr wrap="square" lIns="18288" rIns="18288" tIns="18288" bIns="18288" anchor="t">
            <a:spAutoFit/>
          </a:bodyPr>
          <a:lstStyle/>
          <a:p>
            <a:pPr algn="l">
              <a:spcAft>
                <a:spcPts val="0"/>
              </a:spcAft>
            </a:pPr>
            <a:r>
              <a:rPr sz="1100" b="1" i="0">
                <a:solidFill>
                  <a:srgbClr val="15364A"/>
                </a:solidFill>
                <a:latin typeface="Aptos"/>
              </a:rPr>
              <a:t>High-risk moments to review: slot becomes unavailable • OTP invalid/expired • upload rejected • verification needs more information • payment pending or failed.</a:t>
            </a:r>
          </a:p>
        </p:txBody>
      </p:sp>
      <p:cxnSp>
        <p:nvCxnSpPr>
          <p:cNvPr id="27" name="Connector 26"/>
          <p:cNvCxnSpPr/>
          <p:nvPr/>
        </p:nvCxnSpPr>
        <p:spPr>
          <a:xfrm>
            <a:off x="502920" y="6510528"/>
            <a:ext cx="11183112" cy="0"/>
          </a:xfrm>
          <a:prstGeom prst="line">
            <a:avLst/>
          </a:prstGeom>
          <a:ln w="8890">
            <a:solidFill>
              <a:srgbClr val="DCE7ED"/>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8640" y="6574536"/>
            <a:ext cx="6858000" cy="164592"/>
          </a:xfrm>
          <a:prstGeom prst="rect">
            <a:avLst/>
          </a:prstGeom>
          <a:noFill/>
        </p:spPr>
        <p:txBody>
          <a:bodyPr wrap="square" lIns="18288" rIns="18288" tIns="18288" bIns="18288" anchor="t">
            <a:spAutoFit/>
          </a:bodyPr>
          <a:lstStyle/>
          <a:p>
            <a:pPr algn="l">
              <a:spcAft>
                <a:spcPts val="0"/>
              </a:spcAft>
            </a:pPr>
            <a:r>
              <a:rPr sz="800" b="1" i="0">
                <a:solidFill>
                  <a:srgbClr val="607889"/>
                </a:solidFill>
                <a:latin typeface="Aptos"/>
              </a:rPr>
              <a:t>HEALTHCARE CONNECT  /  UI PLAN  •  WORKING DRAFT</a:t>
            </a:r>
          </a:p>
        </p:txBody>
      </p:sp>
      <p:sp>
        <p:nvSpPr>
          <p:cNvPr id="29" name="TextBox 28"/>
          <p:cNvSpPr txBox="1"/>
          <p:nvPr/>
        </p:nvSpPr>
        <p:spPr>
          <a:xfrm>
            <a:off x="10972800" y="6565392"/>
            <a:ext cx="594360" cy="182880"/>
          </a:xfrm>
          <a:prstGeom prst="rect">
            <a:avLst/>
          </a:prstGeom>
          <a:noFill/>
        </p:spPr>
        <p:txBody>
          <a:bodyPr wrap="square" lIns="18288" rIns="18288" tIns="18288" bIns="18288" anchor="t">
            <a:spAutoFit/>
          </a:bodyPr>
          <a:lstStyle/>
          <a:p>
            <a:pPr algn="r">
              <a:spcAft>
                <a:spcPts val="0"/>
              </a:spcAft>
            </a:pPr>
            <a:r>
              <a:rPr sz="900" b="1" i="0">
                <a:solidFill>
                  <a:srgbClr val="607889"/>
                </a:solidFill>
                <a:latin typeface="Apto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594360" y="384048"/>
            <a:ext cx="4114800" cy="201168"/>
          </a:xfrm>
          <a:prstGeom prst="rect">
            <a:avLst/>
          </a:prstGeom>
          <a:noFill/>
        </p:spPr>
        <p:txBody>
          <a:bodyPr wrap="square" lIns="18288" rIns="18288" tIns="18288" bIns="18288" anchor="t">
            <a:spAutoFit/>
          </a:bodyPr>
          <a:lstStyle/>
          <a:p>
            <a:pPr algn="l">
              <a:spcAft>
                <a:spcPts val="0"/>
              </a:spcAft>
            </a:pPr>
            <a:r>
              <a:rPr sz="900" b="1" i="0">
                <a:solidFill>
                  <a:srgbClr val="26A99A"/>
                </a:solidFill>
                <a:latin typeface="Aptos"/>
              </a:rPr>
              <a:t>12 / RESPONSIVE UI</a:t>
            </a:r>
          </a:p>
        </p:txBody>
      </p:sp>
      <p:sp>
        <p:nvSpPr>
          <p:cNvPr id="3" name="TextBox 2"/>
          <p:cNvSpPr txBox="1"/>
          <p:nvPr/>
        </p:nvSpPr>
        <p:spPr>
          <a:xfrm>
            <a:off x="594360" y="658368"/>
            <a:ext cx="10972800" cy="475488"/>
          </a:xfrm>
          <a:prstGeom prst="rect">
            <a:avLst/>
          </a:prstGeom>
          <a:noFill/>
        </p:spPr>
        <p:txBody>
          <a:bodyPr wrap="square" lIns="18288" rIns="18288" tIns="18288" bIns="18288" anchor="t">
            <a:spAutoFit/>
          </a:bodyPr>
          <a:lstStyle/>
          <a:p>
            <a:pPr algn="l">
              <a:spcAft>
                <a:spcPts val="0"/>
              </a:spcAft>
            </a:pPr>
            <a:r>
              <a:rPr sz="2700" b="1" i="0">
                <a:solidFill>
                  <a:srgbClr val="15364A"/>
                </a:solidFill>
                <a:latin typeface="Aptos"/>
              </a:rPr>
              <a:t>One experience, tuned for desktop, tablet and mobile</a:t>
            </a:r>
          </a:p>
        </p:txBody>
      </p:sp>
      <p:sp>
        <p:nvSpPr>
          <p:cNvPr id="4" name="TextBox 3"/>
          <p:cNvSpPr txBox="1"/>
          <p:nvPr/>
        </p:nvSpPr>
        <p:spPr>
          <a:xfrm>
            <a:off x="612648" y="1207008"/>
            <a:ext cx="10789920" cy="365760"/>
          </a:xfrm>
          <a:prstGeom prst="rect">
            <a:avLst/>
          </a:prstGeom>
          <a:noFill/>
        </p:spPr>
        <p:txBody>
          <a:bodyPr wrap="square" lIns="18288" rIns="18288" tIns="18288" bIns="18288" anchor="t">
            <a:spAutoFit/>
          </a:bodyPr>
          <a:lstStyle/>
          <a:p>
            <a:pPr algn="l">
              <a:spcAft>
                <a:spcPts val="0"/>
              </a:spcAft>
            </a:pPr>
            <a:r>
              <a:rPr sz="1250" b="0" i="0">
                <a:solidFill>
                  <a:srgbClr val="607889"/>
                </a:solidFill>
                <a:latin typeface="Aptos"/>
              </a:rPr>
              <a:t>Content order, controls and navigation adapt to screen size; functionality remains consistent.</a:t>
            </a:r>
          </a:p>
        </p:txBody>
      </p:sp>
      <p:sp>
        <p:nvSpPr>
          <p:cNvPr id="5" name="Rounded Rectangle 4"/>
          <p:cNvSpPr/>
          <p:nvPr/>
        </p:nvSpPr>
        <p:spPr>
          <a:xfrm>
            <a:off x="749808" y="1892807"/>
            <a:ext cx="3383280" cy="251460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9808" y="1892807"/>
            <a:ext cx="64008" cy="2514600"/>
          </a:xfrm>
          <a:prstGeom prst="rect">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2048255"/>
            <a:ext cx="2999232" cy="292608"/>
          </a:xfrm>
          <a:prstGeom prst="rect">
            <a:avLst/>
          </a:prstGeom>
          <a:noFill/>
        </p:spPr>
        <p:txBody>
          <a:bodyPr wrap="square" lIns="18288" rIns="18288" tIns="18288" bIns="18288" anchor="t">
            <a:spAutoFit/>
          </a:bodyPr>
          <a:lstStyle/>
          <a:p>
            <a:pPr algn="l">
              <a:spcAft>
                <a:spcPts val="0"/>
              </a:spcAft>
            </a:pPr>
            <a:r>
              <a:rPr sz="1700" b="1" i="0">
                <a:solidFill>
                  <a:srgbClr val="15364A"/>
                </a:solidFill>
                <a:latin typeface="Aptos"/>
              </a:rPr>
              <a:t>Desktop</a:t>
            </a:r>
          </a:p>
        </p:txBody>
      </p:sp>
      <p:sp>
        <p:nvSpPr>
          <p:cNvPr id="8" name="TextBox 7"/>
          <p:cNvSpPr txBox="1"/>
          <p:nvPr/>
        </p:nvSpPr>
        <p:spPr>
          <a:xfrm>
            <a:off x="950976" y="2423160"/>
            <a:ext cx="2999232" cy="1856232"/>
          </a:xfrm>
          <a:prstGeom prst="rect">
            <a:avLst/>
          </a:prstGeom>
          <a:noFill/>
        </p:spPr>
        <p:txBody>
          <a:bodyPr wrap="square" lIns="18288" rIns="18288" tIns="18288" bIns="18288" anchor="t">
            <a:spAutoFit/>
          </a:bodyPr>
          <a:lstStyle/>
          <a:p>
            <a:pPr algn="l">
              <a:spcAft>
                <a:spcPts val="0"/>
              </a:spcAft>
            </a:pPr>
            <a:r>
              <a:rPr sz="1130" b="0" i="0">
                <a:solidFill>
                  <a:srgbClr val="607889"/>
                </a:solidFill>
                <a:latin typeface="Aptos"/>
              </a:rPr>
              <a:t>Wide layouts
Two-column search/profile/booking panels
Persistent summaries and full doctor workspace
Top navigation + visible context</a:t>
            </a:r>
          </a:p>
        </p:txBody>
      </p:sp>
      <p:sp>
        <p:nvSpPr>
          <p:cNvPr id="9" name="Rounded Rectangle 8"/>
          <p:cNvSpPr/>
          <p:nvPr/>
        </p:nvSpPr>
        <p:spPr>
          <a:xfrm>
            <a:off x="978407" y="4663440"/>
            <a:ext cx="2926080" cy="530352"/>
          </a:xfrm>
          <a:prstGeom prst="roundRect">
            <a:avLst>
              <a:gd name="adj" fmla="val 8000"/>
            </a:avLst>
          </a:prstGeom>
          <a:solidFill>
            <a:srgbClr val="EEF5F9"/>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33856" y="4818888"/>
            <a:ext cx="384048" cy="73152"/>
          </a:xfrm>
          <a:prstGeom prst="roundRect">
            <a:avLst>
              <a:gd name="adj" fmla="val 8000"/>
            </a:avLst>
          </a:prstGeom>
          <a:solidFill>
            <a:srgbClr val="C7D7E0"/>
          </a:solidFill>
          <a:ln>
            <a:solidFill>
              <a:srgbClr val="C7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664207" y="4818888"/>
            <a:ext cx="384048" cy="73152"/>
          </a:xfrm>
          <a:prstGeom prst="roundRect">
            <a:avLst>
              <a:gd name="adj" fmla="val 8000"/>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194560" y="4818888"/>
            <a:ext cx="384048" cy="73152"/>
          </a:xfrm>
          <a:prstGeom prst="roundRect">
            <a:avLst>
              <a:gd name="adj" fmla="val 8000"/>
            </a:avLst>
          </a:prstGeom>
          <a:solidFill>
            <a:srgbClr val="C7D7E0"/>
          </a:solidFill>
          <a:ln>
            <a:solidFill>
              <a:srgbClr val="C7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24911" y="4818888"/>
            <a:ext cx="384048" cy="73152"/>
          </a:xfrm>
          <a:prstGeom prst="roundRect">
            <a:avLst>
              <a:gd name="adj" fmla="val 8000"/>
            </a:avLst>
          </a:prstGeom>
          <a:solidFill>
            <a:srgbClr val="C7D7E0"/>
          </a:solidFill>
          <a:ln>
            <a:solidFill>
              <a:srgbClr val="C7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255263" y="4818888"/>
            <a:ext cx="384048" cy="73152"/>
          </a:xfrm>
          <a:prstGeom prst="roundRect">
            <a:avLst>
              <a:gd name="adj" fmla="val 8000"/>
            </a:avLst>
          </a:prstGeom>
          <a:solidFill>
            <a:srgbClr val="C7D7E0"/>
          </a:solidFill>
          <a:ln>
            <a:solidFill>
              <a:srgbClr val="C7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498848" y="1892807"/>
            <a:ext cx="3383280" cy="251460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98848" y="1892807"/>
            <a:ext cx="64008" cy="2514600"/>
          </a:xfrm>
          <a:prstGeom prst="rect">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0016" y="2048255"/>
            <a:ext cx="2999232" cy="292608"/>
          </a:xfrm>
          <a:prstGeom prst="rect">
            <a:avLst/>
          </a:prstGeom>
          <a:noFill/>
        </p:spPr>
        <p:txBody>
          <a:bodyPr wrap="square" lIns="18288" rIns="18288" tIns="18288" bIns="18288" anchor="t">
            <a:spAutoFit/>
          </a:bodyPr>
          <a:lstStyle/>
          <a:p>
            <a:pPr algn="l">
              <a:spcAft>
                <a:spcPts val="0"/>
              </a:spcAft>
            </a:pPr>
            <a:r>
              <a:rPr sz="1700" b="1" i="0">
                <a:solidFill>
                  <a:srgbClr val="15364A"/>
                </a:solidFill>
                <a:latin typeface="Aptos"/>
              </a:rPr>
              <a:t>Tablet</a:t>
            </a:r>
          </a:p>
        </p:txBody>
      </p:sp>
      <p:sp>
        <p:nvSpPr>
          <p:cNvPr id="18" name="TextBox 17"/>
          <p:cNvSpPr txBox="1"/>
          <p:nvPr/>
        </p:nvSpPr>
        <p:spPr>
          <a:xfrm>
            <a:off x="4700016" y="2423160"/>
            <a:ext cx="2999232" cy="1856232"/>
          </a:xfrm>
          <a:prstGeom prst="rect">
            <a:avLst/>
          </a:prstGeom>
          <a:noFill/>
        </p:spPr>
        <p:txBody>
          <a:bodyPr wrap="square" lIns="18288" rIns="18288" tIns="18288" bIns="18288" anchor="t">
            <a:spAutoFit/>
          </a:bodyPr>
          <a:lstStyle/>
          <a:p>
            <a:pPr algn="l">
              <a:spcAft>
                <a:spcPts val="0"/>
              </a:spcAft>
            </a:pPr>
            <a:r>
              <a:rPr sz="1130" b="0" i="0">
                <a:solidFill>
                  <a:srgbClr val="607889"/>
                </a:solidFill>
                <a:latin typeface="Aptos"/>
              </a:rPr>
              <a:t>Flexible layouts
Cards reflow into fewer columns
Booking summary moves below steps
Doctor workspace navigation can compact</a:t>
            </a:r>
          </a:p>
        </p:txBody>
      </p:sp>
      <p:sp>
        <p:nvSpPr>
          <p:cNvPr id="19" name="Rounded Rectangle 18"/>
          <p:cNvSpPr/>
          <p:nvPr/>
        </p:nvSpPr>
        <p:spPr>
          <a:xfrm>
            <a:off x="4727448" y="4663440"/>
            <a:ext cx="2926080" cy="530352"/>
          </a:xfrm>
          <a:prstGeom prst="roundRect">
            <a:avLst>
              <a:gd name="adj" fmla="val 8000"/>
            </a:avLst>
          </a:prstGeom>
          <a:solidFill>
            <a:srgbClr val="EEF5F9"/>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882896" y="4818888"/>
            <a:ext cx="384048" cy="73152"/>
          </a:xfrm>
          <a:prstGeom prst="roundRect">
            <a:avLst>
              <a:gd name="adj" fmla="val 8000"/>
            </a:avLst>
          </a:prstGeom>
          <a:solidFill>
            <a:srgbClr val="C7D7E0"/>
          </a:solidFill>
          <a:ln>
            <a:solidFill>
              <a:srgbClr val="C7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413248" y="4818888"/>
            <a:ext cx="384048" cy="73152"/>
          </a:xfrm>
          <a:prstGeom prst="roundRect">
            <a:avLst>
              <a:gd name="adj" fmla="val 8000"/>
            </a:avLst>
          </a:prstGeom>
          <a:solidFill>
            <a:srgbClr val="C7D7E0"/>
          </a:solidFill>
          <a:ln>
            <a:solidFill>
              <a:srgbClr val="C7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943600" y="4818888"/>
            <a:ext cx="384048" cy="73152"/>
          </a:xfrm>
          <a:prstGeom prst="roundRect">
            <a:avLst>
              <a:gd name="adj" fmla="val 8000"/>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73952" y="4818888"/>
            <a:ext cx="384048" cy="73152"/>
          </a:xfrm>
          <a:prstGeom prst="roundRect">
            <a:avLst>
              <a:gd name="adj" fmla="val 8000"/>
            </a:avLst>
          </a:prstGeom>
          <a:solidFill>
            <a:srgbClr val="C7D7E0"/>
          </a:solidFill>
          <a:ln>
            <a:solidFill>
              <a:srgbClr val="C7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004304" y="4818888"/>
            <a:ext cx="384048" cy="73152"/>
          </a:xfrm>
          <a:prstGeom prst="roundRect">
            <a:avLst>
              <a:gd name="adj" fmla="val 8000"/>
            </a:avLst>
          </a:prstGeom>
          <a:solidFill>
            <a:srgbClr val="C7D7E0"/>
          </a:solidFill>
          <a:ln>
            <a:solidFill>
              <a:srgbClr val="C7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247888" y="1892807"/>
            <a:ext cx="3383280" cy="251460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47888" y="1892807"/>
            <a:ext cx="64008" cy="2514600"/>
          </a:xfrm>
          <a:prstGeom prst="rect">
            <a:avLst/>
          </a:prstGeom>
          <a:solidFill>
            <a:srgbClr val="E6A94E"/>
          </a:solidFill>
          <a:ln>
            <a:solidFill>
              <a:srgbClr val="E6A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49056" y="2048255"/>
            <a:ext cx="2999232" cy="292608"/>
          </a:xfrm>
          <a:prstGeom prst="rect">
            <a:avLst/>
          </a:prstGeom>
          <a:noFill/>
        </p:spPr>
        <p:txBody>
          <a:bodyPr wrap="square" lIns="18288" rIns="18288" tIns="18288" bIns="18288" anchor="t">
            <a:spAutoFit/>
          </a:bodyPr>
          <a:lstStyle/>
          <a:p>
            <a:pPr algn="l">
              <a:spcAft>
                <a:spcPts val="0"/>
              </a:spcAft>
            </a:pPr>
            <a:r>
              <a:rPr sz="1700" b="1" i="0">
                <a:solidFill>
                  <a:srgbClr val="15364A"/>
                </a:solidFill>
                <a:latin typeface="Aptos"/>
              </a:rPr>
              <a:t>Mobile</a:t>
            </a:r>
          </a:p>
        </p:txBody>
      </p:sp>
      <p:sp>
        <p:nvSpPr>
          <p:cNvPr id="28" name="TextBox 27"/>
          <p:cNvSpPr txBox="1"/>
          <p:nvPr/>
        </p:nvSpPr>
        <p:spPr>
          <a:xfrm>
            <a:off x="8449056" y="2423160"/>
            <a:ext cx="2999232" cy="1856232"/>
          </a:xfrm>
          <a:prstGeom prst="rect">
            <a:avLst/>
          </a:prstGeom>
          <a:noFill/>
        </p:spPr>
        <p:txBody>
          <a:bodyPr wrap="square" lIns="18288" rIns="18288" tIns="18288" bIns="18288" anchor="t">
            <a:spAutoFit/>
          </a:bodyPr>
          <a:lstStyle/>
          <a:p>
            <a:pPr algn="l">
              <a:spcAft>
                <a:spcPts val="0"/>
              </a:spcAft>
            </a:pPr>
            <a:r>
              <a:rPr sz="1130" b="0" i="0">
                <a:solidFill>
                  <a:srgbClr val="607889"/>
                </a:solidFill>
                <a:latin typeface="Aptos"/>
              </a:rPr>
              <a:t>Focused layouts
Single-column content and touch targets
Step-by-step booking; sticky primary action
Collapsible navigation; readable status cards</a:t>
            </a:r>
          </a:p>
        </p:txBody>
      </p:sp>
      <p:sp>
        <p:nvSpPr>
          <p:cNvPr id="29" name="Rounded Rectangle 28"/>
          <p:cNvSpPr/>
          <p:nvPr/>
        </p:nvSpPr>
        <p:spPr>
          <a:xfrm>
            <a:off x="8476488" y="4663440"/>
            <a:ext cx="2926080" cy="530352"/>
          </a:xfrm>
          <a:prstGeom prst="roundRect">
            <a:avLst>
              <a:gd name="adj" fmla="val 8000"/>
            </a:avLst>
          </a:prstGeom>
          <a:solidFill>
            <a:srgbClr val="EEF5F9"/>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631936" y="4818888"/>
            <a:ext cx="384048" cy="73152"/>
          </a:xfrm>
          <a:prstGeom prst="roundRect">
            <a:avLst>
              <a:gd name="adj" fmla="val 8000"/>
            </a:avLst>
          </a:prstGeom>
          <a:solidFill>
            <a:srgbClr val="C7D7E0"/>
          </a:solidFill>
          <a:ln>
            <a:solidFill>
              <a:srgbClr val="C7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162288" y="4818888"/>
            <a:ext cx="384048" cy="73152"/>
          </a:xfrm>
          <a:prstGeom prst="roundRect">
            <a:avLst>
              <a:gd name="adj" fmla="val 8000"/>
            </a:avLst>
          </a:prstGeom>
          <a:solidFill>
            <a:srgbClr val="C7D7E0"/>
          </a:solidFill>
          <a:ln>
            <a:solidFill>
              <a:srgbClr val="C7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692640" y="4818888"/>
            <a:ext cx="384048" cy="73152"/>
          </a:xfrm>
          <a:prstGeom prst="roundRect">
            <a:avLst>
              <a:gd name="adj" fmla="val 8000"/>
            </a:avLst>
          </a:prstGeom>
          <a:solidFill>
            <a:srgbClr val="C7D7E0"/>
          </a:solidFill>
          <a:ln>
            <a:solidFill>
              <a:srgbClr val="C7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0222992" y="4818888"/>
            <a:ext cx="384048" cy="73152"/>
          </a:xfrm>
          <a:prstGeom prst="roundRect">
            <a:avLst>
              <a:gd name="adj" fmla="val 8000"/>
            </a:avLst>
          </a:prstGeom>
          <a:solidFill>
            <a:srgbClr val="E6A94E"/>
          </a:solidFill>
          <a:ln>
            <a:solidFill>
              <a:srgbClr val="E6A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753344" y="4818888"/>
            <a:ext cx="384048" cy="73152"/>
          </a:xfrm>
          <a:prstGeom prst="roundRect">
            <a:avLst>
              <a:gd name="adj" fmla="val 8000"/>
            </a:avLst>
          </a:prstGeom>
          <a:solidFill>
            <a:srgbClr val="C7D7E0"/>
          </a:solidFill>
          <a:ln>
            <a:solidFill>
              <a:srgbClr val="C7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5486400"/>
            <a:ext cx="10424160" cy="310896"/>
          </a:xfrm>
          <a:prstGeom prst="rect">
            <a:avLst/>
          </a:prstGeom>
          <a:noFill/>
        </p:spPr>
        <p:txBody>
          <a:bodyPr wrap="square" lIns="18288" rIns="18288" tIns="18288" bIns="18288" anchor="t">
            <a:spAutoFit/>
          </a:bodyPr>
          <a:lstStyle/>
          <a:p>
            <a:pPr algn="l">
              <a:spcAft>
                <a:spcPts val="0"/>
              </a:spcAft>
            </a:pPr>
            <a:r>
              <a:rPr sz="1050" b="0" i="1">
                <a:solidFill>
                  <a:srgbClr val="607889"/>
                </a:solidFill>
                <a:latin typeface="Aptos"/>
              </a:rPr>
              <a:t>Breakpoints and exact mobile patterns will be validated against the supplied visual reference before high-fidelity UI approval.</a:t>
            </a:r>
          </a:p>
        </p:txBody>
      </p:sp>
      <p:cxnSp>
        <p:nvCxnSpPr>
          <p:cNvPr id="36" name="Connector 35"/>
          <p:cNvCxnSpPr/>
          <p:nvPr/>
        </p:nvCxnSpPr>
        <p:spPr>
          <a:xfrm>
            <a:off x="502920" y="6510528"/>
            <a:ext cx="11183112" cy="0"/>
          </a:xfrm>
          <a:prstGeom prst="line">
            <a:avLst/>
          </a:prstGeom>
          <a:ln w="8890">
            <a:solidFill>
              <a:srgbClr val="DCE7ED"/>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48640" y="6574536"/>
            <a:ext cx="6858000" cy="164592"/>
          </a:xfrm>
          <a:prstGeom prst="rect">
            <a:avLst/>
          </a:prstGeom>
          <a:noFill/>
        </p:spPr>
        <p:txBody>
          <a:bodyPr wrap="square" lIns="18288" rIns="18288" tIns="18288" bIns="18288" anchor="t">
            <a:spAutoFit/>
          </a:bodyPr>
          <a:lstStyle/>
          <a:p>
            <a:pPr algn="l">
              <a:spcAft>
                <a:spcPts val="0"/>
              </a:spcAft>
            </a:pPr>
            <a:r>
              <a:rPr sz="800" b="1" i="0">
                <a:solidFill>
                  <a:srgbClr val="607889"/>
                </a:solidFill>
                <a:latin typeface="Aptos"/>
              </a:rPr>
              <a:t>HEALTHCARE CONNECT  /  UI PLAN  •  WORKING DRAFT</a:t>
            </a:r>
          </a:p>
        </p:txBody>
      </p:sp>
      <p:sp>
        <p:nvSpPr>
          <p:cNvPr id="38" name="TextBox 37"/>
          <p:cNvSpPr txBox="1"/>
          <p:nvPr/>
        </p:nvSpPr>
        <p:spPr>
          <a:xfrm>
            <a:off x="10972800" y="6565392"/>
            <a:ext cx="594360" cy="182880"/>
          </a:xfrm>
          <a:prstGeom prst="rect">
            <a:avLst/>
          </a:prstGeom>
          <a:noFill/>
        </p:spPr>
        <p:txBody>
          <a:bodyPr wrap="square" lIns="18288" rIns="18288" tIns="18288" bIns="18288" anchor="t">
            <a:spAutoFit/>
          </a:bodyPr>
          <a:lstStyle/>
          <a:p>
            <a:pPr algn="r">
              <a:spcAft>
                <a:spcPts val="0"/>
              </a:spcAft>
            </a:pPr>
            <a:r>
              <a:rPr sz="900" b="1" i="0">
                <a:solidFill>
                  <a:srgbClr val="607889"/>
                </a:solidFill>
                <a:latin typeface="Apto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594360" y="384048"/>
            <a:ext cx="4114800" cy="201168"/>
          </a:xfrm>
          <a:prstGeom prst="rect">
            <a:avLst/>
          </a:prstGeom>
          <a:noFill/>
        </p:spPr>
        <p:txBody>
          <a:bodyPr wrap="square" lIns="18288" rIns="18288" tIns="18288" bIns="18288" anchor="t">
            <a:spAutoFit/>
          </a:bodyPr>
          <a:lstStyle/>
          <a:p>
            <a:pPr algn="l">
              <a:spcAft>
                <a:spcPts val="0"/>
              </a:spcAft>
            </a:pPr>
            <a:r>
              <a:rPr sz="900" b="1" i="0">
                <a:solidFill>
                  <a:srgbClr val="26A99A"/>
                </a:solidFill>
                <a:latin typeface="Aptos"/>
              </a:rPr>
              <a:t>13 / REUSABLE UI</a:t>
            </a:r>
          </a:p>
        </p:txBody>
      </p:sp>
      <p:sp>
        <p:nvSpPr>
          <p:cNvPr id="3" name="TextBox 2"/>
          <p:cNvSpPr txBox="1"/>
          <p:nvPr/>
        </p:nvSpPr>
        <p:spPr>
          <a:xfrm>
            <a:off x="594360" y="658368"/>
            <a:ext cx="10972800" cy="475488"/>
          </a:xfrm>
          <a:prstGeom prst="rect">
            <a:avLst/>
          </a:prstGeom>
          <a:noFill/>
        </p:spPr>
        <p:txBody>
          <a:bodyPr wrap="square" lIns="18288" rIns="18288" tIns="18288" bIns="18288" anchor="t">
            <a:spAutoFit/>
          </a:bodyPr>
          <a:lstStyle/>
          <a:p>
            <a:pPr algn="l">
              <a:spcAft>
                <a:spcPts val="0"/>
              </a:spcAft>
            </a:pPr>
            <a:r>
              <a:rPr sz="2700" b="1" i="0">
                <a:solidFill>
                  <a:srgbClr val="15364A"/>
                </a:solidFill>
                <a:latin typeface="Aptos"/>
              </a:rPr>
              <a:t>Build consistency from shared React building blocks</a:t>
            </a:r>
          </a:p>
        </p:txBody>
      </p:sp>
      <p:sp>
        <p:nvSpPr>
          <p:cNvPr id="4" name="TextBox 3"/>
          <p:cNvSpPr txBox="1"/>
          <p:nvPr/>
        </p:nvSpPr>
        <p:spPr>
          <a:xfrm>
            <a:off x="612648" y="1207008"/>
            <a:ext cx="10789920" cy="365760"/>
          </a:xfrm>
          <a:prstGeom prst="rect">
            <a:avLst/>
          </a:prstGeom>
          <a:noFill/>
        </p:spPr>
        <p:txBody>
          <a:bodyPr wrap="square" lIns="18288" rIns="18288" tIns="18288" bIns="18288" anchor="t">
            <a:spAutoFit/>
          </a:bodyPr>
          <a:lstStyle/>
          <a:p>
            <a:pPr algn="l">
              <a:spcAft>
                <a:spcPts val="0"/>
              </a:spcAft>
            </a:pPr>
            <a:r>
              <a:rPr sz="1250" b="0" i="0">
                <a:solidFill>
                  <a:srgbClr val="607889"/>
                </a:solidFill>
                <a:latin typeface="Aptos"/>
              </a:rPr>
              <a:t>Reusable components keep common interactions predictable and make approved visual updates easier to apply.</a:t>
            </a:r>
          </a:p>
        </p:txBody>
      </p:sp>
      <p:sp>
        <p:nvSpPr>
          <p:cNvPr id="5" name="Rounded Rectangle 4"/>
          <p:cNvSpPr/>
          <p:nvPr/>
        </p:nvSpPr>
        <p:spPr>
          <a:xfrm>
            <a:off x="704088" y="1874519"/>
            <a:ext cx="5166360" cy="132588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4088" y="1874519"/>
            <a:ext cx="64008" cy="1325880"/>
          </a:xfrm>
          <a:prstGeom prst="rect">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029967"/>
            <a:ext cx="4782312" cy="292608"/>
          </a:xfrm>
          <a:prstGeom prst="rect">
            <a:avLst/>
          </a:prstGeom>
          <a:noFill/>
        </p:spPr>
        <p:txBody>
          <a:bodyPr wrap="square" lIns="18288" rIns="18288" tIns="18288" bIns="18288" anchor="t">
            <a:spAutoFit/>
          </a:bodyPr>
          <a:lstStyle/>
          <a:p>
            <a:pPr algn="l">
              <a:spcAft>
                <a:spcPts val="0"/>
              </a:spcAft>
            </a:pPr>
            <a:r>
              <a:rPr sz="1500" b="1" i="0">
                <a:solidFill>
                  <a:srgbClr val="15364A"/>
                </a:solidFill>
                <a:latin typeface="Aptos"/>
              </a:rPr>
              <a:t>Foundation</a:t>
            </a:r>
          </a:p>
        </p:txBody>
      </p:sp>
      <p:sp>
        <p:nvSpPr>
          <p:cNvPr id="8" name="TextBox 7"/>
          <p:cNvSpPr txBox="1"/>
          <p:nvPr/>
        </p:nvSpPr>
        <p:spPr>
          <a:xfrm>
            <a:off x="905256" y="2404872"/>
            <a:ext cx="4782312" cy="667512"/>
          </a:xfrm>
          <a:prstGeom prst="rect">
            <a:avLst/>
          </a:prstGeom>
          <a:noFill/>
        </p:spPr>
        <p:txBody>
          <a:bodyPr wrap="square" lIns="18288" rIns="18288" tIns="18288" bIns="18288" anchor="t">
            <a:spAutoFit/>
          </a:bodyPr>
          <a:lstStyle/>
          <a:p>
            <a:pPr algn="l">
              <a:spcAft>
                <a:spcPts val="0"/>
              </a:spcAft>
            </a:pPr>
            <a:r>
              <a:rPr sz="1150" b="0" i="0">
                <a:solidFill>
                  <a:srgbClr val="607889"/>
                </a:solidFill>
                <a:latin typeface="Aptos"/>
              </a:rPr>
              <a:t>Button • Field • Card • Badge
Icon • PageIntro • EmptyState</a:t>
            </a:r>
          </a:p>
        </p:txBody>
      </p:sp>
      <p:sp>
        <p:nvSpPr>
          <p:cNvPr id="9" name="Rounded Rectangle 8"/>
          <p:cNvSpPr/>
          <p:nvPr/>
        </p:nvSpPr>
        <p:spPr>
          <a:xfrm>
            <a:off x="6236208" y="1874519"/>
            <a:ext cx="5166360" cy="132588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6208" y="1874519"/>
            <a:ext cx="64008" cy="1325880"/>
          </a:xfrm>
          <a:prstGeom prst="rect">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7376" y="2029967"/>
            <a:ext cx="4782312" cy="292608"/>
          </a:xfrm>
          <a:prstGeom prst="rect">
            <a:avLst/>
          </a:prstGeom>
          <a:noFill/>
        </p:spPr>
        <p:txBody>
          <a:bodyPr wrap="square" lIns="18288" rIns="18288" tIns="18288" bIns="18288" anchor="t">
            <a:spAutoFit/>
          </a:bodyPr>
          <a:lstStyle/>
          <a:p>
            <a:pPr algn="l">
              <a:spcAft>
                <a:spcPts val="0"/>
              </a:spcAft>
            </a:pPr>
            <a:r>
              <a:rPr sz="1500" b="1" i="0">
                <a:solidFill>
                  <a:srgbClr val="15364A"/>
                </a:solidFill>
                <a:latin typeface="Aptos"/>
              </a:rPr>
              <a:t>Care patterns</a:t>
            </a:r>
          </a:p>
        </p:txBody>
      </p:sp>
      <p:sp>
        <p:nvSpPr>
          <p:cNvPr id="12" name="TextBox 11"/>
          <p:cNvSpPr txBox="1"/>
          <p:nvPr/>
        </p:nvSpPr>
        <p:spPr>
          <a:xfrm>
            <a:off x="6437376" y="2404872"/>
            <a:ext cx="4782312" cy="667512"/>
          </a:xfrm>
          <a:prstGeom prst="rect">
            <a:avLst/>
          </a:prstGeom>
          <a:noFill/>
        </p:spPr>
        <p:txBody>
          <a:bodyPr wrap="square" lIns="18288" rIns="18288" tIns="18288" bIns="18288" anchor="t">
            <a:spAutoFit/>
          </a:bodyPr>
          <a:lstStyle/>
          <a:p>
            <a:pPr algn="l">
              <a:spcAft>
                <a:spcPts val="0"/>
              </a:spcAft>
            </a:pPr>
            <a:r>
              <a:rPr sz="1150" b="0" i="0">
                <a:solidFill>
                  <a:srgbClr val="607889"/>
                </a:solidFill>
                <a:latin typeface="Aptos"/>
              </a:rPr>
              <a:t>DoctorCard / DoctorAvatar
Appointment summary • status timeline</a:t>
            </a:r>
          </a:p>
        </p:txBody>
      </p:sp>
      <p:sp>
        <p:nvSpPr>
          <p:cNvPr id="13" name="Rounded Rectangle 12"/>
          <p:cNvSpPr/>
          <p:nvPr/>
        </p:nvSpPr>
        <p:spPr>
          <a:xfrm>
            <a:off x="704088" y="3520439"/>
            <a:ext cx="5166360" cy="132588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4088" y="3520439"/>
            <a:ext cx="64008" cy="1325880"/>
          </a:xfrm>
          <a:prstGeom prst="rect">
            <a:avLst/>
          </a:prstGeom>
          <a:solidFill>
            <a:srgbClr val="E6A94E"/>
          </a:solidFill>
          <a:ln>
            <a:solidFill>
              <a:srgbClr val="E6A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6" y="3675887"/>
            <a:ext cx="4782312" cy="292608"/>
          </a:xfrm>
          <a:prstGeom prst="rect">
            <a:avLst/>
          </a:prstGeom>
          <a:noFill/>
        </p:spPr>
        <p:txBody>
          <a:bodyPr wrap="square" lIns="18288" rIns="18288" tIns="18288" bIns="18288" anchor="t">
            <a:spAutoFit/>
          </a:bodyPr>
          <a:lstStyle/>
          <a:p>
            <a:pPr algn="l">
              <a:spcAft>
                <a:spcPts val="0"/>
              </a:spcAft>
            </a:pPr>
            <a:r>
              <a:rPr sz="1500" b="1" i="0">
                <a:solidFill>
                  <a:srgbClr val="15364A"/>
                </a:solidFill>
                <a:latin typeface="Aptos"/>
              </a:rPr>
              <a:t>Flow patterns</a:t>
            </a:r>
          </a:p>
        </p:txBody>
      </p:sp>
      <p:sp>
        <p:nvSpPr>
          <p:cNvPr id="16" name="TextBox 15"/>
          <p:cNvSpPr txBox="1"/>
          <p:nvPr/>
        </p:nvSpPr>
        <p:spPr>
          <a:xfrm>
            <a:off x="905256" y="4050791"/>
            <a:ext cx="4782312" cy="667512"/>
          </a:xfrm>
          <a:prstGeom prst="rect">
            <a:avLst/>
          </a:prstGeom>
          <a:noFill/>
        </p:spPr>
        <p:txBody>
          <a:bodyPr wrap="square" lIns="18288" rIns="18288" tIns="18288" bIns="18288" anchor="t">
            <a:spAutoFit/>
          </a:bodyPr>
          <a:lstStyle/>
          <a:p>
            <a:pPr algn="l">
              <a:spcAft>
                <a:spcPts val="0"/>
              </a:spcAft>
            </a:pPr>
            <a:r>
              <a:rPr sz="1150" b="0" i="0">
                <a:solidFill>
                  <a:srgbClr val="607889"/>
                </a:solidFill>
                <a:latin typeface="Aptos"/>
              </a:rPr>
              <a:t>Stepper • date/time picker
Review panel • payment result</a:t>
            </a:r>
          </a:p>
        </p:txBody>
      </p:sp>
      <p:sp>
        <p:nvSpPr>
          <p:cNvPr id="17" name="Rounded Rectangle 16"/>
          <p:cNvSpPr/>
          <p:nvPr/>
        </p:nvSpPr>
        <p:spPr>
          <a:xfrm>
            <a:off x="6236208" y="3520439"/>
            <a:ext cx="5166360" cy="132588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36208" y="3520439"/>
            <a:ext cx="64008" cy="1325880"/>
          </a:xfrm>
          <a:prstGeom prst="rect">
            <a:avLst/>
          </a:prstGeom>
          <a:solidFill>
            <a:srgbClr val="D97768"/>
          </a:solidFill>
          <a:ln>
            <a:solidFill>
              <a:srgbClr val="D977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37376" y="3675887"/>
            <a:ext cx="4782312" cy="292608"/>
          </a:xfrm>
          <a:prstGeom prst="rect">
            <a:avLst/>
          </a:prstGeom>
          <a:noFill/>
        </p:spPr>
        <p:txBody>
          <a:bodyPr wrap="square" lIns="18288" rIns="18288" tIns="18288" bIns="18288" anchor="t">
            <a:spAutoFit/>
          </a:bodyPr>
          <a:lstStyle/>
          <a:p>
            <a:pPr algn="l">
              <a:spcAft>
                <a:spcPts val="0"/>
              </a:spcAft>
            </a:pPr>
            <a:r>
              <a:rPr sz="1500" b="1" i="0">
                <a:solidFill>
                  <a:srgbClr val="15364A"/>
                </a:solidFill>
                <a:latin typeface="Aptos"/>
              </a:rPr>
              <a:t>Layouts</a:t>
            </a:r>
          </a:p>
        </p:txBody>
      </p:sp>
      <p:sp>
        <p:nvSpPr>
          <p:cNvPr id="20" name="TextBox 19"/>
          <p:cNvSpPr txBox="1"/>
          <p:nvPr/>
        </p:nvSpPr>
        <p:spPr>
          <a:xfrm>
            <a:off x="6437376" y="4050791"/>
            <a:ext cx="4782312" cy="667512"/>
          </a:xfrm>
          <a:prstGeom prst="rect">
            <a:avLst/>
          </a:prstGeom>
          <a:noFill/>
        </p:spPr>
        <p:txBody>
          <a:bodyPr wrap="square" lIns="18288" rIns="18288" tIns="18288" bIns="18288" anchor="t">
            <a:spAutoFit/>
          </a:bodyPr>
          <a:lstStyle/>
          <a:p>
            <a:pPr algn="l">
              <a:spcAft>
                <a:spcPts val="0"/>
              </a:spcAft>
            </a:pPr>
            <a:r>
              <a:rPr sz="1150" b="0" i="0">
                <a:solidFill>
                  <a:srgbClr val="607889"/>
                </a:solidFill>
                <a:latin typeface="Aptos"/>
              </a:rPr>
              <a:t>Public header/footer
Doctor workspace navigation
Responsive auth frame</a:t>
            </a:r>
          </a:p>
        </p:txBody>
      </p:sp>
      <p:sp>
        <p:nvSpPr>
          <p:cNvPr id="21" name="Rounded Rectangle 20"/>
          <p:cNvSpPr/>
          <p:nvPr/>
        </p:nvSpPr>
        <p:spPr>
          <a:xfrm>
            <a:off x="731520" y="5367528"/>
            <a:ext cx="10744200" cy="594360"/>
          </a:xfrm>
          <a:prstGeom prst="roundRect">
            <a:avLst>
              <a:gd name="adj" fmla="val 8000"/>
            </a:avLst>
          </a:prstGeom>
          <a:solidFill>
            <a:srgbClr val="EEF5F9"/>
          </a:solidFill>
          <a:ln>
            <a:solidFill>
              <a:srgbClr val="EE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5532120"/>
            <a:ext cx="10241280" cy="219456"/>
          </a:xfrm>
          <a:prstGeom prst="rect">
            <a:avLst/>
          </a:prstGeom>
          <a:noFill/>
        </p:spPr>
        <p:txBody>
          <a:bodyPr wrap="square" lIns="18288" rIns="18288" tIns="18288" bIns="18288" anchor="t">
            <a:spAutoFit/>
          </a:bodyPr>
          <a:lstStyle/>
          <a:p>
            <a:pPr algn="l">
              <a:spcAft>
                <a:spcPts val="0"/>
              </a:spcAft>
            </a:pPr>
            <a:r>
              <a:rPr sz="1050" b="1" i="0">
                <a:solidFill>
                  <a:srgbClr val="15364A"/>
                </a:solidFill>
                <a:latin typeface="Aptos"/>
              </a:rPr>
              <a:t>React implementation at a glance: shared components + role-specific layouts + route-level screens + service calls. Avoid building every route as a one-off.</a:t>
            </a:r>
          </a:p>
        </p:txBody>
      </p:sp>
      <p:cxnSp>
        <p:nvCxnSpPr>
          <p:cNvPr id="23" name="Connector 22"/>
          <p:cNvCxnSpPr/>
          <p:nvPr/>
        </p:nvCxnSpPr>
        <p:spPr>
          <a:xfrm>
            <a:off x="502920" y="6510528"/>
            <a:ext cx="11183112" cy="0"/>
          </a:xfrm>
          <a:prstGeom prst="line">
            <a:avLst/>
          </a:prstGeom>
          <a:ln w="8890">
            <a:solidFill>
              <a:srgbClr val="DCE7ED"/>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8640" y="6574536"/>
            <a:ext cx="6858000" cy="164592"/>
          </a:xfrm>
          <a:prstGeom prst="rect">
            <a:avLst/>
          </a:prstGeom>
          <a:noFill/>
        </p:spPr>
        <p:txBody>
          <a:bodyPr wrap="square" lIns="18288" rIns="18288" tIns="18288" bIns="18288" anchor="t">
            <a:spAutoFit/>
          </a:bodyPr>
          <a:lstStyle/>
          <a:p>
            <a:pPr algn="l">
              <a:spcAft>
                <a:spcPts val="0"/>
              </a:spcAft>
            </a:pPr>
            <a:r>
              <a:rPr sz="800" b="1" i="0">
                <a:solidFill>
                  <a:srgbClr val="607889"/>
                </a:solidFill>
                <a:latin typeface="Aptos"/>
              </a:rPr>
              <a:t>HEALTHCARE CONNECT  /  UI PLAN  •  WORKING DRAFT</a:t>
            </a:r>
          </a:p>
        </p:txBody>
      </p:sp>
      <p:sp>
        <p:nvSpPr>
          <p:cNvPr id="25" name="TextBox 24"/>
          <p:cNvSpPr txBox="1"/>
          <p:nvPr/>
        </p:nvSpPr>
        <p:spPr>
          <a:xfrm>
            <a:off x="10972800" y="6565392"/>
            <a:ext cx="594360" cy="182880"/>
          </a:xfrm>
          <a:prstGeom prst="rect">
            <a:avLst/>
          </a:prstGeom>
          <a:noFill/>
        </p:spPr>
        <p:txBody>
          <a:bodyPr wrap="square" lIns="18288" rIns="18288" tIns="18288" bIns="18288" anchor="t">
            <a:spAutoFit/>
          </a:bodyPr>
          <a:lstStyle/>
          <a:p>
            <a:pPr algn="r">
              <a:spcAft>
                <a:spcPts val="0"/>
              </a:spcAft>
            </a:pPr>
            <a:r>
              <a:rPr sz="900" b="1" i="0">
                <a:solidFill>
                  <a:srgbClr val="607889"/>
                </a:solidFill>
                <a:latin typeface="Apto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594360" y="384048"/>
            <a:ext cx="4114800" cy="201168"/>
          </a:xfrm>
          <a:prstGeom prst="rect">
            <a:avLst/>
          </a:prstGeom>
          <a:noFill/>
        </p:spPr>
        <p:txBody>
          <a:bodyPr wrap="square" lIns="18288" rIns="18288" tIns="18288" bIns="18288" anchor="t">
            <a:spAutoFit/>
          </a:bodyPr>
          <a:lstStyle/>
          <a:p>
            <a:pPr algn="l">
              <a:spcAft>
                <a:spcPts val="0"/>
              </a:spcAft>
            </a:pPr>
            <a:r>
              <a:rPr sz="900" b="1" i="0">
                <a:solidFill>
                  <a:srgbClr val="26A99A"/>
                </a:solidFill>
                <a:latin typeface="Aptos"/>
              </a:rPr>
              <a:t>14 / FRONTEND ARCHITECTURE</a:t>
            </a:r>
          </a:p>
        </p:txBody>
      </p:sp>
      <p:sp>
        <p:nvSpPr>
          <p:cNvPr id="3" name="TextBox 2"/>
          <p:cNvSpPr txBox="1"/>
          <p:nvPr/>
        </p:nvSpPr>
        <p:spPr>
          <a:xfrm>
            <a:off x="594360" y="658368"/>
            <a:ext cx="10972800" cy="475488"/>
          </a:xfrm>
          <a:prstGeom prst="rect">
            <a:avLst/>
          </a:prstGeom>
          <a:noFill/>
        </p:spPr>
        <p:txBody>
          <a:bodyPr wrap="square" lIns="18288" rIns="18288" tIns="18288" bIns="18288" anchor="t">
            <a:spAutoFit/>
          </a:bodyPr>
          <a:lstStyle/>
          <a:p>
            <a:pPr algn="l">
              <a:spcAft>
                <a:spcPts val="0"/>
              </a:spcAft>
            </a:pPr>
            <a:r>
              <a:rPr sz="2700" b="1" i="0">
                <a:solidFill>
                  <a:srgbClr val="15364A"/>
                </a:solidFill>
                <a:latin typeface="Aptos"/>
              </a:rPr>
              <a:t>Clear route boundaries, shared services</a:t>
            </a:r>
          </a:p>
        </p:txBody>
      </p:sp>
      <p:sp>
        <p:nvSpPr>
          <p:cNvPr id="4" name="TextBox 3"/>
          <p:cNvSpPr txBox="1"/>
          <p:nvPr/>
        </p:nvSpPr>
        <p:spPr>
          <a:xfrm>
            <a:off x="612648" y="1207008"/>
            <a:ext cx="10789920" cy="365760"/>
          </a:xfrm>
          <a:prstGeom prst="rect">
            <a:avLst/>
          </a:prstGeom>
          <a:noFill/>
        </p:spPr>
        <p:txBody>
          <a:bodyPr wrap="square" lIns="18288" rIns="18288" tIns="18288" bIns="18288" anchor="t">
            <a:spAutoFit/>
          </a:bodyPr>
          <a:lstStyle/>
          <a:p>
            <a:pPr algn="l">
              <a:spcAft>
                <a:spcPts val="0"/>
              </a:spcAft>
            </a:pPr>
            <a:r>
              <a:rPr sz="1250" b="0" i="0">
                <a:solidFill>
                  <a:srgbClr val="607889"/>
                </a:solidFill>
                <a:latin typeface="Aptos"/>
              </a:rPr>
              <a:t>The current app uses React, React Router and a shared authentication context; API-backed services are an integration point.</a:t>
            </a:r>
          </a:p>
        </p:txBody>
      </p:sp>
      <p:sp>
        <p:nvSpPr>
          <p:cNvPr id="5" name="Rounded Rectangle 4"/>
          <p:cNvSpPr/>
          <p:nvPr/>
        </p:nvSpPr>
        <p:spPr>
          <a:xfrm>
            <a:off x="1005840" y="1755648"/>
            <a:ext cx="10195560" cy="566928"/>
          </a:xfrm>
          <a:prstGeom prst="roundRect">
            <a:avLst>
              <a:gd name="adj" fmla="val 8000"/>
            </a:avLst>
          </a:prstGeom>
          <a:solidFill>
            <a:srgbClr val="E6F1FC"/>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1874519"/>
            <a:ext cx="2286000" cy="219456"/>
          </a:xfrm>
          <a:prstGeom prst="rect">
            <a:avLst/>
          </a:prstGeom>
          <a:noFill/>
        </p:spPr>
        <p:txBody>
          <a:bodyPr wrap="square" lIns="18288" rIns="18288" tIns="18288" bIns="18288" anchor="t">
            <a:spAutoFit/>
          </a:bodyPr>
          <a:lstStyle/>
          <a:p>
            <a:pPr algn="l">
              <a:spcAft>
                <a:spcPts val="0"/>
              </a:spcAft>
            </a:pPr>
            <a:r>
              <a:rPr sz="1000" b="1" i="0">
                <a:solidFill>
                  <a:srgbClr val="15364A"/>
                </a:solidFill>
                <a:latin typeface="Aptos"/>
              </a:rPr>
              <a:t>1  ROUTES</a:t>
            </a:r>
          </a:p>
        </p:txBody>
      </p:sp>
      <p:sp>
        <p:nvSpPr>
          <p:cNvPr id="7" name="TextBox 6"/>
          <p:cNvSpPr txBox="1"/>
          <p:nvPr/>
        </p:nvSpPr>
        <p:spPr>
          <a:xfrm>
            <a:off x="3429000" y="1874519"/>
            <a:ext cx="7406640" cy="219456"/>
          </a:xfrm>
          <a:prstGeom prst="rect">
            <a:avLst/>
          </a:prstGeom>
          <a:noFill/>
        </p:spPr>
        <p:txBody>
          <a:bodyPr wrap="square" lIns="18288" rIns="18288" tIns="18288" bIns="18288" anchor="t">
            <a:spAutoFit/>
          </a:bodyPr>
          <a:lstStyle/>
          <a:p>
            <a:pPr algn="l">
              <a:spcAft>
                <a:spcPts val="0"/>
              </a:spcAft>
            </a:pPr>
            <a:r>
              <a:rPr sz="1019" b="0" i="0">
                <a:solidFill>
                  <a:srgbClr val="203B4B"/>
                </a:solidFill>
                <a:latin typeface="Aptos"/>
              </a:rPr>
              <a:t>Public discovery  •  Auth  •  Patient  •  Doctor</a:t>
            </a:r>
          </a:p>
        </p:txBody>
      </p:sp>
      <p:sp>
        <p:nvSpPr>
          <p:cNvPr id="8" name="Rounded Rectangle 7"/>
          <p:cNvSpPr/>
          <p:nvPr/>
        </p:nvSpPr>
        <p:spPr>
          <a:xfrm>
            <a:off x="1005840" y="2514600"/>
            <a:ext cx="10195560" cy="566928"/>
          </a:xfrm>
          <a:prstGeom prst="roundRect">
            <a:avLst>
              <a:gd name="adj" fmla="val 8000"/>
            </a:avLst>
          </a:prstGeom>
          <a:solidFill>
            <a:srgbClr val="DDF3EE"/>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2633472"/>
            <a:ext cx="2286000" cy="219456"/>
          </a:xfrm>
          <a:prstGeom prst="rect">
            <a:avLst/>
          </a:prstGeom>
          <a:noFill/>
        </p:spPr>
        <p:txBody>
          <a:bodyPr wrap="square" lIns="18288" rIns="18288" tIns="18288" bIns="18288" anchor="t">
            <a:spAutoFit/>
          </a:bodyPr>
          <a:lstStyle/>
          <a:p>
            <a:pPr algn="l">
              <a:spcAft>
                <a:spcPts val="0"/>
              </a:spcAft>
            </a:pPr>
            <a:r>
              <a:rPr sz="1000" b="1" i="0">
                <a:solidFill>
                  <a:srgbClr val="15364A"/>
                </a:solidFill>
                <a:latin typeface="Aptos"/>
              </a:rPr>
              <a:t>2  LAYOUTS</a:t>
            </a:r>
          </a:p>
        </p:txBody>
      </p:sp>
      <p:sp>
        <p:nvSpPr>
          <p:cNvPr id="10" name="TextBox 9"/>
          <p:cNvSpPr txBox="1"/>
          <p:nvPr/>
        </p:nvSpPr>
        <p:spPr>
          <a:xfrm>
            <a:off x="3429000" y="2633472"/>
            <a:ext cx="7406640" cy="219456"/>
          </a:xfrm>
          <a:prstGeom prst="rect">
            <a:avLst/>
          </a:prstGeom>
          <a:noFill/>
        </p:spPr>
        <p:txBody>
          <a:bodyPr wrap="square" lIns="18288" rIns="18288" tIns="18288" bIns="18288" anchor="t">
            <a:spAutoFit/>
          </a:bodyPr>
          <a:lstStyle/>
          <a:p>
            <a:pPr algn="l">
              <a:spcAft>
                <a:spcPts val="0"/>
              </a:spcAft>
            </a:pPr>
            <a:r>
              <a:rPr sz="1019" b="0" i="0">
                <a:solidFill>
                  <a:srgbClr val="203B4B"/>
                </a:solidFill>
                <a:latin typeface="Aptos"/>
              </a:rPr>
              <a:t>Public shell  •  Auth frame  •  Doctor workspace</a:t>
            </a:r>
          </a:p>
        </p:txBody>
      </p:sp>
      <p:sp>
        <p:nvSpPr>
          <p:cNvPr id="11" name="Rounded Rectangle 10"/>
          <p:cNvSpPr/>
          <p:nvPr/>
        </p:nvSpPr>
        <p:spPr>
          <a:xfrm>
            <a:off x="1005840" y="3273552"/>
            <a:ext cx="10195560" cy="566928"/>
          </a:xfrm>
          <a:prstGeom prst="roundRect">
            <a:avLst>
              <a:gd name="adj" fmla="val 8000"/>
            </a:avLst>
          </a:prstGeom>
          <a:solidFill>
            <a:srgbClr val="FFF2D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3392424"/>
            <a:ext cx="2286000" cy="219456"/>
          </a:xfrm>
          <a:prstGeom prst="rect">
            <a:avLst/>
          </a:prstGeom>
          <a:noFill/>
        </p:spPr>
        <p:txBody>
          <a:bodyPr wrap="square" lIns="18288" rIns="18288" tIns="18288" bIns="18288" anchor="t">
            <a:spAutoFit/>
          </a:bodyPr>
          <a:lstStyle/>
          <a:p>
            <a:pPr algn="l">
              <a:spcAft>
                <a:spcPts val="0"/>
              </a:spcAft>
            </a:pPr>
            <a:r>
              <a:rPr sz="1000" b="1" i="0">
                <a:solidFill>
                  <a:srgbClr val="15364A"/>
                </a:solidFill>
                <a:latin typeface="Aptos"/>
              </a:rPr>
              <a:t>3  SHARED UI</a:t>
            </a:r>
          </a:p>
        </p:txBody>
      </p:sp>
      <p:sp>
        <p:nvSpPr>
          <p:cNvPr id="13" name="TextBox 12"/>
          <p:cNvSpPr txBox="1"/>
          <p:nvPr/>
        </p:nvSpPr>
        <p:spPr>
          <a:xfrm>
            <a:off x="3429000" y="3392424"/>
            <a:ext cx="7406640" cy="219456"/>
          </a:xfrm>
          <a:prstGeom prst="rect">
            <a:avLst/>
          </a:prstGeom>
          <a:noFill/>
        </p:spPr>
        <p:txBody>
          <a:bodyPr wrap="square" lIns="18288" rIns="18288" tIns="18288" bIns="18288" anchor="t">
            <a:spAutoFit/>
          </a:bodyPr>
          <a:lstStyle/>
          <a:p>
            <a:pPr algn="l">
              <a:spcAft>
                <a:spcPts val="0"/>
              </a:spcAft>
            </a:pPr>
            <a:r>
              <a:rPr sz="1019" b="0" i="0">
                <a:solidFill>
                  <a:srgbClr val="203B4B"/>
                </a:solidFill>
                <a:latin typeface="Aptos"/>
              </a:rPr>
              <a:t>Components  •  Forms  •  Booking stepper  •  Status patterns</a:t>
            </a:r>
          </a:p>
        </p:txBody>
      </p:sp>
      <p:sp>
        <p:nvSpPr>
          <p:cNvPr id="14" name="Rounded Rectangle 13"/>
          <p:cNvSpPr/>
          <p:nvPr/>
        </p:nvSpPr>
        <p:spPr>
          <a:xfrm>
            <a:off x="1005840" y="4032504"/>
            <a:ext cx="10195560" cy="566928"/>
          </a:xfrm>
          <a:prstGeom prst="roundRect">
            <a:avLst>
              <a:gd name="adj" fmla="val 8000"/>
            </a:avLst>
          </a:prstGeom>
          <a:solidFill>
            <a:srgbClr val="FCEBE7"/>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4440" y="4151376"/>
            <a:ext cx="2286000" cy="219456"/>
          </a:xfrm>
          <a:prstGeom prst="rect">
            <a:avLst/>
          </a:prstGeom>
          <a:noFill/>
        </p:spPr>
        <p:txBody>
          <a:bodyPr wrap="square" lIns="18288" rIns="18288" tIns="18288" bIns="18288" anchor="t">
            <a:spAutoFit/>
          </a:bodyPr>
          <a:lstStyle/>
          <a:p>
            <a:pPr algn="l">
              <a:spcAft>
                <a:spcPts val="0"/>
              </a:spcAft>
            </a:pPr>
            <a:r>
              <a:rPr sz="1000" b="1" i="0">
                <a:solidFill>
                  <a:srgbClr val="15364A"/>
                </a:solidFill>
                <a:latin typeface="Aptos"/>
              </a:rPr>
              <a:t>4  SERVICES</a:t>
            </a:r>
          </a:p>
        </p:txBody>
      </p:sp>
      <p:sp>
        <p:nvSpPr>
          <p:cNvPr id="16" name="TextBox 15"/>
          <p:cNvSpPr txBox="1"/>
          <p:nvPr/>
        </p:nvSpPr>
        <p:spPr>
          <a:xfrm>
            <a:off x="3429000" y="4151376"/>
            <a:ext cx="7406640" cy="219456"/>
          </a:xfrm>
          <a:prstGeom prst="rect">
            <a:avLst/>
          </a:prstGeom>
          <a:noFill/>
        </p:spPr>
        <p:txBody>
          <a:bodyPr wrap="square" lIns="18288" rIns="18288" tIns="18288" bIns="18288" anchor="t">
            <a:spAutoFit/>
          </a:bodyPr>
          <a:lstStyle/>
          <a:p>
            <a:pPr algn="l">
              <a:spcAft>
                <a:spcPts val="0"/>
              </a:spcAft>
            </a:pPr>
            <a:r>
              <a:rPr sz="1019" b="0" i="0">
                <a:solidFill>
                  <a:srgbClr val="203B4B"/>
                </a:solidFill>
                <a:latin typeface="Aptos"/>
              </a:rPr>
              <a:t>Auth  •  Doctor search  •  Appointments  •  Payments  •  Verification</a:t>
            </a:r>
          </a:p>
        </p:txBody>
      </p:sp>
      <p:sp>
        <p:nvSpPr>
          <p:cNvPr id="17" name="Rounded Rectangle 16"/>
          <p:cNvSpPr/>
          <p:nvPr/>
        </p:nvSpPr>
        <p:spPr>
          <a:xfrm>
            <a:off x="1005840" y="4791456"/>
            <a:ext cx="10195560" cy="566928"/>
          </a:xfrm>
          <a:prstGeom prst="roundRect">
            <a:avLst>
              <a:gd name="adj" fmla="val 8000"/>
            </a:avLst>
          </a:prstGeom>
          <a:solidFill>
            <a:srgbClr val="E6EDF2"/>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34440" y="4910328"/>
            <a:ext cx="2286000" cy="219456"/>
          </a:xfrm>
          <a:prstGeom prst="rect">
            <a:avLst/>
          </a:prstGeom>
          <a:noFill/>
        </p:spPr>
        <p:txBody>
          <a:bodyPr wrap="square" lIns="18288" rIns="18288" tIns="18288" bIns="18288" anchor="t">
            <a:spAutoFit/>
          </a:bodyPr>
          <a:lstStyle/>
          <a:p>
            <a:pPr algn="l">
              <a:spcAft>
                <a:spcPts val="0"/>
              </a:spcAft>
            </a:pPr>
            <a:r>
              <a:rPr sz="1000" b="1" i="0">
                <a:solidFill>
                  <a:srgbClr val="15364A"/>
                </a:solidFill>
                <a:latin typeface="Aptos"/>
              </a:rPr>
              <a:t>5  SERVER APIs</a:t>
            </a:r>
          </a:p>
        </p:txBody>
      </p:sp>
      <p:sp>
        <p:nvSpPr>
          <p:cNvPr id="19" name="TextBox 18"/>
          <p:cNvSpPr txBox="1"/>
          <p:nvPr/>
        </p:nvSpPr>
        <p:spPr>
          <a:xfrm>
            <a:off x="3429000" y="4910328"/>
            <a:ext cx="7406640" cy="219456"/>
          </a:xfrm>
          <a:prstGeom prst="rect">
            <a:avLst/>
          </a:prstGeom>
          <a:noFill/>
        </p:spPr>
        <p:txBody>
          <a:bodyPr wrap="square" lIns="18288" rIns="18288" tIns="18288" bIns="18288" anchor="t">
            <a:spAutoFit/>
          </a:bodyPr>
          <a:lstStyle/>
          <a:p>
            <a:pPr algn="l">
              <a:spcAft>
                <a:spcPts val="0"/>
              </a:spcAft>
            </a:pPr>
            <a:r>
              <a:rPr sz="1019" b="0" i="0">
                <a:solidFill>
                  <a:srgbClr val="203B4B"/>
                </a:solidFill>
                <a:latin typeface="Aptos"/>
              </a:rPr>
              <a:t>Production accounts, data, payments, documents and notifications</a:t>
            </a:r>
          </a:p>
        </p:txBody>
      </p:sp>
      <p:sp>
        <p:nvSpPr>
          <p:cNvPr id="20" name="TextBox 19"/>
          <p:cNvSpPr txBox="1"/>
          <p:nvPr/>
        </p:nvSpPr>
        <p:spPr>
          <a:xfrm>
            <a:off x="1005840" y="5687568"/>
            <a:ext cx="10241280" cy="274320"/>
          </a:xfrm>
          <a:prstGeom prst="rect">
            <a:avLst/>
          </a:prstGeom>
          <a:noFill/>
        </p:spPr>
        <p:txBody>
          <a:bodyPr wrap="square" lIns="18288" rIns="18288" tIns="18288" bIns="18288" anchor="t">
            <a:spAutoFit/>
          </a:bodyPr>
          <a:lstStyle/>
          <a:p>
            <a:pPr algn="l">
              <a:spcAft>
                <a:spcPts val="0"/>
              </a:spcAft>
            </a:pPr>
            <a:r>
              <a:rPr sz="1050" b="0" i="1">
                <a:solidFill>
                  <a:srgbClr val="607889"/>
                </a:solidFill>
                <a:latin typeface="Aptos"/>
              </a:rPr>
              <a:t>Current prototype services are mocked and browser storage is used for demo state; connect the agreed backend before production.</a:t>
            </a:r>
          </a:p>
        </p:txBody>
      </p:sp>
      <p:cxnSp>
        <p:nvCxnSpPr>
          <p:cNvPr id="21" name="Connector 20"/>
          <p:cNvCxnSpPr/>
          <p:nvPr/>
        </p:nvCxnSpPr>
        <p:spPr>
          <a:xfrm>
            <a:off x="502920" y="6510528"/>
            <a:ext cx="11183112" cy="0"/>
          </a:xfrm>
          <a:prstGeom prst="line">
            <a:avLst/>
          </a:prstGeom>
          <a:ln w="8890">
            <a:solidFill>
              <a:srgbClr val="DCE7ED"/>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8640" y="6574536"/>
            <a:ext cx="6858000" cy="164592"/>
          </a:xfrm>
          <a:prstGeom prst="rect">
            <a:avLst/>
          </a:prstGeom>
          <a:noFill/>
        </p:spPr>
        <p:txBody>
          <a:bodyPr wrap="square" lIns="18288" rIns="18288" tIns="18288" bIns="18288" anchor="t">
            <a:spAutoFit/>
          </a:bodyPr>
          <a:lstStyle/>
          <a:p>
            <a:pPr algn="l">
              <a:spcAft>
                <a:spcPts val="0"/>
              </a:spcAft>
            </a:pPr>
            <a:r>
              <a:rPr sz="800" b="1" i="0">
                <a:solidFill>
                  <a:srgbClr val="607889"/>
                </a:solidFill>
                <a:latin typeface="Aptos"/>
              </a:rPr>
              <a:t>HEALTHCARE CONNECT  /  UI PLAN  •  WORKING DRAFT</a:t>
            </a:r>
          </a:p>
        </p:txBody>
      </p:sp>
      <p:sp>
        <p:nvSpPr>
          <p:cNvPr id="23" name="TextBox 22"/>
          <p:cNvSpPr txBox="1"/>
          <p:nvPr/>
        </p:nvSpPr>
        <p:spPr>
          <a:xfrm>
            <a:off x="10972800" y="6565392"/>
            <a:ext cx="594360" cy="182880"/>
          </a:xfrm>
          <a:prstGeom prst="rect">
            <a:avLst/>
          </a:prstGeom>
          <a:noFill/>
        </p:spPr>
        <p:txBody>
          <a:bodyPr wrap="square" lIns="18288" rIns="18288" tIns="18288" bIns="18288" anchor="t">
            <a:spAutoFit/>
          </a:bodyPr>
          <a:lstStyle/>
          <a:p>
            <a:pPr algn="r">
              <a:spcAft>
                <a:spcPts val="0"/>
              </a:spcAft>
            </a:pPr>
            <a:r>
              <a:rPr sz="900" b="1" i="0">
                <a:solidFill>
                  <a:srgbClr val="607889"/>
                </a:solidFill>
                <a:latin typeface="Apto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594360" y="384048"/>
            <a:ext cx="4114800" cy="201168"/>
          </a:xfrm>
          <a:prstGeom prst="rect">
            <a:avLst/>
          </a:prstGeom>
          <a:noFill/>
        </p:spPr>
        <p:txBody>
          <a:bodyPr wrap="square" lIns="18288" rIns="18288" tIns="18288" bIns="18288" anchor="t">
            <a:spAutoFit/>
          </a:bodyPr>
          <a:lstStyle/>
          <a:p>
            <a:pPr algn="l">
              <a:spcAft>
                <a:spcPts val="0"/>
              </a:spcAft>
            </a:pPr>
            <a:r>
              <a:rPr sz="900" b="1" i="0">
                <a:solidFill>
                  <a:srgbClr val="26A99A"/>
                </a:solidFill>
                <a:latin typeface="Aptos"/>
              </a:rPr>
              <a:t>15 / RESPONSIBILITY BOUNDARY</a:t>
            </a:r>
          </a:p>
        </p:txBody>
      </p:sp>
      <p:sp>
        <p:nvSpPr>
          <p:cNvPr id="3" name="TextBox 2"/>
          <p:cNvSpPr txBox="1"/>
          <p:nvPr/>
        </p:nvSpPr>
        <p:spPr>
          <a:xfrm>
            <a:off x="594360" y="658368"/>
            <a:ext cx="10972800" cy="475488"/>
          </a:xfrm>
          <a:prstGeom prst="rect">
            <a:avLst/>
          </a:prstGeom>
          <a:noFill/>
        </p:spPr>
        <p:txBody>
          <a:bodyPr wrap="square" lIns="18288" rIns="18288" tIns="18288" bIns="18288" anchor="t">
            <a:spAutoFit/>
          </a:bodyPr>
          <a:lstStyle/>
          <a:p>
            <a:pPr algn="l">
              <a:spcAft>
                <a:spcPts val="0"/>
              </a:spcAft>
            </a:pPr>
            <a:r>
              <a:rPr sz="2700" b="1" i="0">
                <a:solidFill>
                  <a:srgbClr val="15364A"/>
                </a:solidFill>
                <a:latin typeface="Aptos"/>
              </a:rPr>
              <a:t>The interface guides the journey; the backend owns trusted outcomes</a:t>
            </a:r>
          </a:p>
        </p:txBody>
      </p:sp>
      <p:sp>
        <p:nvSpPr>
          <p:cNvPr id="4" name="TextBox 3"/>
          <p:cNvSpPr txBox="1"/>
          <p:nvPr/>
        </p:nvSpPr>
        <p:spPr>
          <a:xfrm>
            <a:off x="612648" y="1207008"/>
            <a:ext cx="10789920" cy="365760"/>
          </a:xfrm>
          <a:prstGeom prst="rect">
            <a:avLst/>
          </a:prstGeom>
          <a:noFill/>
        </p:spPr>
        <p:txBody>
          <a:bodyPr wrap="square" lIns="18288" rIns="18288" tIns="18288" bIns="18288" anchor="t">
            <a:spAutoFit/>
          </a:bodyPr>
          <a:lstStyle/>
          <a:p>
            <a:pPr algn="l">
              <a:spcAft>
                <a:spcPts val="0"/>
              </a:spcAft>
            </a:pPr>
            <a:r>
              <a:rPr sz="1250" b="0" i="0">
                <a:solidFill>
                  <a:srgbClr val="607889"/>
                </a:solidFill>
                <a:latin typeface="Aptos"/>
              </a:rPr>
              <a:t>Agree contracts early so the frontend can show accurate status without becoming the source of truth.</a:t>
            </a:r>
          </a:p>
        </p:txBody>
      </p:sp>
      <p:sp>
        <p:nvSpPr>
          <p:cNvPr id="5" name="Rounded Rectangle 4"/>
          <p:cNvSpPr/>
          <p:nvPr/>
        </p:nvSpPr>
        <p:spPr>
          <a:xfrm>
            <a:off x="685800" y="1847088"/>
            <a:ext cx="5285232" cy="356616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847088"/>
            <a:ext cx="64008" cy="3566160"/>
          </a:xfrm>
          <a:prstGeom prst="rect">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002536"/>
            <a:ext cx="4901184" cy="292608"/>
          </a:xfrm>
          <a:prstGeom prst="rect">
            <a:avLst/>
          </a:prstGeom>
          <a:noFill/>
        </p:spPr>
        <p:txBody>
          <a:bodyPr wrap="square" lIns="18288" rIns="18288" tIns="18288" bIns="18288" anchor="t">
            <a:spAutoFit/>
          </a:bodyPr>
          <a:lstStyle/>
          <a:p>
            <a:pPr algn="l">
              <a:spcAft>
                <a:spcPts val="0"/>
              </a:spcAft>
            </a:pPr>
            <a:r>
              <a:rPr sz="1600" b="1" i="0">
                <a:solidFill>
                  <a:srgbClr val="15364A"/>
                </a:solidFill>
                <a:latin typeface="Aptos"/>
              </a:rPr>
              <a:t>Frontend / React</a:t>
            </a:r>
          </a:p>
        </p:txBody>
      </p:sp>
      <p:sp>
        <p:nvSpPr>
          <p:cNvPr id="8" name="TextBox 7"/>
          <p:cNvSpPr txBox="1"/>
          <p:nvPr/>
        </p:nvSpPr>
        <p:spPr>
          <a:xfrm>
            <a:off x="886968" y="2377440"/>
            <a:ext cx="4901184" cy="2907791"/>
          </a:xfrm>
          <a:prstGeom prst="rect">
            <a:avLst/>
          </a:prstGeom>
          <a:noFill/>
        </p:spPr>
        <p:txBody>
          <a:bodyPr wrap="square" lIns="18288" rIns="18288" tIns="18288" bIns="18288" anchor="t">
            <a:spAutoFit/>
          </a:bodyPr>
          <a:lstStyle/>
          <a:p>
            <a:pPr algn="l">
              <a:spcAft>
                <a:spcPts val="0"/>
              </a:spcAft>
            </a:pPr>
            <a:r>
              <a:rPr sz="1200" b="0" i="0">
                <a:solidFill>
                  <a:srgbClr val="607889"/>
                </a:solidFill>
                <a:latin typeface="Aptos"/>
              </a:rPr>
              <a:t>Render routes, layouts and responsive UI
Collect and validate user input
Manage local interaction and step progress
Call APIs and show loading / empty / error / success
Display verified server status and payment result
Provide accessible, recoverable user journeys</a:t>
            </a:r>
          </a:p>
        </p:txBody>
      </p:sp>
      <p:sp>
        <p:nvSpPr>
          <p:cNvPr id="9" name="Rounded Rectangle 8"/>
          <p:cNvSpPr/>
          <p:nvPr/>
        </p:nvSpPr>
        <p:spPr>
          <a:xfrm>
            <a:off x="6217920" y="1847088"/>
            <a:ext cx="5285232" cy="356616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847088"/>
            <a:ext cx="64008" cy="3566160"/>
          </a:xfrm>
          <a:prstGeom prst="rect">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9088" y="2002536"/>
            <a:ext cx="4901184" cy="292608"/>
          </a:xfrm>
          <a:prstGeom prst="rect">
            <a:avLst/>
          </a:prstGeom>
          <a:noFill/>
        </p:spPr>
        <p:txBody>
          <a:bodyPr wrap="square" lIns="18288" rIns="18288" tIns="18288" bIns="18288" anchor="t">
            <a:spAutoFit/>
          </a:bodyPr>
          <a:lstStyle/>
          <a:p>
            <a:pPr algn="l">
              <a:spcAft>
                <a:spcPts val="0"/>
              </a:spcAft>
            </a:pPr>
            <a:r>
              <a:rPr sz="1600" b="1" i="0">
                <a:solidFill>
                  <a:srgbClr val="15364A"/>
                </a:solidFill>
                <a:latin typeface="Aptos"/>
              </a:rPr>
              <a:t>Backend / services</a:t>
            </a:r>
          </a:p>
        </p:txBody>
      </p:sp>
      <p:sp>
        <p:nvSpPr>
          <p:cNvPr id="12" name="TextBox 11"/>
          <p:cNvSpPr txBox="1"/>
          <p:nvPr/>
        </p:nvSpPr>
        <p:spPr>
          <a:xfrm>
            <a:off x="6419088" y="2377440"/>
            <a:ext cx="4901184" cy="2907791"/>
          </a:xfrm>
          <a:prstGeom prst="rect">
            <a:avLst/>
          </a:prstGeom>
          <a:noFill/>
        </p:spPr>
        <p:txBody>
          <a:bodyPr wrap="square" lIns="18288" rIns="18288" tIns="18288" bIns="18288" anchor="t">
            <a:spAutoFit/>
          </a:bodyPr>
          <a:lstStyle/>
          <a:p>
            <a:pPr algn="l">
              <a:spcAft>
                <a:spcPts val="0"/>
              </a:spcAft>
            </a:pPr>
            <a:r>
              <a:rPr sz="1200" b="0" i="0">
                <a:solidFill>
                  <a:srgbClr val="607889"/>
                </a:solidFill>
                <a:latin typeface="Aptos"/>
              </a:rPr>
              <a:t>Authenticate users and enforce roles
Own doctor, schedule and appointment records
Prevent slot conflicts and confirm booking
Create Razorpay orders and validate callbacks
Securely store documents and review decisions
Send OTPs, email/SMS updates and reminders</a:t>
            </a:r>
          </a:p>
        </p:txBody>
      </p:sp>
      <p:sp>
        <p:nvSpPr>
          <p:cNvPr id="13" name="TextBox 12"/>
          <p:cNvSpPr txBox="1"/>
          <p:nvPr/>
        </p:nvSpPr>
        <p:spPr>
          <a:xfrm>
            <a:off x="822960" y="5632704"/>
            <a:ext cx="10332720" cy="320040"/>
          </a:xfrm>
          <a:prstGeom prst="rect">
            <a:avLst/>
          </a:prstGeom>
          <a:noFill/>
        </p:spPr>
        <p:txBody>
          <a:bodyPr wrap="square" lIns="18288" rIns="18288" tIns="18288" bIns="18288" anchor="t">
            <a:spAutoFit/>
          </a:bodyPr>
          <a:lstStyle/>
          <a:p>
            <a:pPr algn="l">
              <a:spcAft>
                <a:spcPts val="0"/>
              </a:spcAft>
            </a:pPr>
            <a:r>
              <a:rPr sz="1050" b="0" i="1">
                <a:solidFill>
                  <a:srgbClr val="607889"/>
                </a:solidFill>
                <a:latin typeface="Aptos"/>
              </a:rPr>
              <a:t>The existing prototype does not demonstrate a production API, live Razorpay integration, real OTP delivery or verification provider.</a:t>
            </a:r>
          </a:p>
        </p:txBody>
      </p:sp>
      <p:cxnSp>
        <p:nvCxnSpPr>
          <p:cNvPr id="14" name="Connector 13"/>
          <p:cNvCxnSpPr/>
          <p:nvPr/>
        </p:nvCxnSpPr>
        <p:spPr>
          <a:xfrm>
            <a:off x="502920" y="6510528"/>
            <a:ext cx="11183112" cy="0"/>
          </a:xfrm>
          <a:prstGeom prst="line">
            <a:avLst/>
          </a:prstGeom>
          <a:ln w="8890">
            <a:solidFill>
              <a:srgbClr val="DCE7ED"/>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574536"/>
            <a:ext cx="6858000" cy="164592"/>
          </a:xfrm>
          <a:prstGeom prst="rect">
            <a:avLst/>
          </a:prstGeom>
          <a:noFill/>
        </p:spPr>
        <p:txBody>
          <a:bodyPr wrap="square" lIns="18288" rIns="18288" tIns="18288" bIns="18288" anchor="t">
            <a:spAutoFit/>
          </a:bodyPr>
          <a:lstStyle/>
          <a:p>
            <a:pPr algn="l">
              <a:spcAft>
                <a:spcPts val="0"/>
              </a:spcAft>
            </a:pPr>
            <a:r>
              <a:rPr sz="800" b="1" i="0">
                <a:solidFill>
                  <a:srgbClr val="607889"/>
                </a:solidFill>
                <a:latin typeface="Aptos"/>
              </a:rPr>
              <a:t>HEALTHCARE CONNECT  /  UI PLAN  •  WORKING DRAFT</a:t>
            </a:r>
          </a:p>
        </p:txBody>
      </p:sp>
      <p:sp>
        <p:nvSpPr>
          <p:cNvPr id="16" name="TextBox 15"/>
          <p:cNvSpPr txBox="1"/>
          <p:nvPr/>
        </p:nvSpPr>
        <p:spPr>
          <a:xfrm>
            <a:off x="10972800" y="6565392"/>
            <a:ext cx="594360" cy="182880"/>
          </a:xfrm>
          <a:prstGeom prst="rect">
            <a:avLst/>
          </a:prstGeom>
          <a:noFill/>
        </p:spPr>
        <p:txBody>
          <a:bodyPr wrap="square" lIns="18288" rIns="18288" tIns="18288" bIns="18288" anchor="t">
            <a:spAutoFit/>
          </a:bodyPr>
          <a:lstStyle/>
          <a:p>
            <a:pPr algn="r">
              <a:spcAft>
                <a:spcPts val="0"/>
              </a:spcAft>
            </a:pPr>
            <a:r>
              <a:rPr sz="900" b="1" i="0">
                <a:solidFill>
                  <a:srgbClr val="607889"/>
                </a:solidFill>
                <a:latin typeface="Apto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594360" y="384048"/>
            <a:ext cx="4114800" cy="201168"/>
          </a:xfrm>
          <a:prstGeom prst="rect">
            <a:avLst/>
          </a:prstGeom>
          <a:noFill/>
        </p:spPr>
        <p:txBody>
          <a:bodyPr wrap="square" lIns="18288" rIns="18288" tIns="18288" bIns="18288" anchor="t">
            <a:spAutoFit/>
          </a:bodyPr>
          <a:lstStyle/>
          <a:p>
            <a:pPr algn="l">
              <a:spcAft>
                <a:spcPts val="0"/>
              </a:spcAft>
            </a:pPr>
            <a:r>
              <a:rPr sz="900" b="1" i="0">
                <a:solidFill>
                  <a:srgbClr val="26A99A"/>
                </a:solidFill>
                <a:latin typeface="Aptos"/>
              </a:rPr>
              <a:t>16 / SCOPE ALIGNMENT</a:t>
            </a:r>
          </a:p>
        </p:txBody>
      </p:sp>
      <p:sp>
        <p:nvSpPr>
          <p:cNvPr id="3" name="TextBox 2"/>
          <p:cNvSpPr txBox="1"/>
          <p:nvPr/>
        </p:nvSpPr>
        <p:spPr>
          <a:xfrm>
            <a:off x="594360" y="658368"/>
            <a:ext cx="10972800" cy="475488"/>
          </a:xfrm>
          <a:prstGeom prst="rect">
            <a:avLst/>
          </a:prstGeom>
          <a:noFill/>
        </p:spPr>
        <p:txBody>
          <a:bodyPr wrap="square" lIns="18288" rIns="18288" tIns="18288" bIns="18288" anchor="t">
            <a:spAutoFit/>
          </a:bodyPr>
          <a:lstStyle/>
          <a:p>
            <a:pPr algn="l">
              <a:spcAft>
                <a:spcPts val="0"/>
              </a:spcAft>
            </a:pPr>
            <a:r>
              <a:rPr sz="2700" b="1" i="0">
                <a:solidFill>
                  <a:srgbClr val="15364A"/>
                </a:solidFill>
                <a:latin typeface="Aptos"/>
              </a:rPr>
              <a:t>Proposed UI coverage and boundaries to confirm</a:t>
            </a:r>
          </a:p>
        </p:txBody>
      </p:sp>
      <p:sp>
        <p:nvSpPr>
          <p:cNvPr id="4" name="TextBox 3"/>
          <p:cNvSpPr txBox="1"/>
          <p:nvPr/>
        </p:nvSpPr>
        <p:spPr>
          <a:xfrm>
            <a:off x="612648" y="1207008"/>
            <a:ext cx="10789920" cy="365760"/>
          </a:xfrm>
          <a:prstGeom prst="rect">
            <a:avLst/>
          </a:prstGeom>
          <a:noFill/>
        </p:spPr>
        <p:txBody>
          <a:bodyPr wrap="square" lIns="18288" rIns="18288" tIns="18288" bIns="18288" anchor="t">
            <a:spAutoFit/>
          </a:bodyPr>
          <a:lstStyle/>
          <a:p>
            <a:pPr algn="l">
              <a:spcAft>
                <a:spcPts val="0"/>
              </a:spcAft>
            </a:pPr>
            <a:r>
              <a:rPr sz="1250" b="0" i="0">
                <a:solidFill>
                  <a:srgbClr val="607889"/>
                </a:solidFill>
                <a:latin typeface="Aptos"/>
              </a:rPr>
              <a:t>The proposal PDF was unavailable, so the items below are a working UI interpretation—not a contractual scope statement.</a:t>
            </a:r>
          </a:p>
        </p:txBody>
      </p:sp>
      <p:sp>
        <p:nvSpPr>
          <p:cNvPr id="5" name="Rounded Rectangle 4"/>
          <p:cNvSpPr/>
          <p:nvPr/>
        </p:nvSpPr>
        <p:spPr>
          <a:xfrm>
            <a:off x="685800" y="1847088"/>
            <a:ext cx="5285232" cy="352044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847088"/>
            <a:ext cx="64008" cy="3520440"/>
          </a:xfrm>
          <a:prstGeom prst="rect">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002536"/>
            <a:ext cx="4901184" cy="292608"/>
          </a:xfrm>
          <a:prstGeom prst="rect">
            <a:avLst/>
          </a:prstGeom>
          <a:noFill/>
        </p:spPr>
        <p:txBody>
          <a:bodyPr wrap="square" lIns="18288" rIns="18288" tIns="18288" bIns="18288" anchor="t">
            <a:spAutoFit/>
          </a:bodyPr>
          <a:lstStyle/>
          <a:p>
            <a:pPr algn="l">
              <a:spcAft>
                <a:spcPts val="0"/>
              </a:spcAft>
            </a:pPr>
            <a:r>
              <a:rPr sz="1500" b="1" i="0">
                <a:solidFill>
                  <a:srgbClr val="15364A"/>
                </a:solidFill>
                <a:latin typeface="Aptos"/>
              </a:rPr>
              <a:t>Proposed frontend UI coverage</a:t>
            </a:r>
          </a:p>
        </p:txBody>
      </p:sp>
      <p:sp>
        <p:nvSpPr>
          <p:cNvPr id="8" name="TextBox 7"/>
          <p:cNvSpPr txBox="1"/>
          <p:nvPr/>
        </p:nvSpPr>
        <p:spPr>
          <a:xfrm>
            <a:off x="886968" y="2377440"/>
            <a:ext cx="4901184" cy="2862072"/>
          </a:xfrm>
          <a:prstGeom prst="rect">
            <a:avLst/>
          </a:prstGeom>
          <a:noFill/>
        </p:spPr>
        <p:txBody>
          <a:bodyPr wrap="square" lIns="18288" rIns="18288" tIns="18288" bIns="18288" anchor="t">
            <a:spAutoFit/>
          </a:bodyPr>
          <a:lstStyle/>
          <a:p>
            <a:pPr algn="l">
              <a:spcAft>
                <a:spcPts val="0"/>
              </a:spcAft>
            </a:pPr>
            <a:r>
              <a:rPr sz="1160" b="0" i="0">
                <a:solidFill>
                  <a:srgbClr val="607889"/>
                </a:solidFill>
                <a:latin typeface="Aptos"/>
              </a:rPr>
              <a:t>Public discovery and doctor profiles
Patient account and guided booking
Phone, Clinic Visit and Home Visit selection
Payment hand-off and appointment result
Doctor onboarding and verification status
Doctor workspace, availability and profile
Responsive layouts and interaction states</a:t>
            </a:r>
          </a:p>
        </p:txBody>
      </p:sp>
      <p:sp>
        <p:nvSpPr>
          <p:cNvPr id="9" name="Rounded Rectangle 8"/>
          <p:cNvSpPr/>
          <p:nvPr/>
        </p:nvSpPr>
        <p:spPr>
          <a:xfrm>
            <a:off x="6217920" y="1847088"/>
            <a:ext cx="5285232" cy="3520440"/>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847088"/>
            <a:ext cx="64008" cy="3520440"/>
          </a:xfrm>
          <a:prstGeom prst="rect">
            <a:avLst/>
          </a:prstGeom>
          <a:solidFill>
            <a:srgbClr val="D97768"/>
          </a:solidFill>
          <a:ln>
            <a:solidFill>
              <a:srgbClr val="D977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9088" y="2002536"/>
            <a:ext cx="4901184" cy="292608"/>
          </a:xfrm>
          <a:prstGeom prst="rect">
            <a:avLst/>
          </a:prstGeom>
          <a:noFill/>
        </p:spPr>
        <p:txBody>
          <a:bodyPr wrap="square" lIns="18288" rIns="18288" tIns="18288" bIns="18288" anchor="t">
            <a:spAutoFit/>
          </a:bodyPr>
          <a:lstStyle/>
          <a:p>
            <a:pPr algn="l">
              <a:spcAft>
                <a:spcPts val="0"/>
              </a:spcAft>
            </a:pPr>
            <a:r>
              <a:rPr sz="1500" b="1" i="0">
                <a:solidFill>
                  <a:srgbClr val="15364A"/>
                </a:solidFill>
                <a:latin typeface="Aptos"/>
              </a:rPr>
              <a:t>Not represented in the current prototype</a:t>
            </a:r>
          </a:p>
        </p:txBody>
      </p:sp>
      <p:sp>
        <p:nvSpPr>
          <p:cNvPr id="12" name="TextBox 11"/>
          <p:cNvSpPr txBox="1"/>
          <p:nvPr/>
        </p:nvSpPr>
        <p:spPr>
          <a:xfrm>
            <a:off x="6419088" y="2377440"/>
            <a:ext cx="4901184" cy="2862072"/>
          </a:xfrm>
          <a:prstGeom prst="rect">
            <a:avLst/>
          </a:prstGeom>
          <a:noFill/>
        </p:spPr>
        <p:txBody>
          <a:bodyPr wrap="square" lIns="18288" rIns="18288" tIns="18288" bIns="18288" anchor="t">
            <a:spAutoFit/>
          </a:bodyPr>
          <a:lstStyle/>
          <a:p>
            <a:pPr algn="l">
              <a:spcAft>
                <a:spcPts val="0"/>
              </a:spcAft>
            </a:pPr>
            <a:r>
              <a:rPr sz="1160" b="0" i="0">
                <a:solidFill>
                  <a:srgbClr val="607889"/>
                </a:solidFill>
                <a:latin typeface="Aptos"/>
              </a:rPr>
              <a:t>Production authentication / OTP delivery
Live doctor catalogue, scheduling or APIs
Razorpay server integration and reconciliation
Medical-registration verification service
Secure file storage and document review tools
Email/SMS, cancellation, refunds or rescheduling
Admin operations and reporting workflows</a:t>
            </a:r>
          </a:p>
        </p:txBody>
      </p:sp>
      <p:sp>
        <p:nvSpPr>
          <p:cNvPr id="13" name="Rounded Rectangle 12"/>
          <p:cNvSpPr/>
          <p:nvPr/>
        </p:nvSpPr>
        <p:spPr>
          <a:xfrm>
            <a:off x="777240" y="5513832"/>
            <a:ext cx="10561320" cy="530352"/>
          </a:xfrm>
          <a:prstGeom prst="roundRect">
            <a:avLst>
              <a:gd name="adj" fmla="val 8000"/>
            </a:avLst>
          </a:prstGeom>
          <a:solidFill>
            <a:srgbClr val="FFF7E9"/>
          </a:solidFill>
          <a:ln>
            <a:solidFill>
              <a:srgbClr val="F0DD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5660136"/>
            <a:ext cx="10058400" cy="210312"/>
          </a:xfrm>
          <a:prstGeom prst="rect">
            <a:avLst/>
          </a:prstGeom>
          <a:noFill/>
        </p:spPr>
        <p:txBody>
          <a:bodyPr wrap="square" lIns="18288" rIns="18288" tIns="18288" bIns="18288" anchor="t">
            <a:spAutoFit/>
          </a:bodyPr>
          <a:lstStyle/>
          <a:p>
            <a:pPr algn="l">
              <a:spcAft>
                <a:spcPts val="0"/>
              </a:spcAft>
            </a:pPr>
            <a:r>
              <a:rPr sz="1000" b="1" i="0">
                <a:solidFill>
                  <a:srgbClr val="203B4B"/>
                </a:solidFill>
                <a:latin typeface="Aptos"/>
              </a:rPr>
              <a:t>These are unconfirmed integrations / capabilities, not declared exclusions. Reconcile every item against the proposal before estimating or approving scope.</a:t>
            </a:r>
          </a:p>
        </p:txBody>
      </p:sp>
      <p:cxnSp>
        <p:nvCxnSpPr>
          <p:cNvPr id="15" name="Connector 14"/>
          <p:cNvCxnSpPr/>
          <p:nvPr/>
        </p:nvCxnSpPr>
        <p:spPr>
          <a:xfrm>
            <a:off x="502920" y="6510528"/>
            <a:ext cx="11183112" cy="0"/>
          </a:xfrm>
          <a:prstGeom prst="line">
            <a:avLst/>
          </a:prstGeom>
          <a:ln w="8890">
            <a:solidFill>
              <a:srgbClr val="DCE7E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6574536"/>
            <a:ext cx="6858000" cy="164592"/>
          </a:xfrm>
          <a:prstGeom prst="rect">
            <a:avLst/>
          </a:prstGeom>
          <a:noFill/>
        </p:spPr>
        <p:txBody>
          <a:bodyPr wrap="square" lIns="18288" rIns="18288" tIns="18288" bIns="18288" anchor="t">
            <a:spAutoFit/>
          </a:bodyPr>
          <a:lstStyle/>
          <a:p>
            <a:pPr algn="l">
              <a:spcAft>
                <a:spcPts val="0"/>
              </a:spcAft>
            </a:pPr>
            <a:r>
              <a:rPr sz="800" b="1" i="0">
                <a:solidFill>
                  <a:srgbClr val="607889"/>
                </a:solidFill>
                <a:latin typeface="Aptos"/>
              </a:rPr>
              <a:t>HEALTHCARE CONNECT  /  UI PLAN  •  WORKING DRAFT</a:t>
            </a:r>
          </a:p>
        </p:txBody>
      </p:sp>
      <p:sp>
        <p:nvSpPr>
          <p:cNvPr id="17" name="TextBox 16"/>
          <p:cNvSpPr txBox="1"/>
          <p:nvPr/>
        </p:nvSpPr>
        <p:spPr>
          <a:xfrm>
            <a:off x="10972800" y="6565392"/>
            <a:ext cx="594360" cy="182880"/>
          </a:xfrm>
          <a:prstGeom prst="rect">
            <a:avLst/>
          </a:prstGeom>
          <a:noFill/>
        </p:spPr>
        <p:txBody>
          <a:bodyPr wrap="square" lIns="18288" rIns="18288" tIns="18288" bIns="18288" anchor="t">
            <a:spAutoFit/>
          </a:bodyPr>
          <a:lstStyle/>
          <a:p>
            <a:pPr algn="r">
              <a:spcAft>
                <a:spcPts val="0"/>
              </a:spcAft>
            </a:pPr>
            <a:r>
              <a:rPr sz="900" b="1" i="0">
                <a:solidFill>
                  <a:srgbClr val="607889"/>
                </a:solidFill>
                <a:latin typeface="Apto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594360" y="384048"/>
            <a:ext cx="4114800" cy="201168"/>
          </a:xfrm>
          <a:prstGeom prst="rect">
            <a:avLst/>
          </a:prstGeom>
          <a:noFill/>
        </p:spPr>
        <p:txBody>
          <a:bodyPr wrap="square" lIns="18288" rIns="18288" tIns="18288" bIns="18288" anchor="t">
            <a:spAutoFit/>
          </a:bodyPr>
          <a:lstStyle/>
          <a:p>
            <a:pPr algn="l">
              <a:spcAft>
                <a:spcPts val="0"/>
              </a:spcAft>
            </a:pPr>
            <a:r>
              <a:rPr sz="900" b="1" i="0">
                <a:solidFill>
                  <a:srgbClr val="26A99A"/>
                </a:solidFill>
                <a:latin typeface="Aptos"/>
              </a:rPr>
              <a:t>17 / CLIENT DECISIONS</a:t>
            </a:r>
          </a:p>
        </p:txBody>
      </p:sp>
      <p:sp>
        <p:nvSpPr>
          <p:cNvPr id="3" name="TextBox 2"/>
          <p:cNvSpPr txBox="1"/>
          <p:nvPr/>
        </p:nvSpPr>
        <p:spPr>
          <a:xfrm>
            <a:off x="594360" y="658368"/>
            <a:ext cx="10972800" cy="475488"/>
          </a:xfrm>
          <a:prstGeom prst="rect">
            <a:avLst/>
          </a:prstGeom>
          <a:noFill/>
        </p:spPr>
        <p:txBody>
          <a:bodyPr wrap="square" lIns="18288" rIns="18288" tIns="18288" bIns="18288" anchor="t">
            <a:spAutoFit/>
          </a:bodyPr>
          <a:lstStyle/>
          <a:p>
            <a:pPr algn="l">
              <a:spcAft>
                <a:spcPts val="0"/>
              </a:spcAft>
            </a:pPr>
            <a:r>
              <a:rPr sz="2700" b="1" i="0">
                <a:solidFill>
                  <a:srgbClr val="15364A"/>
                </a:solidFill>
                <a:latin typeface="Aptos"/>
              </a:rPr>
              <a:t>Inputs needed to finalize the UI plan</a:t>
            </a:r>
          </a:p>
        </p:txBody>
      </p:sp>
      <p:sp>
        <p:nvSpPr>
          <p:cNvPr id="4" name="TextBox 3"/>
          <p:cNvSpPr txBox="1"/>
          <p:nvPr/>
        </p:nvSpPr>
        <p:spPr>
          <a:xfrm>
            <a:off x="612648" y="1207008"/>
            <a:ext cx="10789920" cy="365760"/>
          </a:xfrm>
          <a:prstGeom prst="rect">
            <a:avLst/>
          </a:prstGeom>
          <a:noFill/>
        </p:spPr>
        <p:txBody>
          <a:bodyPr wrap="square" lIns="18288" rIns="18288" tIns="18288" bIns="18288" anchor="t">
            <a:spAutoFit/>
          </a:bodyPr>
          <a:lstStyle/>
          <a:p>
            <a:pPr algn="l">
              <a:spcAft>
                <a:spcPts val="0"/>
              </a:spcAft>
            </a:pPr>
            <a:r>
              <a:rPr sz="1250" b="0" i="0">
                <a:solidFill>
                  <a:srgbClr val="607889"/>
                </a:solidFill>
                <a:latin typeface="Aptos"/>
              </a:rPr>
              <a:t>Resolving these items before detailed frontend build avoids assumptions in money, eligibility and care operations.</a:t>
            </a:r>
          </a:p>
        </p:txBody>
      </p:sp>
      <p:sp>
        <p:nvSpPr>
          <p:cNvPr id="5" name="Rounded Rectangle 4"/>
          <p:cNvSpPr/>
          <p:nvPr/>
        </p:nvSpPr>
        <p:spPr>
          <a:xfrm>
            <a:off x="685800" y="1737360"/>
            <a:ext cx="5212080" cy="987552"/>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737360"/>
            <a:ext cx="64008" cy="987552"/>
          </a:xfrm>
          <a:prstGeom prst="rect">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892807"/>
            <a:ext cx="4828032" cy="292608"/>
          </a:xfrm>
          <a:prstGeom prst="rect">
            <a:avLst/>
          </a:prstGeom>
          <a:noFill/>
        </p:spPr>
        <p:txBody>
          <a:bodyPr wrap="square" lIns="18288" rIns="18288" tIns="18288" bIns="18288" anchor="t">
            <a:spAutoFit/>
          </a:bodyPr>
          <a:lstStyle/>
          <a:p>
            <a:pPr algn="l">
              <a:spcAft>
                <a:spcPts val="0"/>
              </a:spcAft>
            </a:pPr>
            <a:r>
              <a:rPr sz="1300" b="1" i="0">
                <a:solidFill>
                  <a:srgbClr val="15364A"/>
                </a:solidFill>
                <a:latin typeface="Aptos"/>
              </a:rPr>
              <a:t>Brand &amp; reference</a:t>
            </a:r>
          </a:p>
        </p:txBody>
      </p:sp>
      <p:sp>
        <p:nvSpPr>
          <p:cNvPr id="8" name="TextBox 7"/>
          <p:cNvSpPr txBox="1"/>
          <p:nvPr/>
        </p:nvSpPr>
        <p:spPr>
          <a:xfrm>
            <a:off x="886968" y="2267712"/>
            <a:ext cx="4828032" cy="329184"/>
          </a:xfrm>
          <a:prstGeom prst="rect">
            <a:avLst/>
          </a:prstGeom>
          <a:noFill/>
        </p:spPr>
        <p:txBody>
          <a:bodyPr wrap="square" lIns="18288" rIns="18288" tIns="18288" bIns="18288" anchor="t">
            <a:spAutoFit/>
          </a:bodyPr>
          <a:lstStyle/>
          <a:p>
            <a:pPr algn="l">
              <a:spcAft>
                <a:spcPts val="0"/>
              </a:spcAft>
            </a:pPr>
            <a:r>
              <a:rPr sz="980" b="0" i="0">
                <a:solidFill>
                  <a:srgbClr val="607889"/>
                </a:solidFill>
                <a:latin typeface="Aptos"/>
              </a:rPr>
              <a:t>Provide the proposal PDF and 20-screen image; confirm logo, colours, typography and any screen ordering.</a:t>
            </a:r>
          </a:p>
        </p:txBody>
      </p:sp>
      <p:sp>
        <p:nvSpPr>
          <p:cNvPr id="9" name="Rounded Rectangle 8"/>
          <p:cNvSpPr/>
          <p:nvPr/>
        </p:nvSpPr>
        <p:spPr>
          <a:xfrm>
            <a:off x="6245352" y="1737360"/>
            <a:ext cx="5212080" cy="987552"/>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45352" y="1737360"/>
            <a:ext cx="64008" cy="987552"/>
          </a:xfrm>
          <a:prstGeom prst="rect">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892807"/>
            <a:ext cx="4828032" cy="292608"/>
          </a:xfrm>
          <a:prstGeom prst="rect">
            <a:avLst/>
          </a:prstGeom>
          <a:noFill/>
        </p:spPr>
        <p:txBody>
          <a:bodyPr wrap="square" lIns="18288" rIns="18288" tIns="18288" bIns="18288" anchor="t">
            <a:spAutoFit/>
          </a:bodyPr>
          <a:lstStyle/>
          <a:p>
            <a:pPr algn="l">
              <a:spcAft>
                <a:spcPts val="0"/>
              </a:spcAft>
            </a:pPr>
            <a:r>
              <a:rPr sz="1300" b="1" i="0">
                <a:solidFill>
                  <a:srgbClr val="15364A"/>
                </a:solidFill>
                <a:latin typeface="Aptos"/>
              </a:rPr>
              <a:t>Patient rules</a:t>
            </a:r>
          </a:p>
        </p:txBody>
      </p:sp>
      <p:sp>
        <p:nvSpPr>
          <p:cNvPr id="12" name="TextBox 11"/>
          <p:cNvSpPr txBox="1"/>
          <p:nvPr/>
        </p:nvSpPr>
        <p:spPr>
          <a:xfrm>
            <a:off x="6446520" y="2267712"/>
            <a:ext cx="4828032" cy="329184"/>
          </a:xfrm>
          <a:prstGeom prst="rect">
            <a:avLst/>
          </a:prstGeom>
          <a:noFill/>
        </p:spPr>
        <p:txBody>
          <a:bodyPr wrap="square" lIns="18288" rIns="18288" tIns="18288" bIns="18288" anchor="t">
            <a:spAutoFit/>
          </a:bodyPr>
          <a:lstStyle/>
          <a:p>
            <a:pPr algn="l">
              <a:spcAft>
                <a:spcPts val="0"/>
              </a:spcAft>
            </a:pPr>
            <a:r>
              <a:rPr sz="980" b="0" i="0">
                <a:solidFill>
                  <a:srgbClr val="607889"/>
                </a:solidFill>
                <a:latin typeface="Aptos"/>
              </a:rPr>
              <a:t>Confirm supported cities, search filters, visit eligibility, slot rules and home-visit coverage.</a:t>
            </a:r>
          </a:p>
        </p:txBody>
      </p:sp>
      <p:sp>
        <p:nvSpPr>
          <p:cNvPr id="13" name="Rounded Rectangle 12"/>
          <p:cNvSpPr/>
          <p:nvPr/>
        </p:nvSpPr>
        <p:spPr>
          <a:xfrm>
            <a:off x="685800" y="2971800"/>
            <a:ext cx="5212080" cy="987552"/>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2971800"/>
            <a:ext cx="64008" cy="987552"/>
          </a:xfrm>
          <a:prstGeom prst="rect">
            <a:avLst/>
          </a:prstGeom>
          <a:solidFill>
            <a:srgbClr val="E6A94E"/>
          </a:solidFill>
          <a:ln>
            <a:solidFill>
              <a:srgbClr val="E6A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3127248"/>
            <a:ext cx="4828032" cy="292608"/>
          </a:xfrm>
          <a:prstGeom prst="rect">
            <a:avLst/>
          </a:prstGeom>
          <a:noFill/>
        </p:spPr>
        <p:txBody>
          <a:bodyPr wrap="square" lIns="18288" rIns="18288" tIns="18288" bIns="18288" anchor="t">
            <a:spAutoFit/>
          </a:bodyPr>
          <a:lstStyle/>
          <a:p>
            <a:pPr algn="l">
              <a:spcAft>
                <a:spcPts val="0"/>
              </a:spcAft>
            </a:pPr>
            <a:r>
              <a:rPr sz="1300" b="1" i="0">
                <a:solidFill>
                  <a:srgbClr val="15364A"/>
                </a:solidFill>
                <a:latin typeface="Aptos"/>
              </a:rPr>
              <a:t>Payments</a:t>
            </a:r>
          </a:p>
        </p:txBody>
      </p:sp>
      <p:sp>
        <p:nvSpPr>
          <p:cNvPr id="16" name="TextBox 15"/>
          <p:cNvSpPr txBox="1"/>
          <p:nvPr/>
        </p:nvSpPr>
        <p:spPr>
          <a:xfrm>
            <a:off x="886968" y="3502152"/>
            <a:ext cx="4828032" cy="329184"/>
          </a:xfrm>
          <a:prstGeom prst="rect">
            <a:avLst/>
          </a:prstGeom>
          <a:noFill/>
        </p:spPr>
        <p:txBody>
          <a:bodyPr wrap="square" lIns="18288" rIns="18288" tIns="18288" bIns="18288" anchor="t">
            <a:spAutoFit/>
          </a:bodyPr>
          <a:lstStyle/>
          <a:p>
            <a:pPr algn="l">
              <a:spcAft>
                <a:spcPts val="0"/>
              </a:spcAft>
            </a:pPr>
            <a:r>
              <a:rPr sz="980" b="0" i="0">
                <a:solidFill>
                  <a:srgbClr val="607889"/>
                </a:solidFill>
                <a:latin typeface="Aptos"/>
              </a:rPr>
              <a:t>Confirm patient fee composition, Razorpay flow, payment timing, refunds/cancellations and joining-fee policy.</a:t>
            </a:r>
          </a:p>
        </p:txBody>
      </p:sp>
      <p:sp>
        <p:nvSpPr>
          <p:cNvPr id="17" name="Rounded Rectangle 16"/>
          <p:cNvSpPr/>
          <p:nvPr/>
        </p:nvSpPr>
        <p:spPr>
          <a:xfrm>
            <a:off x="6245352" y="2971800"/>
            <a:ext cx="5212080" cy="987552"/>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45352" y="2971800"/>
            <a:ext cx="64008" cy="987552"/>
          </a:xfrm>
          <a:prstGeom prst="rect">
            <a:avLst/>
          </a:prstGeom>
          <a:solidFill>
            <a:srgbClr val="D97768"/>
          </a:solidFill>
          <a:ln>
            <a:solidFill>
              <a:srgbClr val="D977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127248"/>
            <a:ext cx="4828032" cy="292608"/>
          </a:xfrm>
          <a:prstGeom prst="rect">
            <a:avLst/>
          </a:prstGeom>
          <a:noFill/>
        </p:spPr>
        <p:txBody>
          <a:bodyPr wrap="square" lIns="18288" rIns="18288" tIns="18288" bIns="18288" anchor="t">
            <a:spAutoFit/>
          </a:bodyPr>
          <a:lstStyle/>
          <a:p>
            <a:pPr algn="l">
              <a:spcAft>
                <a:spcPts val="0"/>
              </a:spcAft>
            </a:pPr>
            <a:r>
              <a:rPr sz="1300" b="1" i="0">
                <a:solidFill>
                  <a:srgbClr val="15364A"/>
                </a:solidFill>
                <a:latin typeface="Aptos"/>
              </a:rPr>
              <a:t>Doctor review</a:t>
            </a:r>
          </a:p>
        </p:txBody>
      </p:sp>
      <p:sp>
        <p:nvSpPr>
          <p:cNvPr id="20" name="TextBox 19"/>
          <p:cNvSpPr txBox="1"/>
          <p:nvPr/>
        </p:nvSpPr>
        <p:spPr>
          <a:xfrm>
            <a:off x="6446520" y="3502152"/>
            <a:ext cx="4828032" cy="329184"/>
          </a:xfrm>
          <a:prstGeom prst="rect">
            <a:avLst/>
          </a:prstGeom>
          <a:noFill/>
        </p:spPr>
        <p:txBody>
          <a:bodyPr wrap="square" lIns="18288" rIns="18288" tIns="18288" bIns="18288" anchor="t">
            <a:spAutoFit/>
          </a:bodyPr>
          <a:lstStyle/>
          <a:p>
            <a:pPr algn="l">
              <a:spcAft>
                <a:spcPts val="0"/>
              </a:spcAft>
            </a:pPr>
            <a:r>
              <a:rPr sz="980" b="0" i="0">
                <a:solidFill>
                  <a:srgbClr val="607889"/>
                </a:solidFill>
                <a:latin typeface="Aptos"/>
              </a:rPr>
              <a:t>Confirm required credentials/documents, review owner, statuses, SLA and correction/resubmission process.</a:t>
            </a:r>
          </a:p>
        </p:txBody>
      </p:sp>
      <p:sp>
        <p:nvSpPr>
          <p:cNvPr id="21" name="Rounded Rectangle 20"/>
          <p:cNvSpPr/>
          <p:nvPr/>
        </p:nvSpPr>
        <p:spPr>
          <a:xfrm>
            <a:off x="685800" y="4206240"/>
            <a:ext cx="5212080" cy="987552"/>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4206240"/>
            <a:ext cx="64008" cy="987552"/>
          </a:xfrm>
          <a:prstGeom prst="rect">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6968" y="4361688"/>
            <a:ext cx="4828032" cy="292608"/>
          </a:xfrm>
          <a:prstGeom prst="rect">
            <a:avLst/>
          </a:prstGeom>
          <a:noFill/>
        </p:spPr>
        <p:txBody>
          <a:bodyPr wrap="square" lIns="18288" rIns="18288" tIns="18288" bIns="18288" anchor="t">
            <a:spAutoFit/>
          </a:bodyPr>
          <a:lstStyle/>
          <a:p>
            <a:pPr algn="l">
              <a:spcAft>
                <a:spcPts val="0"/>
              </a:spcAft>
            </a:pPr>
            <a:r>
              <a:rPr sz="1300" b="1" i="0">
                <a:solidFill>
                  <a:srgbClr val="15364A"/>
                </a:solidFill>
                <a:latin typeface="Aptos"/>
              </a:rPr>
              <a:t>Operations</a:t>
            </a:r>
          </a:p>
        </p:txBody>
      </p:sp>
      <p:sp>
        <p:nvSpPr>
          <p:cNvPr id="24" name="TextBox 23"/>
          <p:cNvSpPr txBox="1"/>
          <p:nvPr/>
        </p:nvSpPr>
        <p:spPr>
          <a:xfrm>
            <a:off x="886968" y="4736592"/>
            <a:ext cx="4828032" cy="329184"/>
          </a:xfrm>
          <a:prstGeom prst="rect">
            <a:avLst/>
          </a:prstGeom>
          <a:noFill/>
        </p:spPr>
        <p:txBody>
          <a:bodyPr wrap="square" lIns="18288" rIns="18288" tIns="18288" bIns="18288" anchor="t">
            <a:spAutoFit/>
          </a:bodyPr>
          <a:lstStyle/>
          <a:p>
            <a:pPr algn="l">
              <a:spcAft>
                <a:spcPts val="0"/>
              </a:spcAft>
            </a:pPr>
            <a:r>
              <a:rPr sz="980" b="0" i="0">
                <a:solidFill>
                  <a:srgbClr val="607889"/>
                </a:solidFill>
                <a:latin typeface="Aptos"/>
              </a:rPr>
              <a:t>Confirm notifications, support contact, appointment changes and any admin tools in scope.</a:t>
            </a:r>
          </a:p>
        </p:txBody>
      </p:sp>
      <p:sp>
        <p:nvSpPr>
          <p:cNvPr id="25" name="Rounded Rectangle 24"/>
          <p:cNvSpPr/>
          <p:nvPr/>
        </p:nvSpPr>
        <p:spPr>
          <a:xfrm>
            <a:off x="6245352" y="4206240"/>
            <a:ext cx="5212080" cy="987552"/>
          </a:xfrm>
          <a:prstGeom prst="roundRect">
            <a:avLst>
              <a:gd name="adj" fmla="val 8000"/>
            </a:avLst>
          </a:prstGeom>
          <a:solidFill>
            <a:srgbClr val="FFFFFF"/>
          </a:solidFill>
          <a:ln>
            <a:solidFill>
              <a:srgbClr val="DCE7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5352" y="4206240"/>
            <a:ext cx="64008" cy="987552"/>
          </a:xfrm>
          <a:prstGeom prst="rect">
            <a:avLst/>
          </a:prstGeom>
          <a:solidFill>
            <a:srgbClr val="147BE5"/>
          </a:solidFill>
          <a:ln>
            <a:solidFill>
              <a:srgbClr val="147B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4361688"/>
            <a:ext cx="4828032" cy="292608"/>
          </a:xfrm>
          <a:prstGeom prst="rect">
            <a:avLst/>
          </a:prstGeom>
          <a:noFill/>
        </p:spPr>
        <p:txBody>
          <a:bodyPr wrap="square" lIns="18288" rIns="18288" tIns="18288" bIns="18288" anchor="t">
            <a:spAutoFit/>
          </a:bodyPr>
          <a:lstStyle/>
          <a:p>
            <a:pPr algn="l">
              <a:spcAft>
                <a:spcPts val="0"/>
              </a:spcAft>
            </a:pPr>
            <a:r>
              <a:rPr sz="1300" b="1" i="0">
                <a:solidFill>
                  <a:srgbClr val="15364A"/>
                </a:solidFill>
                <a:latin typeface="Aptos"/>
              </a:rPr>
              <a:t>Legal &amp; accessibility</a:t>
            </a:r>
          </a:p>
        </p:txBody>
      </p:sp>
      <p:sp>
        <p:nvSpPr>
          <p:cNvPr id="28" name="TextBox 27"/>
          <p:cNvSpPr txBox="1"/>
          <p:nvPr/>
        </p:nvSpPr>
        <p:spPr>
          <a:xfrm>
            <a:off x="6446520" y="4736592"/>
            <a:ext cx="4828032" cy="329184"/>
          </a:xfrm>
          <a:prstGeom prst="rect">
            <a:avLst/>
          </a:prstGeom>
          <a:noFill/>
        </p:spPr>
        <p:txBody>
          <a:bodyPr wrap="square" lIns="18288" rIns="18288" tIns="18288" bIns="18288" anchor="t">
            <a:spAutoFit/>
          </a:bodyPr>
          <a:lstStyle/>
          <a:p>
            <a:pPr algn="l">
              <a:spcAft>
                <a:spcPts val="0"/>
              </a:spcAft>
            </a:pPr>
            <a:r>
              <a:rPr sz="980" b="0" i="0">
                <a:solidFill>
                  <a:srgbClr val="607889"/>
                </a:solidFill>
                <a:latin typeface="Aptos"/>
              </a:rPr>
              <a:t>Approve policy copy, consent, privacy wording, languages and accessibility requirements.</a:t>
            </a:r>
          </a:p>
        </p:txBody>
      </p:sp>
      <p:cxnSp>
        <p:nvCxnSpPr>
          <p:cNvPr id="29" name="Connector 28"/>
          <p:cNvCxnSpPr/>
          <p:nvPr/>
        </p:nvCxnSpPr>
        <p:spPr>
          <a:xfrm>
            <a:off x="502920" y="6510528"/>
            <a:ext cx="11183112" cy="0"/>
          </a:xfrm>
          <a:prstGeom prst="line">
            <a:avLst/>
          </a:prstGeom>
          <a:ln w="8890">
            <a:solidFill>
              <a:srgbClr val="DCE7ED"/>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6574536"/>
            <a:ext cx="6858000" cy="164592"/>
          </a:xfrm>
          <a:prstGeom prst="rect">
            <a:avLst/>
          </a:prstGeom>
          <a:noFill/>
        </p:spPr>
        <p:txBody>
          <a:bodyPr wrap="square" lIns="18288" rIns="18288" tIns="18288" bIns="18288" anchor="t">
            <a:spAutoFit/>
          </a:bodyPr>
          <a:lstStyle/>
          <a:p>
            <a:pPr algn="l">
              <a:spcAft>
                <a:spcPts val="0"/>
              </a:spcAft>
            </a:pPr>
            <a:r>
              <a:rPr sz="800" b="1" i="0">
                <a:solidFill>
                  <a:srgbClr val="607889"/>
                </a:solidFill>
                <a:latin typeface="Aptos"/>
              </a:rPr>
              <a:t>HEALTHCARE CONNECT  /  UI PLAN  •  WORKING DRAFT</a:t>
            </a:r>
          </a:p>
        </p:txBody>
      </p:sp>
      <p:sp>
        <p:nvSpPr>
          <p:cNvPr id="31" name="TextBox 30"/>
          <p:cNvSpPr txBox="1"/>
          <p:nvPr/>
        </p:nvSpPr>
        <p:spPr>
          <a:xfrm>
            <a:off x="10972800" y="6565392"/>
            <a:ext cx="594360" cy="182880"/>
          </a:xfrm>
          <a:prstGeom prst="rect">
            <a:avLst/>
          </a:prstGeom>
          <a:noFill/>
        </p:spPr>
        <p:txBody>
          <a:bodyPr wrap="square" lIns="18288" rIns="18288" tIns="18288" bIns="18288" anchor="t">
            <a:spAutoFit/>
          </a:bodyPr>
          <a:lstStyle/>
          <a:p>
            <a:pPr algn="r">
              <a:spcAft>
                <a:spcPts val="0"/>
              </a:spcAft>
            </a:pPr>
            <a:r>
              <a:rPr sz="900" b="1" i="0">
                <a:solidFill>
                  <a:srgbClr val="607889"/>
                </a:solidFill>
                <a:latin typeface="Apto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5364A"/>
        </a:solidFill>
        <a:effectLst/>
      </p:bgPr>
    </p:bg>
    <p:spTree>
      <p:nvGrpSpPr>
        <p:cNvPr id="1" name=""/>
        <p:cNvGrpSpPr/>
        <p:nvPr/>
      </p:nvGrpSpPr>
      <p:grpSpPr/>
      <p:sp>
        <p:nvSpPr>
          <p:cNvPr id="2" name="TextBox 1"/>
          <p:cNvSpPr txBox="1"/>
          <p:nvPr/>
        </p:nvSpPr>
        <p:spPr>
          <a:xfrm>
            <a:off x="713232" y="502920"/>
            <a:ext cx="4114800" cy="201168"/>
          </a:xfrm>
          <a:prstGeom prst="rect">
            <a:avLst/>
          </a:prstGeom>
          <a:noFill/>
        </p:spPr>
        <p:txBody>
          <a:bodyPr wrap="square" lIns="18288" rIns="18288" tIns="18288" bIns="18288" anchor="t">
            <a:spAutoFit/>
          </a:bodyPr>
          <a:lstStyle/>
          <a:p>
            <a:pPr algn="l">
              <a:spcAft>
                <a:spcPts val="0"/>
              </a:spcAft>
            </a:pPr>
            <a:r>
              <a:rPr sz="900" b="1" i="0">
                <a:solidFill>
                  <a:srgbClr val="8AD7CC"/>
                </a:solidFill>
                <a:latin typeface="Aptos"/>
              </a:rPr>
              <a:t>18 / DECISION &amp; NEXT STEP</a:t>
            </a:r>
          </a:p>
        </p:txBody>
      </p:sp>
      <p:sp>
        <p:nvSpPr>
          <p:cNvPr id="3" name="TextBox 2"/>
          <p:cNvSpPr txBox="1"/>
          <p:nvPr/>
        </p:nvSpPr>
        <p:spPr>
          <a:xfrm>
            <a:off x="713232" y="841248"/>
            <a:ext cx="10789920" cy="566928"/>
          </a:xfrm>
          <a:prstGeom prst="rect">
            <a:avLst/>
          </a:prstGeom>
          <a:noFill/>
        </p:spPr>
        <p:txBody>
          <a:bodyPr wrap="square" lIns="18288" rIns="18288" tIns="18288" bIns="18288" anchor="t">
            <a:spAutoFit/>
          </a:bodyPr>
          <a:lstStyle/>
          <a:p>
            <a:pPr algn="l">
              <a:spcAft>
                <a:spcPts val="0"/>
              </a:spcAft>
            </a:pPr>
            <a:r>
              <a:rPr sz="2900" b="1" i="0">
                <a:solidFill>
                  <a:srgbClr val="FFFFFF"/>
                </a:solidFill>
                <a:latin typeface="Aptos"/>
              </a:rPr>
              <a:t>Client Review &amp; UI Sign-Off</a:t>
            </a:r>
          </a:p>
        </p:txBody>
      </p:sp>
      <p:sp>
        <p:nvSpPr>
          <p:cNvPr id="4" name="TextBox 3"/>
          <p:cNvSpPr txBox="1"/>
          <p:nvPr/>
        </p:nvSpPr>
        <p:spPr>
          <a:xfrm>
            <a:off x="749808" y="1572768"/>
            <a:ext cx="10424160" cy="329184"/>
          </a:xfrm>
          <a:prstGeom prst="rect">
            <a:avLst/>
          </a:prstGeom>
          <a:noFill/>
        </p:spPr>
        <p:txBody>
          <a:bodyPr wrap="square" lIns="18288" rIns="18288" tIns="18288" bIns="18288" anchor="t">
            <a:spAutoFit/>
          </a:bodyPr>
          <a:lstStyle/>
          <a:p>
            <a:pPr algn="l">
              <a:spcAft>
                <a:spcPts val="0"/>
              </a:spcAft>
            </a:pPr>
            <a:r>
              <a:rPr sz="1300" b="0" i="0">
                <a:solidFill>
                  <a:srgbClr val="D8E8EF"/>
                </a:solidFill>
                <a:latin typeface="Aptos"/>
              </a:rPr>
              <a:t>Please confirm the following before frontend development continues:</a:t>
            </a:r>
          </a:p>
        </p:txBody>
      </p:sp>
      <p:sp>
        <p:nvSpPr>
          <p:cNvPr id="5" name="Oval 4"/>
          <p:cNvSpPr/>
          <p:nvPr/>
        </p:nvSpPr>
        <p:spPr>
          <a:xfrm>
            <a:off x="822960" y="2148839"/>
            <a:ext cx="201168" cy="201168"/>
          </a:xfrm>
          <a:prstGeom prst="ellipse">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57984"/>
            <a:ext cx="201168" cy="13716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a:t>
            </a:r>
          </a:p>
        </p:txBody>
      </p:sp>
      <p:sp>
        <p:nvSpPr>
          <p:cNvPr id="7" name="TextBox 6"/>
          <p:cNvSpPr txBox="1"/>
          <p:nvPr/>
        </p:nvSpPr>
        <p:spPr>
          <a:xfrm>
            <a:off x="1170432" y="2103120"/>
            <a:ext cx="9966960" cy="292608"/>
          </a:xfrm>
          <a:prstGeom prst="rect">
            <a:avLst/>
          </a:prstGeom>
          <a:noFill/>
        </p:spPr>
        <p:txBody>
          <a:bodyPr wrap="square" lIns="18288" rIns="18288" tIns="18288" bIns="18288" anchor="t">
            <a:spAutoFit/>
          </a:bodyPr>
          <a:lstStyle/>
          <a:p>
            <a:pPr algn="l">
              <a:spcAft>
                <a:spcPts val="0"/>
              </a:spcAft>
            </a:pPr>
            <a:r>
              <a:rPr sz="1150" b="0" i="0">
                <a:solidFill>
                  <a:srgbClr val="FFFFFF"/>
                </a:solidFill>
                <a:latin typeface="Aptos"/>
              </a:rPr>
              <a:t>The 20 proposed primary screens/routes and multi-step Booking / Doctor Onboarding journeys</a:t>
            </a:r>
          </a:p>
        </p:txBody>
      </p:sp>
      <p:sp>
        <p:nvSpPr>
          <p:cNvPr id="8" name="Oval 7"/>
          <p:cNvSpPr/>
          <p:nvPr/>
        </p:nvSpPr>
        <p:spPr>
          <a:xfrm>
            <a:off x="822960" y="2624327"/>
            <a:ext cx="201168" cy="201168"/>
          </a:xfrm>
          <a:prstGeom prst="ellipse">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633472"/>
            <a:ext cx="201168" cy="13716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a:t>
            </a:r>
          </a:p>
        </p:txBody>
      </p:sp>
      <p:sp>
        <p:nvSpPr>
          <p:cNvPr id="10" name="TextBox 9"/>
          <p:cNvSpPr txBox="1"/>
          <p:nvPr/>
        </p:nvSpPr>
        <p:spPr>
          <a:xfrm>
            <a:off x="1170432" y="2578608"/>
            <a:ext cx="9966960" cy="292608"/>
          </a:xfrm>
          <a:prstGeom prst="rect">
            <a:avLst/>
          </a:prstGeom>
          <a:noFill/>
        </p:spPr>
        <p:txBody>
          <a:bodyPr wrap="square" lIns="18288" rIns="18288" tIns="18288" bIns="18288" anchor="t">
            <a:spAutoFit/>
          </a:bodyPr>
          <a:lstStyle/>
          <a:p>
            <a:pPr algn="l">
              <a:spcAft>
                <a:spcPts val="0"/>
              </a:spcAft>
            </a:pPr>
            <a:r>
              <a:rPr sz="1150" b="0" i="0">
                <a:solidFill>
                  <a:srgbClr val="FFFFFF"/>
                </a:solidFill>
                <a:latin typeface="Aptos"/>
              </a:rPr>
              <a:t>Patient, Doctor and Public User roles, route access and end-to-end flows</a:t>
            </a:r>
          </a:p>
        </p:txBody>
      </p:sp>
      <p:sp>
        <p:nvSpPr>
          <p:cNvPr id="11" name="Oval 10"/>
          <p:cNvSpPr/>
          <p:nvPr/>
        </p:nvSpPr>
        <p:spPr>
          <a:xfrm>
            <a:off x="822960" y="3099815"/>
            <a:ext cx="201168" cy="201168"/>
          </a:xfrm>
          <a:prstGeom prst="ellipse">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108960"/>
            <a:ext cx="201168" cy="13716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a:t>
            </a:r>
          </a:p>
        </p:txBody>
      </p:sp>
      <p:sp>
        <p:nvSpPr>
          <p:cNvPr id="13" name="TextBox 12"/>
          <p:cNvSpPr txBox="1"/>
          <p:nvPr/>
        </p:nvSpPr>
        <p:spPr>
          <a:xfrm>
            <a:off x="1170432" y="3054096"/>
            <a:ext cx="9966960" cy="292608"/>
          </a:xfrm>
          <a:prstGeom prst="rect">
            <a:avLst/>
          </a:prstGeom>
          <a:noFill/>
        </p:spPr>
        <p:txBody>
          <a:bodyPr wrap="square" lIns="18288" rIns="18288" tIns="18288" bIns="18288" anchor="t">
            <a:spAutoFit/>
          </a:bodyPr>
          <a:lstStyle/>
          <a:p>
            <a:pPr algn="l">
              <a:spcAft>
                <a:spcPts val="0"/>
              </a:spcAft>
            </a:pPr>
            <a:r>
              <a:rPr sz="1150" b="0" i="0">
                <a:solidFill>
                  <a:srgbClr val="FFFFFF"/>
                </a:solidFill>
                <a:latin typeface="Aptos"/>
              </a:rPr>
              <a:t>Phone, Clinic Visit and Home Visit booking rules; payment and Razorpay assumptions</a:t>
            </a:r>
          </a:p>
        </p:txBody>
      </p:sp>
      <p:sp>
        <p:nvSpPr>
          <p:cNvPr id="14" name="Oval 13"/>
          <p:cNvSpPr/>
          <p:nvPr/>
        </p:nvSpPr>
        <p:spPr>
          <a:xfrm>
            <a:off x="822960" y="3575303"/>
            <a:ext cx="201168" cy="201168"/>
          </a:xfrm>
          <a:prstGeom prst="ellipse">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584448"/>
            <a:ext cx="201168" cy="13716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a:t>
            </a:r>
          </a:p>
        </p:txBody>
      </p:sp>
      <p:sp>
        <p:nvSpPr>
          <p:cNvPr id="16" name="TextBox 15"/>
          <p:cNvSpPr txBox="1"/>
          <p:nvPr/>
        </p:nvSpPr>
        <p:spPr>
          <a:xfrm>
            <a:off x="1170432" y="3529584"/>
            <a:ext cx="9966960" cy="292608"/>
          </a:xfrm>
          <a:prstGeom prst="rect">
            <a:avLst/>
          </a:prstGeom>
          <a:noFill/>
        </p:spPr>
        <p:txBody>
          <a:bodyPr wrap="square" lIns="18288" rIns="18288" tIns="18288" bIns="18288" anchor="t">
            <a:spAutoFit/>
          </a:bodyPr>
          <a:lstStyle/>
          <a:p>
            <a:pPr algn="l">
              <a:spcAft>
                <a:spcPts val="0"/>
              </a:spcAft>
            </a:pPr>
            <a:r>
              <a:rPr sz="1150" b="0" i="0">
                <a:solidFill>
                  <a:srgbClr val="FFFFFF"/>
                </a:solidFill>
                <a:latin typeface="Aptos"/>
              </a:rPr>
              <a:t>Doctor verification stages, required evidence, statuses and joining-fee treatment</a:t>
            </a:r>
          </a:p>
        </p:txBody>
      </p:sp>
      <p:sp>
        <p:nvSpPr>
          <p:cNvPr id="17" name="Oval 16"/>
          <p:cNvSpPr/>
          <p:nvPr/>
        </p:nvSpPr>
        <p:spPr>
          <a:xfrm>
            <a:off x="822960" y="4050791"/>
            <a:ext cx="201168" cy="201168"/>
          </a:xfrm>
          <a:prstGeom prst="ellipse">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059935"/>
            <a:ext cx="201168" cy="13716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a:t>
            </a:r>
          </a:p>
        </p:txBody>
      </p:sp>
      <p:sp>
        <p:nvSpPr>
          <p:cNvPr id="19" name="TextBox 18"/>
          <p:cNvSpPr txBox="1"/>
          <p:nvPr/>
        </p:nvSpPr>
        <p:spPr>
          <a:xfrm>
            <a:off x="1170432" y="4005072"/>
            <a:ext cx="9966960" cy="292608"/>
          </a:xfrm>
          <a:prstGeom prst="rect">
            <a:avLst/>
          </a:prstGeom>
          <a:noFill/>
        </p:spPr>
        <p:txBody>
          <a:bodyPr wrap="square" lIns="18288" rIns="18288" tIns="18288" bIns="18288" anchor="t">
            <a:spAutoFit/>
          </a:bodyPr>
          <a:lstStyle/>
          <a:p>
            <a:pPr algn="l">
              <a:spcAft>
                <a:spcPts val="0"/>
              </a:spcAft>
            </a:pPr>
            <a:r>
              <a:rPr sz="1150" b="0" i="0">
                <a:solidFill>
                  <a:srgbClr val="FFFFFF"/>
                </a:solidFill>
                <a:latin typeface="Aptos"/>
              </a:rPr>
              <a:t>Responsive behavior, loading/validation/empty/success/error states and visual direction</a:t>
            </a:r>
          </a:p>
        </p:txBody>
      </p:sp>
      <p:sp>
        <p:nvSpPr>
          <p:cNvPr id="20" name="Oval 19"/>
          <p:cNvSpPr/>
          <p:nvPr/>
        </p:nvSpPr>
        <p:spPr>
          <a:xfrm>
            <a:off x="822960" y="4526280"/>
            <a:ext cx="201168" cy="201168"/>
          </a:xfrm>
          <a:prstGeom prst="ellipse">
            <a:avLst/>
          </a:prstGeom>
          <a:solidFill>
            <a:srgbClr val="26A99A"/>
          </a:solidFill>
          <a:ln>
            <a:solidFill>
              <a:srgbClr val="26A9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535424"/>
            <a:ext cx="201168" cy="137160"/>
          </a:xfrm>
          <a:prstGeom prst="rect">
            <a:avLst/>
          </a:prstGeom>
          <a:noFill/>
        </p:spPr>
        <p:txBody>
          <a:bodyPr wrap="square" lIns="18288" rIns="18288" tIns="18288" bIns="18288" anchor="t">
            <a:spAutoFit/>
          </a:bodyPr>
          <a:lstStyle/>
          <a:p>
            <a:pPr algn="ctr">
              <a:spcAft>
                <a:spcPts val="0"/>
              </a:spcAft>
            </a:pPr>
            <a:r>
              <a:rPr sz="900" b="1" i="0">
                <a:solidFill>
                  <a:srgbClr val="FFFFFF"/>
                </a:solidFill>
                <a:latin typeface="Aptos"/>
              </a:rPr>
              <a:t>✓</a:t>
            </a:r>
          </a:p>
        </p:txBody>
      </p:sp>
      <p:sp>
        <p:nvSpPr>
          <p:cNvPr id="22" name="TextBox 21"/>
          <p:cNvSpPr txBox="1"/>
          <p:nvPr/>
        </p:nvSpPr>
        <p:spPr>
          <a:xfrm>
            <a:off x="1170432" y="4480560"/>
            <a:ext cx="9966960" cy="292608"/>
          </a:xfrm>
          <a:prstGeom prst="rect">
            <a:avLst/>
          </a:prstGeom>
          <a:noFill/>
        </p:spPr>
        <p:txBody>
          <a:bodyPr wrap="square" lIns="18288" rIns="18288" tIns="18288" bIns="18288" anchor="t">
            <a:spAutoFit/>
          </a:bodyPr>
          <a:lstStyle/>
          <a:p>
            <a:pPr algn="l">
              <a:spcAft>
                <a:spcPts val="0"/>
              </a:spcAft>
            </a:pPr>
            <a:r>
              <a:rPr sz="1150" b="0" i="0">
                <a:solidFill>
                  <a:srgbClr val="FFFFFF"/>
                </a:solidFill>
                <a:latin typeface="Aptos"/>
              </a:rPr>
              <a:t>Proposal scope, integrations, exclusions and client-provided content — checked against source PDF</a:t>
            </a:r>
          </a:p>
        </p:txBody>
      </p:sp>
      <p:sp>
        <p:nvSpPr>
          <p:cNvPr id="23" name="Rounded Rectangle 22"/>
          <p:cNvSpPr/>
          <p:nvPr/>
        </p:nvSpPr>
        <p:spPr>
          <a:xfrm>
            <a:off x="749808" y="5230368"/>
            <a:ext cx="10698480" cy="914400"/>
          </a:xfrm>
          <a:prstGeom prst="roundRect">
            <a:avLst>
              <a:gd name="adj" fmla="val 8000"/>
            </a:avLst>
          </a:prstGeom>
          <a:solidFill>
            <a:srgbClr val="20495B"/>
          </a:solidFill>
          <a:ln>
            <a:solidFill>
              <a:srgbClr val="4166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0976" y="5404104"/>
            <a:ext cx="9966960" cy="502920"/>
          </a:xfrm>
          <a:prstGeom prst="rect">
            <a:avLst/>
          </a:prstGeom>
          <a:noFill/>
        </p:spPr>
        <p:txBody>
          <a:bodyPr wrap="square" lIns="18288" rIns="18288" tIns="18288" bIns="18288" anchor="ctr">
            <a:spAutoFit/>
          </a:bodyPr>
          <a:lstStyle/>
          <a:p>
            <a:pPr algn="l">
              <a:spcAft>
                <a:spcPts val="0"/>
              </a:spcAft>
            </a:pPr>
            <a:r>
              <a:rPr sz="1030" b="1" i="0">
                <a:solidFill>
                  <a:srgbClr val="FFFFFF"/>
                </a:solidFill>
                <a:latin typeface="Aptos"/>
              </a:rPr>
              <a:t>APPROVED BY  __________________________     DATE  ______________     NOTES  __________________________</a:t>
            </a:r>
          </a:p>
        </p:txBody>
      </p:sp>
      <p:sp>
        <p:nvSpPr>
          <p:cNvPr id="25" name="TextBox 24"/>
          <p:cNvSpPr txBox="1"/>
          <p:nvPr/>
        </p:nvSpPr>
        <p:spPr>
          <a:xfrm>
            <a:off x="758952" y="6309360"/>
            <a:ext cx="8046720" cy="182880"/>
          </a:xfrm>
          <a:prstGeom prst="rect">
            <a:avLst/>
          </a:prstGeom>
          <a:noFill/>
        </p:spPr>
        <p:txBody>
          <a:bodyPr wrap="square" lIns="18288" rIns="18288" tIns="18288" bIns="18288" anchor="t">
            <a:spAutoFit/>
          </a:bodyPr>
          <a:lstStyle/>
          <a:p>
            <a:pPr algn="l">
              <a:spcAft>
                <a:spcPts val="0"/>
              </a:spcAft>
            </a:pPr>
            <a:r>
              <a:rPr sz="850" b="0" i="0">
                <a:solidFill>
                  <a:srgbClr val="B9CFD9"/>
                </a:solidFill>
                <a:latin typeface="Aptos"/>
              </a:rPr>
              <a:t>Approval confirms the UI plan only; proposal and source-reference alignment remains a prerequisite.</a:t>
            </a:r>
          </a:p>
        </p:txBody>
      </p:sp>
      <p:sp>
        <p:nvSpPr>
          <p:cNvPr id="26" name="TextBox 25"/>
          <p:cNvSpPr txBox="1"/>
          <p:nvPr/>
        </p:nvSpPr>
        <p:spPr>
          <a:xfrm>
            <a:off x="10972800" y="6309360"/>
            <a:ext cx="594360" cy="182880"/>
          </a:xfrm>
          <a:prstGeom prst="rect">
            <a:avLst/>
          </a:prstGeom>
          <a:noFill/>
        </p:spPr>
        <p:txBody>
          <a:bodyPr wrap="square" lIns="18288" rIns="18288" tIns="18288" bIns="18288" anchor="t">
            <a:spAutoFit/>
          </a:bodyPr>
          <a:lstStyle/>
          <a:p>
            <a:pPr algn="r">
              <a:spcAft>
                <a:spcPts val="0"/>
              </a:spcAft>
            </a:pPr>
            <a:r>
              <a:rPr sz="900" b="1" i="0">
                <a:solidFill>
                  <a:srgbClr val="B9CFD9"/>
                </a:solidFill>
                <a:latin typeface="Aptos"/>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HealthCare Connect — Client UI Plan</dc:title>
  <dc:subject>Client walkthrough of proposed UI journeys, screens, scope and sign-off</dc:subject>
  <dc:creator>HealthCare Connect</dc:creator>
  <cp:keywords>healthcare, UI plan, React, client presentation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